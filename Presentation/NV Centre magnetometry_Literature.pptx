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8" r:id="rId3"/>
    <p:sldId id="258" r:id="rId4"/>
    <p:sldId id="259" r:id="rId5"/>
    <p:sldId id="260" r:id="rId6"/>
    <p:sldId id="267" r:id="rId7"/>
    <p:sldId id="261" r:id="rId8"/>
    <p:sldId id="269" r:id="rId9"/>
    <p:sldId id="266" r:id="rId10"/>
    <p:sldId id="262" r:id="rId11"/>
    <p:sldId id="281" r:id="rId12"/>
    <p:sldId id="279" r:id="rId13"/>
    <p:sldId id="263" r:id="rId14"/>
    <p:sldId id="278" r:id="rId15"/>
    <p:sldId id="280" r:id="rId16"/>
    <p:sldId id="270" r:id="rId17"/>
    <p:sldId id="271" r:id="rId18"/>
    <p:sldId id="272" r:id="rId19"/>
    <p:sldId id="273" r:id="rId20"/>
    <p:sldId id="275" r:id="rId21"/>
    <p:sldId id="264" r:id="rId22"/>
    <p:sldId id="26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1EFE7"/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4452B9-66EC-4791-9E09-C0A27D65779F}" v="56" dt="2026-05-23T05:35:21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82" d="100"/>
          <a:sy n="82" d="100"/>
        </p:scale>
        <p:origin x="9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7:56:04.28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755 0 24575,'-26'0'0,"0"1"0,0 1 0,0 1 0,0 1 0,1 1 0,0 2 0,0 0 0,-46 21 0,40-13 0,21-12 0,2 1 0,-1 0 0,0 0 0,1 1 0,0 0 0,0 0 0,0 1 0,1 0 0,-1 0 0,1 1 0,1 0 0,0 0 0,-8 12 0,-9 22 0,-19 52 0,11-22 0,23-51 0,0 1 0,2 0 0,-6 37 0,3-13 0,7-34 0,-3 9 0,2-35 0,3-5 0,0 0 0,0 0 0,5-31 0,-4 44 0,1 0 0,0 1 0,0-1 0,0 1 0,1 0 0,0-1 0,0 1 0,1 1 0,0-1 0,0 0 0,7-7 0,-4 3 0,0 0 0,-1 0 0,0-1 0,-1 0 0,0 0 0,-1-1 0,0 1 0,0-1 0,2-19 0,10-28 0,-10 32 0,-6 26 0,0 1 0,0 0 0,0 0 0,0 0 0,0 0 0,1 0 0,-1-1 0,0 1 0,0 0 0,0 0 0,0 0 0,-1 0 0,1 0 0,0-1 0,0 1 0,0 0 0,0 0 0,0 0 0,0 0 0,0 0 0,0 0 0,0-1 0,0 1 0,0 0 0,0 0 0,0 0 0,0 0 0,-1 0 0,1 0 0,0 0 0,0 0 0,0 0 0,0-1 0,0 1 0,0 0 0,-1 0 0,1 0 0,0 0 0,0 0 0,0 0 0,0 0 0,0 0 0,-1 0 0,1 0 0,0 0 0,0 0 0,0 0 0,-12 11 0,6-3 0,1 0 0,0 1 0,-6 15 0,-11 18 0,12-27 0,0 0 0,0 1 0,2 0 0,0 0 0,1 0 0,0 1 0,1 0 0,1 1 0,1-1 0,0 1 0,-1 32 0,5-35 0,-1-1 0,0 1 0,-1-1 0,-1 1 0,0-1 0,-1 0 0,-6 16 0,-2 5 0,1-1 0,2 2 0,1-1 0,2 1 0,-1 39 0,6 186 0,4-124 0,-3-120 0,1 0 0,0 0 0,2 0 0,5 19 0,-6-28 0,0-1 0,1 1 0,0 0 0,1-1 0,-1 0 0,1 0 0,1 0 0,-1 0 0,1-1 0,11 12 0,20 19 0,-27-26 0,0-2 0,0 1 0,20 13 0,4 2 0,-22-17 0,-1 0 0,1 0 0,0-1 0,1-1 0,20 9 0,-94-14 0,61-1 0,-23 0 0,-1-1 0,-46-9 0,63 8 0,0 0 0,1 0 0,-1-1 0,1 0 0,0-1 0,0 0 0,0 0 0,0 0 0,0-1 0,1 0 0,0 0 0,0-1 0,-5-6 0,1 0 0,4 6 0,0 0 0,0-1 0,1 1 0,0-1 0,0 0 0,1-1 0,0 1 0,0-1 0,1 0 0,0 0 0,0 0 0,0 0 0,2-1 0,-3-12 0,4-212 0,2 101 0,-2-407-1365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08:41:0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24575,'-1'1'0,"0"-1"0,0 0 0,-1 1 0,1 0 0,0-1 0,0 1 0,0 0 0,0-1 0,0 1 0,0 0 0,1 0 0,-1 0 0,0 0 0,0 0 0,1 0 0,-1 0 0,0 0 0,1 0 0,-1 0 0,1 0 0,-1 0 0,1 0 0,0 1 0,-1-1 0,1 0 0,0 0 0,0 2 0,-5 40 0,5-38 0,-2 16 0,1-1 0,0 0 0,1 1 0,3 22 0,-3-38 0,1 1 0,1-1 0,-1 1 0,1-1 0,0 0 0,0 1 0,0-1 0,1 0 0,0 0 0,0-1 0,0 1 0,0-1 0,1 1 0,0-1 0,0 0 0,4 3 0,14 10-273,1-2 0,0 0 0,0-2 0,36 15 0,-43-21-6553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D2A0D-E772-4C56-AF9A-08B23ED63A2C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DAA01-367A-453F-9A8D-6124480ECF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7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2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A03E-CF6F-C0A4-037C-0535030F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851E1-260E-B5F8-FA07-F983F3D1C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9F2CA-FBAB-5B7F-EC7E-64E912E8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644CD-9AEF-4069-B567-78F0220594B0}" type="datetime1">
              <a:rPr lang="en-US" smtClean="0"/>
              <a:t>6/14/2026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7C2D-1609-429B-8974-491817ED7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A563F-400D-47D5-EAC2-FE9687F4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74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99F6-EE45-2833-C142-E0415CD77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2A5C5-CFB0-FB4F-AF70-4C6CEFE67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88F0B-4806-A9AC-636D-84C96E23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6F3D-1D45-4BC4-8277-959A725E11C5}" type="datetime1">
              <a:rPr lang="en-US" smtClean="0"/>
              <a:t>6/14/2026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FD947-8255-B620-0EF1-BBED6315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BB552-FF91-E8E1-1B6C-244EA5EE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93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7385-58F9-1A12-1775-D89A55E35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87EB8-93FD-1170-6249-ABB920189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C4A14-5448-BE75-B4DB-D72E229D1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9859A-B846-AA8A-A2E8-0EF2832E9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0655-9145-4184-AFF6-07BCC8FF0189}" type="datetime1">
              <a:rPr lang="en-US" smtClean="0"/>
              <a:t>6/14/2026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609D7-1179-50DA-6AC6-7E22900E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8B3E1-0553-2A53-57D5-B095ADB8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8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838A-C045-160A-D60E-A579ED1A4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70A33-D6E7-E531-F636-615E39DE4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886FB-18D8-3FC7-FD52-C85D1C7AE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E690B-E8E6-52ED-860A-07E403DDB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4B90A-EAAF-9B99-3CCB-8E275638F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A1DE6-1F3F-15DC-B2B0-2B331643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C600-AB4E-416E-A814-E45D3CFECF55}" type="datetime1">
              <a:rPr lang="en-US" smtClean="0"/>
              <a:t>6/14/2026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A11A5-302E-61E1-83AE-EC4C4218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D13A0A-C47E-8ED5-9B88-C9CD1D7A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0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88F6-9DFC-84D8-FE3C-52BFADB4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366A2-FE85-9CDD-6B99-7EC8B121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A524-6032-4B9A-A557-8ECF495E5057}" type="datetime1">
              <a:rPr lang="en-US" smtClean="0"/>
              <a:t>6/14/2026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A1BE7-9045-2434-BB37-B334D2E8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29D3A-2996-86BB-9782-1524DFFD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02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73091B-8BFC-B4F4-2DEE-EF8EE52C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7E8F4-FC4B-4E27-914E-822F0DD2991A}" type="datetime1">
              <a:rPr lang="en-US" smtClean="0"/>
              <a:t>6/14/2026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DEB50-E1B6-C235-11A2-12819033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12722-F72C-E246-9048-38A985EF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65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C5B4-FD30-92AC-35E8-6790AAE5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C3E5-5B29-73FC-4D30-55707D5A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A2C4B-DBB1-8FA5-DB43-298FF0010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DF0D0-DD39-9803-F411-A1BD600A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845E-25AC-40FD-AF0E-8CD876F8E682}" type="datetime1">
              <a:rPr lang="en-US" smtClean="0"/>
              <a:t>6/14/2026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F27A5-FD1F-00C1-F2A3-63684D12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68400-8C66-2C8C-20CA-A537ECA2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64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1782-FD30-DACE-45A4-77BB55B7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BB2D0-23CD-CD8A-F3F3-A37875076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957B4-8040-A648-929F-8E789934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5F5EB-FEF9-7213-D637-7C7B508E3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4DBC-5140-4A89-A0DE-917C537A7066}" type="datetime1">
              <a:rPr lang="en-US" smtClean="0"/>
              <a:t>6/14/2026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23DE0-5CFF-8F0D-E564-5DC33B07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DF83F-6A08-6B55-6CA4-2389BC34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61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F527-7CA1-62F9-06A2-A0721281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EBFB9-F71A-FADA-9D2E-EB84E1165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0914C-46D1-1200-D0DE-557D4B90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01CFA-8D60-4988-A298-7407980A4B4E}" type="datetime1">
              <a:rPr lang="en-US" smtClean="0"/>
              <a:t>6/14/2026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159A-A256-F65A-EB57-46E5C8AA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38041-301E-3BA9-CA4C-5613D910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63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CF510-CA0D-CB3C-7382-81F3946DE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9D006-3200-A07D-B5CE-D944BB003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7668E-3BE9-D717-5BCE-ABF793C7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BE3B-A320-4B22-95A7-EDDCA78D7AF0}" type="datetime1">
              <a:rPr lang="en-US" smtClean="0"/>
              <a:t>6/14/2026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7839A-7E6C-24B1-C991-E11545AA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A47B4-627B-36E9-0F55-A27A4012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7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24B5B-6FC2-2D27-DAB8-78C85493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CEF37-D74B-842C-8CB8-787288E73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0B71-6D8D-8A27-14F6-D9A81049A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2BC36-D39E-48B4-A9C6-94206D52840C}" type="datetime1">
              <a:rPr lang="en-US" smtClean="0"/>
              <a:t>6/14/2026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5EEB0-60E3-3757-8FC0-0664C488C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9B29E-0419-0340-13A5-DFB43D32F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B0AED-7D89-4682-B1B0-B63397F3FB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65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172C68-B5EC-52E0-495A-3D331EBD40B8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3D594-B6C2-1CE5-EBAA-FB92691CF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6A20B6-0B81-D619-F081-52FFBB3E4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718301-9543-F286-8DAA-34440420BCCD}"/>
              </a:ext>
            </a:extLst>
          </p:cNvPr>
          <p:cNvSpPr txBox="1"/>
          <p:nvPr/>
        </p:nvSpPr>
        <p:spPr>
          <a:xfrm>
            <a:off x="-81280" y="2397760"/>
            <a:ext cx="78841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NV Centre Diamond Magnetic </a:t>
            </a:r>
            <a:r>
              <a:rPr lang="en-IN" sz="66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Sensors</a:t>
            </a:r>
            <a:endParaRPr lang="en-IN" sz="6000" b="1" dirty="0">
              <a:solidFill>
                <a:srgbClr val="C00000"/>
              </a:solidFill>
              <a:latin typeface="SF Atarian System Extended" panose="00000400000000000000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1D6872-5B8F-4F74-A329-1555AB2E9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83" b="13538"/>
          <a:stretch>
            <a:fillRect/>
          </a:stretch>
        </p:blipFill>
        <p:spPr>
          <a:xfrm>
            <a:off x="7902743" y="2245360"/>
            <a:ext cx="4289258" cy="4184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4BC5F8-DFD3-7361-1D04-368E291D47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16FED7-0DD7-DE73-5FEF-E46FA10BD3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811" y="29709"/>
            <a:ext cx="31718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8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CC96-24F3-B1E5-50F4-936BEF52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FC714E-1F53-A875-6560-602BB824D442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E01CDA-020C-19D0-5A53-A6F33933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0BF966-0856-4C12-0869-6BF94965E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7" y="74463"/>
            <a:ext cx="946835" cy="10397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742EF8-A3DB-1002-3201-91BDD8602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AFC134-3599-EC92-5CD2-A369404DFBBD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What Is NV Centre </a:t>
            </a:r>
            <a:r>
              <a:rPr lang="en-IN" sz="4000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0D4C46-9675-2603-F185-1CC33C73137B}"/>
              </a:ext>
            </a:extLst>
          </p:cNvPr>
          <p:cNvSpPr txBox="1"/>
          <p:nvPr/>
        </p:nvSpPr>
        <p:spPr>
          <a:xfrm>
            <a:off x="176981" y="887937"/>
            <a:ext cx="71677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Substitutional </a:t>
            </a:r>
            <a:r>
              <a:rPr lang="en-IN" dirty="0">
                <a:solidFill>
                  <a:srgbClr val="00B0F0"/>
                </a:solidFill>
                <a:latin typeface="Bookman Old Style" panose="02050604050505020204" pitchFamily="18" charset="0"/>
              </a:rPr>
              <a:t>nitrogen atom </a:t>
            </a:r>
            <a:r>
              <a:rPr lang="en-IN" dirty="0">
                <a:latin typeface="Bookman Old Style" panose="02050604050505020204" pitchFamily="18" charset="0"/>
              </a:rPr>
              <a:t>adjacent to a carbon vacancy in crystal diamond lattice.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 3 carbon atoms adjacent to the vacancy have only 3 bonds with other carbon atoms.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So each of the 3 carbon atoms adjacent to the vacancy have 1 highly unstable </a:t>
            </a:r>
            <a:r>
              <a:rPr lang="en-IN" b="1" dirty="0">
                <a:latin typeface="Bookman Old Style" panose="02050604050505020204" pitchFamily="18" charset="0"/>
              </a:rPr>
              <a:t>dangling electron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 nitrogen atom has </a:t>
            </a:r>
            <a:r>
              <a:rPr lang="en-IN" b="1" dirty="0">
                <a:latin typeface="Bookman Old Style" panose="02050604050505020204" pitchFamily="18" charset="0"/>
              </a:rPr>
              <a:t>1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  <a:r>
              <a:rPr lang="en-IN" b="1" dirty="0">
                <a:latin typeface="Bookman Old Style" panose="02050604050505020204" pitchFamily="18" charset="0"/>
              </a:rPr>
              <a:t>lone pair of electrons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NV</a:t>
            </a:r>
            <a:r>
              <a:rPr lang="en-IN" baseline="30000" dirty="0">
                <a:latin typeface="Bookman Old Style" panose="02050604050505020204" pitchFamily="18" charset="0"/>
              </a:rPr>
              <a:t>0</a:t>
            </a:r>
            <a:r>
              <a:rPr lang="en-IN" dirty="0">
                <a:latin typeface="Bookman Old Style" panose="02050604050505020204" pitchFamily="18" charset="0"/>
              </a:rPr>
              <a:t> centre traps 1 extra e- from the nearby electron donor (another N impurity) to become NV</a:t>
            </a:r>
            <a:r>
              <a:rPr lang="en-IN" baseline="30000" dirty="0">
                <a:latin typeface="Bookman Old Style" panose="02050604050505020204" pitchFamily="18" charset="0"/>
              </a:rPr>
              <a:t>-</a:t>
            </a:r>
            <a:r>
              <a:rPr lang="en-IN" dirty="0">
                <a:latin typeface="Bookman Old Style" panose="02050604050505020204" pitchFamily="18" charset="0"/>
              </a:rPr>
              <a:t> centre with 6e-.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 </a:t>
            </a:r>
            <a:r>
              <a:rPr lang="en-IN" dirty="0">
                <a:solidFill>
                  <a:srgbClr val="00B050"/>
                </a:solidFill>
                <a:latin typeface="Bookman Old Style" panose="02050604050505020204" pitchFamily="18" charset="0"/>
              </a:rPr>
              <a:t>green arrow </a:t>
            </a:r>
            <a:r>
              <a:rPr lang="en-IN" dirty="0">
                <a:latin typeface="Bookman Old Style" panose="02050604050505020204" pitchFamily="18" charset="0"/>
              </a:rPr>
              <a:t>marks the NV symmetry axis.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It acts as a </a:t>
            </a:r>
            <a:r>
              <a:rPr lang="en-IN" b="1" dirty="0">
                <a:latin typeface="Bookman Old Style" panose="02050604050505020204" pitchFamily="18" charset="0"/>
              </a:rPr>
              <a:t>two hole system </a:t>
            </a:r>
            <a:r>
              <a:rPr lang="en-IN" dirty="0">
                <a:latin typeface="Bookman Old Style" panose="02050604050505020204" pitchFamily="18" charset="0"/>
              </a:rPr>
              <a:t>where the 2 e- from the lone pair decide the spin triplet or singlet.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C63D00-0633-B1EC-92AE-28BC76BFC0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45" b="6614"/>
          <a:stretch>
            <a:fillRect/>
          </a:stretch>
        </p:blipFill>
        <p:spPr>
          <a:xfrm>
            <a:off x="8953652" y="4313075"/>
            <a:ext cx="1418860" cy="15935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B61C979-D4BF-8CAD-929F-D8C689178CCF}"/>
              </a:ext>
            </a:extLst>
          </p:cNvPr>
          <p:cNvSpPr txBox="1"/>
          <p:nvPr/>
        </p:nvSpPr>
        <p:spPr>
          <a:xfrm>
            <a:off x="6433961" y="5906638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Ground state spin configuration of 6e- NV centre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0A7940-EA3C-488D-04F8-232FC0C9B20D}"/>
              </a:ext>
            </a:extLst>
          </p:cNvPr>
          <p:cNvGrpSpPr/>
          <p:nvPr/>
        </p:nvGrpSpPr>
        <p:grpSpPr>
          <a:xfrm>
            <a:off x="6813786" y="1191394"/>
            <a:ext cx="6727695" cy="2991288"/>
            <a:chOff x="6813786" y="1191394"/>
            <a:chExt cx="6727695" cy="29912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6BD5CC5-634C-9B0C-3EBA-7F6AF4A1833A}"/>
                </a:ext>
              </a:extLst>
            </p:cNvPr>
            <p:cNvGrpSpPr/>
            <p:nvPr/>
          </p:nvGrpSpPr>
          <p:grpSpPr>
            <a:xfrm>
              <a:off x="8653055" y="1191394"/>
              <a:ext cx="2221425" cy="2405013"/>
              <a:chOff x="8761207" y="2623831"/>
              <a:chExt cx="2221425" cy="240501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63957F6-6EAD-215A-B984-934CAC701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61207" y="2623831"/>
                <a:ext cx="2221425" cy="2405013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F54319-AD62-EC48-8104-A218F74D2CBD}"/>
                  </a:ext>
                </a:extLst>
              </p:cNvPr>
              <p:cNvSpPr txBox="1"/>
              <p:nvPr/>
            </p:nvSpPr>
            <p:spPr>
              <a:xfrm>
                <a:off x="10225549" y="3865665"/>
                <a:ext cx="23597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rgbClr val="F1EFE7"/>
                    </a:solidFill>
                    <a:latin typeface="Bookman Old Style" panose="02050604050505020204" pitchFamily="18" charset="0"/>
                  </a:rPr>
                  <a:t>C</a:t>
                </a:r>
                <a:endParaRPr lang="en-IN" sz="1400" b="1" dirty="0">
                  <a:solidFill>
                    <a:srgbClr val="F1EFE7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7F4FC9-CA8C-DEBF-CE69-CD8EC22F658A}"/>
                  </a:ext>
                </a:extLst>
              </p:cNvPr>
              <p:cNvSpPr txBox="1"/>
              <p:nvPr/>
            </p:nvSpPr>
            <p:spPr>
              <a:xfrm>
                <a:off x="9434052" y="3064336"/>
                <a:ext cx="23597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rgbClr val="F1EFE7"/>
                    </a:solidFill>
                    <a:latin typeface="Bookman Old Style" panose="02050604050505020204" pitchFamily="18" charset="0"/>
                  </a:rPr>
                  <a:t>C</a:t>
                </a:r>
                <a:endParaRPr lang="en-IN" sz="1400" b="1" dirty="0">
                  <a:solidFill>
                    <a:srgbClr val="F1EFE7"/>
                  </a:solidFill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9B7B82-B376-C55F-DE7A-4967DF625199}"/>
                  </a:ext>
                </a:extLst>
              </p:cNvPr>
              <p:cNvSpPr txBox="1"/>
              <p:nvPr/>
            </p:nvSpPr>
            <p:spPr>
              <a:xfrm>
                <a:off x="10024495" y="3220025"/>
                <a:ext cx="23597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rgbClr val="F1EFE7"/>
                    </a:solidFill>
                    <a:latin typeface="Bookman Old Style" panose="02050604050505020204" pitchFamily="18" charset="0"/>
                  </a:rPr>
                  <a:t>C</a:t>
                </a:r>
                <a:endParaRPr lang="en-IN" sz="1400" b="1" dirty="0">
                  <a:solidFill>
                    <a:srgbClr val="F1EFE7"/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609100-B05E-0744-2DB0-FF7B0B8C3CDF}"/>
                </a:ext>
              </a:extLst>
            </p:cNvPr>
            <p:cNvSpPr txBox="1"/>
            <p:nvPr/>
          </p:nvSpPr>
          <p:spPr>
            <a:xfrm>
              <a:off x="6813786" y="3593995"/>
              <a:ext cx="5735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Diamond lattice containing an NV centre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8AC413-6CDF-19B5-9860-23DA16BBEC41}"/>
                </a:ext>
              </a:extLst>
            </p:cNvPr>
            <p:cNvSpPr txBox="1"/>
            <p:nvPr/>
          </p:nvSpPr>
          <p:spPr>
            <a:xfrm>
              <a:off x="7165263" y="3890294"/>
              <a:ext cx="6376218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300" dirty="0">
                  <a:solidFill>
                    <a:srgbClr val="231F20"/>
                  </a:solidFill>
                  <a:latin typeface="AdvOT483a8203"/>
                </a:rPr>
                <a:t>[</a:t>
              </a:r>
              <a:r>
                <a:rPr lang="en-US" sz="1300" b="0" i="0" u="none" strike="noStrike" baseline="0" dirty="0">
                  <a:solidFill>
                    <a:srgbClr val="231F20"/>
                  </a:solidFill>
                  <a:latin typeface="AdvOT483a8203"/>
                </a:rPr>
                <a:t>John F. Barry et al, Rev. Mod. Phys., </a:t>
              </a:r>
              <a:r>
                <a:rPr lang="en-US" sz="1300" dirty="0">
                  <a:solidFill>
                    <a:srgbClr val="231F20"/>
                  </a:solidFill>
                  <a:latin typeface="AdvOT483a8203"/>
                </a:rPr>
                <a:t>0034-6861/2020/92(1)/015004(68)]</a:t>
              </a:r>
              <a:endParaRPr lang="en-IN" sz="1300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A03D564-64FB-A95E-444F-B9870EAF20BA}"/>
              </a:ext>
            </a:extLst>
          </p:cNvPr>
          <p:cNvSpPr txBox="1"/>
          <p:nvPr/>
        </p:nvSpPr>
        <p:spPr>
          <a:xfrm>
            <a:off x="6373766" y="6200501"/>
            <a:ext cx="637621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231F20"/>
                </a:solidFill>
                <a:latin typeface="AdvOT483a8203"/>
              </a:rPr>
              <a:t>[A. Lenef et. al. Physical Review B, Volume 53(20), 0163-1829/96/53(20)/13441(15)]</a:t>
            </a:r>
            <a:endParaRPr lang="en-IN" sz="1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55B70-8758-1A7F-4595-05E893D14B40}"/>
              </a:ext>
            </a:extLst>
          </p:cNvPr>
          <p:cNvSpPr txBox="1"/>
          <p:nvPr/>
        </p:nvSpPr>
        <p:spPr>
          <a:xfrm>
            <a:off x="8728177" y="5554484"/>
            <a:ext cx="235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u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50686D-A085-67D6-74CB-857796192DD0}"/>
              </a:ext>
            </a:extLst>
          </p:cNvPr>
          <p:cNvSpPr txBox="1"/>
          <p:nvPr/>
        </p:nvSpPr>
        <p:spPr>
          <a:xfrm>
            <a:off x="8728177" y="4996125"/>
            <a:ext cx="235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88C766-DBB5-ECB7-769E-1406E5C0D3A6}"/>
              </a:ext>
            </a:extLst>
          </p:cNvPr>
          <p:cNvSpPr txBox="1"/>
          <p:nvPr/>
        </p:nvSpPr>
        <p:spPr>
          <a:xfrm>
            <a:off x="8743639" y="4420351"/>
            <a:ext cx="439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</a:t>
            </a:r>
            <a:r>
              <a:rPr lang="en-IN" sz="14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x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F09F0C-9674-00BC-7CFA-B61B9E30B134}"/>
              </a:ext>
            </a:extLst>
          </p:cNvPr>
          <p:cNvSpPr txBox="1"/>
          <p:nvPr/>
        </p:nvSpPr>
        <p:spPr>
          <a:xfrm>
            <a:off x="10378142" y="4410824"/>
            <a:ext cx="439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e</a:t>
            </a:r>
            <a:r>
              <a:rPr lang="en-IN" sz="1400" b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y</a:t>
            </a:r>
            <a:endParaRPr lang="en-IN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5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ACC9B-9BE0-37C6-5779-51178454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84DD56-45FA-78CC-58BF-679065EA80B6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8AB96F-F53D-0356-6C71-1064248A9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2B2FCD-1A51-A672-810B-E586A0F25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0290DD-6B23-D157-FAF5-FDC073360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DC4F24-131B-E6D5-2065-AE8BB54B260B}"/>
              </a:ext>
            </a:extLst>
          </p:cNvPr>
          <p:cNvSpPr txBox="1"/>
          <p:nvPr/>
        </p:nvSpPr>
        <p:spPr>
          <a:xfrm>
            <a:off x="176981" y="885623"/>
            <a:ext cx="651845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B050"/>
                </a:solidFill>
                <a:latin typeface="Berlin Sans FB" panose="020E0602020502020306" pitchFamily="34" charset="0"/>
              </a:rPr>
              <a:t>Green Laser Pump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Green light (532 nm) excites electrons from ground state triplet </a:t>
            </a:r>
            <a:r>
              <a:rPr lang="en-IN" sz="1600" baseline="30000" dirty="0">
                <a:latin typeface="Bookman Old Style" panose="02050604050505020204" pitchFamily="18" charset="0"/>
              </a:rPr>
              <a:t>3</a:t>
            </a:r>
            <a:r>
              <a:rPr lang="en-IN" sz="1600" dirty="0">
                <a:latin typeface="Bookman Old Style" panose="02050604050505020204" pitchFamily="18" charset="0"/>
              </a:rPr>
              <a:t>A to excited state triplet </a:t>
            </a:r>
            <a:r>
              <a:rPr lang="en-IN" sz="1600" baseline="30000" dirty="0">
                <a:latin typeface="Bookman Old Style" panose="02050604050505020204" pitchFamily="18" charset="0"/>
              </a:rPr>
              <a:t>3</a:t>
            </a:r>
            <a:r>
              <a:rPr lang="en-IN" sz="1600" dirty="0">
                <a:latin typeface="Bookman Old Style" panose="02050604050505020204" pitchFamily="18" charset="0"/>
              </a:rPr>
              <a:t>E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e</a:t>
            </a:r>
            <a:r>
              <a:rPr lang="en-IN" sz="1600" baseline="30000" dirty="0">
                <a:latin typeface="Bookman Old Style" panose="02050604050505020204" pitchFamily="18" charset="0"/>
              </a:rPr>
              <a:t>-</a:t>
            </a:r>
            <a:r>
              <a:rPr lang="en-IN" sz="1600" dirty="0">
                <a:latin typeface="Bookman Old Style" panose="02050604050505020204" pitchFamily="18" charset="0"/>
              </a:rPr>
              <a:t> with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= 0 drop straight back down via radiative path emitting bright red fluorescence.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Most of the e</a:t>
            </a:r>
            <a:r>
              <a:rPr lang="en-IN" sz="1600" baseline="30000" dirty="0">
                <a:latin typeface="Bookman Old Style" panose="02050604050505020204" pitchFamily="18" charset="0"/>
              </a:rPr>
              <a:t>- </a:t>
            </a:r>
            <a:r>
              <a:rPr lang="en-IN" sz="1600" dirty="0">
                <a:latin typeface="Bookman Old Style" panose="02050604050505020204" pitchFamily="18" charset="0"/>
              </a:rPr>
              <a:t>with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= +/-1 divert sideways non-radiatively via </a:t>
            </a:r>
            <a:r>
              <a:rPr lang="en-IN" sz="1600" b="1" dirty="0">
                <a:latin typeface="Bookman Old Style" panose="02050604050505020204" pitchFamily="18" charset="0"/>
              </a:rPr>
              <a:t>intersystem crossing</a:t>
            </a:r>
            <a:r>
              <a:rPr lang="en-IN" sz="1600" dirty="0">
                <a:latin typeface="Bookman Old Style" panose="02050604050505020204" pitchFamily="18" charset="0"/>
              </a:rPr>
              <a:t> into a singlet shelving state </a:t>
            </a:r>
            <a:r>
              <a:rPr lang="en-IN" sz="1600" baseline="30000" dirty="0">
                <a:latin typeface="Bookman Old Style" panose="02050604050505020204" pitchFamily="18" charset="0"/>
              </a:rPr>
              <a:t>1</a:t>
            </a:r>
            <a:r>
              <a:rPr lang="en-IN" sz="1600" dirty="0">
                <a:latin typeface="Bookman Old Style" panose="02050604050505020204" pitchFamily="18" charset="0"/>
              </a:rPr>
              <a:t>A</a:t>
            </a:r>
            <a:r>
              <a:rPr lang="en-IN" sz="1600" baseline="-25000" dirty="0">
                <a:latin typeface="Bookman Old Style" panose="02050604050505020204" pitchFamily="18" charset="0"/>
              </a:rPr>
              <a:t>1</a:t>
            </a:r>
            <a:endParaRPr lang="en-IN" sz="1600" dirty="0">
              <a:latin typeface="Bookman Old Style" panose="02050604050505020204" pitchFamily="18" charset="0"/>
            </a:endParaRP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Then from </a:t>
            </a:r>
            <a:r>
              <a:rPr lang="en-IN" sz="1600" baseline="30000" dirty="0">
                <a:latin typeface="Bookman Old Style" panose="02050604050505020204" pitchFamily="18" charset="0"/>
              </a:rPr>
              <a:t>1</a:t>
            </a:r>
            <a:r>
              <a:rPr lang="en-IN" sz="1600" dirty="0">
                <a:latin typeface="Bookman Old Style" panose="02050604050505020204" pitchFamily="18" charset="0"/>
              </a:rPr>
              <a:t>A</a:t>
            </a:r>
            <a:r>
              <a:rPr lang="en-IN" sz="1600" baseline="-25000" dirty="0">
                <a:latin typeface="Bookman Old Style" panose="02050604050505020204" pitchFamily="18" charset="0"/>
              </a:rPr>
              <a:t>1</a:t>
            </a:r>
            <a:r>
              <a:rPr lang="en-IN" sz="1600" dirty="0">
                <a:latin typeface="Bookman Old Style" panose="02050604050505020204" pitchFamily="18" charset="0"/>
              </a:rPr>
              <a:t> it decays to another singlet state </a:t>
            </a:r>
            <a:r>
              <a:rPr lang="en-IN" sz="1600" baseline="30000" dirty="0">
                <a:latin typeface="Bookman Old Style" panose="02050604050505020204" pitchFamily="18" charset="0"/>
              </a:rPr>
              <a:t>1</a:t>
            </a:r>
            <a:r>
              <a:rPr lang="en-IN" sz="1600" dirty="0">
                <a:latin typeface="Bookman Old Style" panose="02050604050505020204" pitchFamily="18" charset="0"/>
              </a:rPr>
              <a:t>E</a:t>
            </a:r>
            <a:r>
              <a:rPr lang="en-IN" sz="1600" baseline="-25000" dirty="0">
                <a:latin typeface="Bookman Old Style" panose="02050604050505020204" pitchFamily="18" charset="0"/>
              </a:rPr>
              <a:t>1,2</a:t>
            </a:r>
            <a:r>
              <a:rPr lang="en-IN" sz="1600" dirty="0">
                <a:latin typeface="Bookman Old Style" panose="02050604050505020204" pitchFamily="18" charset="0"/>
              </a:rPr>
              <a:t> emitting infra-red (1042 nm).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And finally from </a:t>
            </a:r>
            <a:r>
              <a:rPr lang="en-IN" sz="1600" baseline="30000" dirty="0">
                <a:latin typeface="Bookman Old Style" panose="02050604050505020204" pitchFamily="18" charset="0"/>
              </a:rPr>
              <a:t>1</a:t>
            </a:r>
            <a:r>
              <a:rPr lang="en-IN" sz="1600" dirty="0">
                <a:latin typeface="Bookman Old Style" panose="02050604050505020204" pitchFamily="18" charset="0"/>
              </a:rPr>
              <a:t>E</a:t>
            </a:r>
            <a:r>
              <a:rPr lang="en-IN" sz="1600" baseline="-25000" dirty="0">
                <a:latin typeface="Bookman Old Style" panose="02050604050505020204" pitchFamily="18" charset="0"/>
              </a:rPr>
              <a:t>1,2</a:t>
            </a:r>
            <a:r>
              <a:rPr lang="en-IN" sz="1600" dirty="0">
                <a:latin typeface="Bookman Old Style" panose="02050604050505020204" pitchFamily="18" charset="0"/>
              </a:rPr>
              <a:t> it decays non-radiatively to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= 0 and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= +/-1 ground state level with equal probabilities.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Bookman Old Style" panose="02050604050505020204" pitchFamily="18" charset="0"/>
              </a:rPr>
              <a:t>Continuous green light automatically </a:t>
            </a:r>
            <a:r>
              <a:rPr lang="en-US" sz="1600" b="1" dirty="0">
                <a:latin typeface="Bookman Old Style" panose="02050604050505020204" pitchFamily="18" charset="0"/>
              </a:rPr>
              <a:t>polarizes</a:t>
            </a:r>
            <a:r>
              <a:rPr lang="en-US" sz="1600" dirty="0">
                <a:latin typeface="Bookman Old Style" panose="02050604050505020204" pitchFamily="18" charset="0"/>
              </a:rPr>
              <a:t> almost all spins into the bright </a:t>
            </a:r>
            <a:r>
              <a:rPr lang="en-US" sz="1600" dirty="0" err="1">
                <a:latin typeface="Bookman Old Style" panose="02050604050505020204" pitchFamily="18" charset="0"/>
              </a:rPr>
              <a:t>m</a:t>
            </a:r>
            <a:r>
              <a:rPr lang="en-US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US" sz="1600" baseline="-25000" dirty="0">
                <a:latin typeface="Bookman Old Style" panose="02050604050505020204" pitchFamily="18" charset="0"/>
              </a:rPr>
              <a:t> </a:t>
            </a:r>
            <a:r>
              <a:rPr lang="en-US" sz="1600" dirty="0">
                <a:latin typeface="Bookman Old Style" panose="02050604050505020204" pitchFamily="18" charset="0"/>
              </a:rPr>
              <a:t>= 0 starting state.</a:t>
            </a: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852DA-A729-79DB-E838-00AB6391C450}"/>
              </a:ext>
            </a:extLst>
          </p:cNvPr>
          <p:cNvSpPr txBox="1"/>
          <p:nvPr/>
        </p:nvSpPr>
        <p:spPr>
          <a:xfrm>
            <a:off x="1618938" y="6523393"/>
            <a:ext cx="9878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Berlin Sans FB" panose="020E0602020502020306" pitchFamily="34" charset="0"/>
              </a:rPr>
              <a:t>Rosenzweig, Yossi. (2016). The Physics of Nitrogen-Vacancy Color Centers in Diamonds and their Interaction with External Fields. 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7AD09-DE64-7391-4FCA-56593CEDEAE4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Nitrogen Vacancy Energy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7CE35-91F6-EFD0-574B-E9296846ED7B}"/>
              </a:ext>
            </a:extLst>
          </p:cNvPr>
          <p:cNvSpPr txBox="1"/>
          <p:nvPr/>
        </p:nvSpPr>
        <p:spPr>
          <a:xfrm>
            <a:off x="6571111" y="4896644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Energy level </a:t>
            </a:r>
            <a:r>
              <a:rPr lang="en-US" i="1" dirty="0">
                <a:latin typeface="Bookman Old Style" panose="02050604050505020204" pitchFamily="18" charset="0"/>
              </a:rPr>
              <a:t>diagram for NV− center in diamond</a:t>
            </a:r>
            <a:endParaRPr lang="en-IN" i="1" dirty="0">
              <a:latin typeface="Bookman Old Style" panose="020506040505050202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3D6B82-3BEA-604B-9AE2-DF02F43DA6F5}"/>
              </a:ext>
            </a:extLst>
          </p:cNvPr>
          <p:cNvGrpSpPr/>
          <p:nvPr/>
        </p:nvGrpSpPr>
        <p:grpSpPr>
          <a:xfrm>
            <a:off x="6571111" y="1076528"/>
            <a:ext cx="5456054" cy="3876777"/>
            <a:chOff x="6757288" y="2022282"/>
            <a:chExt cx="4811870" cy="321983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7AE6413-8E56-5A0B-1582-DCCE2D165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7288" y="2022282"/>
              <a:ext cx="4811870" cy="3219839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BBF7C46-E4D5-727C-0821-40AD7F7AF255}"/>
                </a:ext>
              </a:extLst>
            </p:cNvPr>
            <p:cNvCxnSpPr>
              <a:cxnSpLocks/>
            </p:cNvCxnSpPr>
            <p:nvPr/>
          </p:nvCxnSpPr>
          <p:spPr>
            <a:xfrm>
              <a:off x="9265512" y="4627983"/>
              <a:ext cx="0" cy="385442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6D929F-F3B1-9D08-6197-64C48BD4A054}"/>
                </a:ext>
              </a:extLst>
            </p:cNvPr>
            <p:cNvSpPr txBox="1"/>
            <p:nvPr/>
          </p:nvSpPr>
          <p:spPr>
            <a:xfrm>
              <a:off x="9286632" y="4783799"/>
              <a:ext cx="396593" cy="306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rgbClr val="0070C0"/>
                  </a:solidFill>
                  <a:latin typeface="Berlin Sans FB" panose="020E0602020502020306" pitchFamily="34" charset="0"/>
                </a:rPr>
                <a:t>D</a:t>
              </a:r>
              <a:r>
                <a:rPr lang="en-IN" baseline="-25000" dirty="0">
                  <a:solidFill>
                    <a:srgbClr val="0070C0"/>
                  </a:solidFill>
                  <a:latin typeface="Berlin Sans FB" panose="020E0602020502020306" pitchFamily="34" charset="0"/>
                </a:rPr>
                <a:t>g</a:t>
              </a:r>
              <a:endParaRPr lang="en-IN" dirty="0">
                <a:solidFill>
                  <a:srgbClr val="0070C0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1426190-7CF5-B072-92D9-80A97A437ECA}"/>
              </a:ext>
            </a:extLst>
          </p:cNvPr>
          <p:cNvSpPr txBox="1"/>
          <p:nvPr/>
        </p:nvSpPr>
        <p:spPr>
          <a:xfrm>
            <a:off x="6501163" y="5556130"/>
            <a:ext cx="5735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070C0"/>
                </a:solidFill>
                <a:latin typeface="Bookman Old Style" panose="02050604050505020204" pitchFamily="18" charset="0"/>
              </a:rPr>
              <a:t>Ground state zero field splitting energy, D</a:t>
            </a:r>
            <a:r>
              <a:rPr lang="en-IN" sz="16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g</a:t>
            </a:r>
            <a:r>
              <a:rPr lang="en-IN" sz="1600" dirty="0">
                <a:solidFill>
                  <a:srgbClr val="0070C0"/>
                </a:solidFill>
                <a:latin typeface="Bookman Old Style" panose="02050604050505020204" pitchFamily="18" charset="0"/>
              </a:rPr>
              <a:t> = 2.87 GHz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461FD-5DD8-DDE4-81D4-5D1EA8CA71D6}"/>
              </a:ext>
            </a:extLst>
          </p:cNvPr>
          <p:cNvSpPr txBox="1"/>
          <p:nvPr/>
        </p:nvSpPr>
        <p:spPr>
          <a:xfrm>
            <a:off x="4257408" y="940660"/>
            <a:ext cx="38030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Excitation = always spin conserving</a:t>
            </a:r>
          </a:p>
          <a:p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Decay = sometimes spin conserving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FD8062-8AA3-0705-2A02-0FE79EC89925}"/>
              </a:ext>
            </a:extLst>
          </p:cNvPr>
          <p:cNvSpPr txBox="1"/>
          <p:nvPr/>
        </p:nvSpPr>
        <p:spPr>
          <a:xfrm>
            <a:off x="10307289" y="2451434"/>
            <a:ext cx="403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1E7CD0-061F-3BA7-6E86-DC9EAA4890C9}"/>
              </a:ext>
            </a:extLst>
          </p:cNvPr>
          <p:cNvCxnSpPr>
            <a:cxnSpLocks/>
          </p:cNvCxnSpPr>
          <p:nvPr/>
        </p:nvCxnSpPr>
        <p:spPr>
          <a:xfrm>
            <a:off x="9415121" y="1548421"/>
            <a:ext cx="0" cy="464083"/>
          </a:xfrm>
          <a:prstGeom prst="straightConnector1">
            <a:avLst/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0D6F81-F9AA-217F-028A-52F1EE83CE69}"/>
              </a:ext>
            </a:extLst>
          </p:cNvPr>
          <p:cNvSpPr txBox="1"/>
          <p:nvPr/>
        </p:nvSpPr>
        <p:spPr>
          <a:xfrm>
            <a:off x="6510092" y="5894684"/>
            <a:ext cx="5735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7030A0"/>
                </a:solidFill>
                <a:latin typeface="Bookman Old Style" panose="02050604050505020204" pitchFamily="18" charset="0"/>
              </a:rPr>
              <a:t>Excited state zero field splitting energy, D</a:t>
            </a:r>
            <a:r>
              <a:rPr lang="en-IN" sz="1600" baseline="-25000" dirty="0">
                <a:solidFill>
                  <a:srgbClr val="7030A0"/>
                </a:solidFill>
                <a:latin typeface="Bookman Old Style" panose="02050604050505020204" pitchFamily="18" charset="0"/>
              </a:rPr>
              <a:t>e</a:t>
            </a:r>
            <a:r>
              <a:rPr lang="en-IN" sz="1600" dirty="0">
                <a:solidFill>
                  <a:srgbClr val="7030A0"/>
                </a:solidFill>
                <a:latin typeface="Bookman Old Style" panose="02050604050505020204" pitchFamily="18" charset="0"/>
              </a:rPr>
              <a:t> = 1.41 GHz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04B879-A89E-076A-95F0-1B16D59E9533}"/>
              </a:ext>
            </a:extLst>
          </p:cNvPr>
          <p:cNvSpPr txBox="1"/>
          <p:nvPr/>
        </p:nvSpPr>
        <p:spPr>
          <a:xfrm>
            <a:off x="9439068" y="1419741"/>
            <a:ext cx="449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Berlin Sans FB" panose="020E0602020502020306" pitchFamily="34" charset="0"/>
              </a:rPr>
              <a:t>D</a:t>
            </a:r>
            <a:r>
              <a:rPr lang="en-IN" baseline="-25000" dirty="0">
                <a:solidFill>
                  <a:srgbClr val="7030A0"/>
                </a:solidFill>
                <a:latin typeface="Berlin Sans FB" panose="020E0602020502020306" pitchFamily="34" charset="0"/>
              </a:rPr>
              <a:t>e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3C4D74-91CF-3DB4-4688-CCB3BACF928A}"/>
              </a:ext>
            </a:extLst>
          </p:cNvPr>
          <p:cNvSpPr txBox="1"/>
          <p:nvPr/>
        </p:nvSpPr>
        <p:spPr>
          <a:xfrm>
            <a:off x="135718" y="5988196"/>
            <a:ext cx="5735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= electron spin projection quantum number </a:t>
            </a:r>
          </a:p>
        </p:txBody>
      </p:sp>
    </p:spTree>
    <p:extLst>
      <p:ext uri="{BB962C8B-B14F-4D97-AF65-F5344CB8AC3E}">
        <p14:creationId xmlns:p14="http://schemas.microsoft.com/office/powerpoint/2010/main" val="425378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6BE1-F26F-A157-A24D-91A24A55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4E9DA-57CE-3DCB-A5A4-A2F342A85B37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B6A681-7E82-4C63-0EF7-A89DF5868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161D02-729A-79E9-1C3D-63576C268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0C9846-3249-8517-D29F-B47A7D6DD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20A2ED-04D9-8B8A-0642-62ED29D1B8A5}"/>
              </a:ext>
            </a:extLst>
          </p:cNvPr>
          <p:cNvSpPr txBox="1"/>
          <p:nvPr/>
        </p:nvSpPr>
        <p:spPr>
          <a:xfrm>
            <a:off x="225985" y="842868"/>
            <a:ext cx="6518459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Berlin Sans FB" panose="020E0602020502020306" pitchFamily="34" charset="0"/>
              </a:rPr>
              <a:t>Microwave Signal</a:t>
            </a:r>
          </a:p>
          <a:p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An onboard MW antenna broadcasts and sweeps microwave frequency around 2.87 GHz.</a:t>
            </a:r>
          </a:p>
          <a:p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When the MW frequency matches the ground state energy gap, it flips spins from </a:t>
            </a:r>
            <a:r>
              <a:rPr lang="en-IN" sz="1700" dirty="0" err="1">
                <a:latin typeface="Bookman Old Style" panose="02050604050505020204" pitchFamily="18" charset="0"/>
              </a:rPr>
              <a:t>m</a:t>
            </a:r>
            <a:r>
              <a:rPr lang="en-IN" sz="17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700" baseline="-25000" dirty="0">
                <a:latin typeface="Bookman Old Style" panose="02050604050505020204" pitchFamily="18" charset="0"/>
              </a:rPr>
              <a:t> </a:t>
            </a:r>
            <a:r>
              <a:rPr lang="en-IN" sz="1700" dirty="0">
                <a:latin typeface="Bookman Old Style" panose="02050604050505020204" pitchFamily="18" charset="0"/>
              </a:rPr>
              <a:t>= 0 to </a:t>
            </a:r>
            <a:r>
              <a:rPr lang="en-IN" sz="1700" dirty="0" err="1">
                <a:latin typeface="Bookman Old Style" panose="02050604050505020204" pitchFamily="18" charset="0"/>
              </a:rPr>
              <a:t>m</a:t>
            </a:r>
            <a:r>
              <a:rPr lang="en-IN" sz="17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700" baseline="-25000" dirty="0">
                <a:latin typeface="Bookman Old Style" panose="02050604050505020204" pitchFamily="18" charset="0"/>
              </a:rPr>
              <a:t> </a:t>
            </a:r>
            <a:r>
              <a:rPr lang="en-IN" sz="1700" dirty="0">
                <a:latin typeface="Bookman Old Style" panose="02050604050505020204" pitchFamily="18" charset="0"/>
              </a:rPr>
              <a:t>= +/-1 </a:t>
            </a:r>
          </a:p>
          <a:p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Diverted spins take the singlet shelved dark path causing a dip in the red light intensity.  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E4A2B-0B77-4106-B878-3BD4DCA1B7E0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Nitrogen Vacancy Energy Level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77E6F2E-534B-39D3-5915-79BB4D810DDD}"/>
              </a:ext>
            </a:extLst>
          </p:cNvPr>
          <p:cNvGrpSpPr/>
          <p:nvPr/>
        </p:nvGrpSpPr>
        <p:grpSpPr>
          <a:xfrm>
            <a:off x="354566" y="3834581"/>
            <a:ext cx="5493915" cy="2316965"/>
            <a:chOff x="354566" y="3834581"/>
            <a:chExt cx="5493915" cy="23169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78FE458-4E09-9198-7F91-7FBCA0769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6235" y="3834581"/>
              <a:ext cx="3561687" cy="1960184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9CE5F11-64E0-BC73-FC88-724765261C8B}"/>
                </a:ext>
              </a:extLst>
            </p:cNvPr>
            <p:cNvGrpSpPr/>
            <p:nvPr/>
          </p:nvGrpSpPr>
          <p:grpSpPr>
            <a:xfrm>
              <a:off x="354566" y="4976356"/>
              <a:ext cx="5493915" cy="1175190"/>
              <a:chOff x="354566" y="4976356"/>
              <a:chExt cx="5493915" cy="117519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8DCC8F-9CBB-A705-3962-CE96148A82EB}"/>
                  </a:ext>
                </a:extLst>
              </p:cNvPr>
              <p:cNvSpPr txBox="1"/>
              <p:nvPr/>
            </p:nvSpPr>
            <p:spPr>
              <a:xfrm>
                <a:off x="354566" y="5812992"/>
                <a:ext cx="549391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i="1" dirty="0">
                    <a:latin typeface="Bookman Old Style" panose="02050604050505020204" pitchFamily="18" charset="0"/>
                  </a:rPr>
                  <a:t> Dip in the red fluorescence at spin flipping frequency</a:t>
                </a:r>
                <a:endParaRPr lang="en-IN" sz="1600" i="1" dirty="0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51C2ABD-0EA6-EF99-4499-B396B95D8F4E}"/>
                  </a:ext>
                </a:extLst>
              </p:cNvPr>
              <p:cNvGrpSpPr/>
              <p:nvPr/>
            </p:nvGrpSpPr>
            <p:grpSpPr>
              <a:xfrm>
                <a:off x="3011099" y="4976356"/>
                <a:ext cx="332737" cy="617145"/>
                <a:chOff x="3094407" y="5043948"/>
                <a:chExt cx="320908" cy="589907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FE857956-C2FB-C6C0-752A-AB1CFCD5256E}"/>
                    </a:ext>
                  </a:extLst>
                </p:cNvPr>
                <p:cNvCxnSpPr/>
                <p:nvPr/>
              </p:nvCxnSpPr>
              <p:spPr>
                <a:xfrm>
                  <a:off x="3215148" y="5043948"/>
                  <a:ext cx="0" cy="373627"/>
                </a:xfrm>
                <a:prstGeom prst="line">
                  <a:avLst/>
                </a:prstGeom>
                <a:ln w="1905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3D5BA8B-9519-C055-2FE2-2CC9B6DB5D30}"/>
                    </a:ext>
                  </a:extLst>
                </p:cNvPr>
                <p:cNvSpPr txBox="1"/>
                <p:nvPr/>
              </p:nvSpPr>
              <p:spPr>
                <a:xfrm>
                  <a:off x="3094407" y="5372245"/>
                  <a:ext cx="320908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100" dirty="0">
                      <a:solidFill>
                        <a:schemeClr val="accent5">
                          <a:lumMod val="75000"/>
                        </a:schemeClr>
                      </a:solidFill>
                      <a:latin typeface="Berlin Sans FB" panose="020E0602020502020306" pitchFamily="34" charset="0"/>
                    </a:rPr>
                    <a:t>D </a:t>
                  </a:r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66761F1-6B3B-7E90-9159-1536756C9282}"/>
              </a:ext>
            </a:extLst>
          </p:cNvPr>
          <p:cNvSpPr/>
          <p:nvPr/>
        </p:nvSpPr>
        <p:spPr>
          <a:xfrm>
            <a:off x="9750490" y="3429000"/>
            <a:ext cx="2339906" cy="1740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059455-B831-8F49-041C-843F096C0A6D}"/>
              </a:ext>
            </a:extLst>
          </p:cNvPr>
          <p:cNvGrpSpPr/>
          <p:nvPr/>
        </p:nvGrpSpPr>
        <p:grpSpPr>
          <a:xfrm>
            <a:off x="4937922" y="5859609"/>
            <a:ext cx="8708962" cy="597172"/>
            <a:chOff x="4969565" y="5419156"/>
            <a:chExt cx="8708962" cy="59717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5C26E7-2A38-7E40-DE7B-BE60344D956A}"/>
                </a:ext>
              </a:extLst>
            </p:cNvPr>
            <p:cNvSpPr txBox="1"/>
            <p:nvPr/>
          </p:nvSpPr>
          <p:spPr>
            <a:xfrm>
              <a:off x="4969565" y="5723940"/>
              <a:ext cx="8708962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300" dirty="0">
                  <a:latin typeface="AdvOT483a8203"/>
                </a:rPr>
                <a:t>[John F. Barry et al. , Rev. Mod. Phys., Vol 92, 0034-6861/2020/92(1)/015004(68)] </a:t>
              </a:r>
              <a:endParaRPr lang="en-IN" sz="1300" dirty="0">
                <a:latin typeface="AdvOT483a8203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564D44-FA8A-AC11-7710-8D015B905904}"/>
                </a:ext>
              </a:extLst>
            </p:cNvPr>
            <p:cNvSpPr txBox="1"/>
            <p:nvPr/>
          </p:nvSpPr>
          <p:spPr>
            <a:xfrm>
              <a:off x="6431148" y="5419156"/>
              <a:ext cx="5735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latin typeface="Bookman Old Style" panose="02050604050505020204" pitchFamily="18" charset="0"/>
                </a:rPr>
                <a:t>Energy level </a:t>
              </a:r>
              <a:r>
                <a:rPr lang="en-US" i="1" dirty="0">
                  <a:latin typeface="Bookman Old Style" panose="02050604050505020204" pitchFamily="18" charset="0"/>
                </a:rPr>
                <a:t>diagram for NV− center in diamond</a:t>
              </a:r>
              <a:endParaRPr lang="en-IN" i="1" dirty="0"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D2EEC9-A2CD-1EB7-E0FE-3EF3EEDB603F}"/>
              </a:ext>
            </a:extLst>
          </p:cNvPr>
          <p:cNvGrpSpPr/>
          <p:nvPr/>
        </p:nvGrpSpPr>
        <p:grpSpPr>
          <a:xfrm>
            <a:off x="7114449" y="1144845"/>
            <a:ext cx="4851566" cy="4714763"/>
            <a:chOff x="7620985" y="1267465"/>
            <a:chExt cx="4247554" cy="422514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24121F7-0443-2716-0A24-80F923B97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20985" y="1267465"/>
              <a:ext cx="4247554" cy="422514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191CBF-7288-BC4B-905B-56AF1010F9FF}"/>
                </a:ext>
              </a:extLst>
            </p:cNvPr>
            <p:cNvSpPr txBox="1"/>
            <p:nvPr/>
          </p:nvSpPr>
          <p:spPr>
            <a:xfrm>
              <a:off x="9644815" y="2544744"/>
              <a:ext cx="4038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rgbClr val="8A0000"/>
                  </a:solidFill>
                </a:rPr>
                <a:t>IR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1544834-ADB4-9A2E-0B43-3F91AB2749A2}"/>
              </a:ext>
            </a:extLst>
          </p:cNvPr>
          <p:cNvSpPr txBox="1"/>
          <p:nvPr/>
        </p:nvSpPr>
        <p:spPr>
          <a:xfrm>
            <a:off x="-1197403" y="6107717"/>
            <a:ext cx="87089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dirty="0">
                <a:latin typeface="AdvOT483a8203"/>
              </a:rPr>
              <a:t>[N. Savage, Nature, Vol 591, </a:t>
            </a:r>
            <a:r>
              <a:rPr lang="en-IN" sz="1300" dirty="0">
                <a:latin typeface="AdvOT483a8203"/>
              </a:rPr>
              <a:t>doi.org/10.1038/d41586-021-00743-3</a:t>
            </a:r>
            <a:r>
              <a:rPr lang="fr-FR" sz="1300" dirty="0">
                <a:latin typeface="AdvOT483a8203"/>
              </a:rPr>
              <a:t>] </a:t>
            </a:r>
            <a:endParaRPr lang="en-IN" sz="1300" dirty="0">
              <a:latin typeface="AdvOT483a8203"/>
            </a:endParaRPr>
          </a:p>
        </p:txBody>
      </p:sp>
    </p:spTree>
    <p:extLst>
      <p:ext uri="{BB962C8B-B14F-4D97-AF65-F5344CB8AC3E}">
        <p14:creationId xmlns:p14="http://schemas.microsoft.com/office/powerpoint/2010/main" val="86212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241FF-4F66-3A51-5D4B-EA7B8DBF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6D254F-EDA4-A1AC-0B64-5467ECF12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B568E4-F513-7840-77CC-E1C6EB998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398F12-1310-016F-37A0-A296300CD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6B011F-C881-FF74-3F5D-D83ABBD20FFA}"/>
              </a:ext>
            </a:extLst>
          </p:cNvPr>
          <p:cNvSpPr txBox="1"/>
          <p:nvPr/>
        </p:nvSpPr>
        <p:spPr>
          <a:xfrm>
            <a:off x="194294" y="842868"/>
            <a:ext cx="651845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ODMR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External low frequency magnetic field (</a:t>
            </a:r>
            <a:r>
              <a:rPr lang="en-IN" sz="1600" dirty="0" err="1">
                <a:latin typeface="Bookman Old Style" panose="02050604050505020204" pitchFamily="18" charset="0"/>
              </a:rPr>
              <a:t>B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z</a:t>
            </a:r>
            <a:r>
              <a:rPr lang="en-IN" sz="1600" dirty="0">
                <a:latin typeface="Bookman Old Style" panose="02050604050505020204" pitchFamily="18" charset="0"/>
              </a:rPr>
              <a:t>) is applied along the NV axis.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Zeeman shift:</a:t>
            </a:r>
            <a:r>
              <a:rPr lang="en-IN" sz="1600" dirty="0">
                <a:latin typeface="Bookman Old Style" panose="02050604050505020204" pitchFamily="18" charset="0"/>
              </a:rPr>
              <a:t> MF induces an energy shift in the ground triplet state for </a:t>
            </a:r>
            <a:r>
              <a:rPr lang="en-IN" sz="1600" dirty="0" err="1">
                <a:latin typeface="Bookman Old Style" panose="02050604050505020204" pitchFamily="18" charset="0"/>
              </a:rPr>
              <a:t>m</a:t>
            </a:r>
            <a:r>
              <a:rPr lang="en-IN" sz="16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600" baseline="-25000" dirty="0">
                <a:latin typeface="Bookman Old Style" panose="02050604050505020204" pitchFamily="18" charset="0"/>
              </a:rPr>
              <a:t> </a:t>
            </a:r>
            <a:r>
              <a:rPr lang="en-IN" sz="1600" dirty="0">
                <a:latin typeface="Bookman Old Style" panose="02050604050505020204" pitchFamily="18" charset="0"/>
              </a:rPr>
              <a:t>= +/-1 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Fluorescence dips occur at two distinct frequencies.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The separation between these two dips directly related to the magnetic field strength.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6F480-426B-249B-D8BB-FF82EF365851}"/>
              </a:ext>
            </a:extLst>
          </p:cNvPr>
          <p:cNvSpPr txBox="1"/>
          <p:nvPr/>
        </p:nvSpPr>
        <p:spPr>
          <a:xfrm>
            <a:off x="6158940" y="5948481"/>
            <a:ext cx="61254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i="0" u="none" strike="noStrike" baseline="0" dirty="0">
                <a:latin typeface="AdvOT483a8203"/>
              </a:rPr>
              <a:t>[James L. Webb et. al., Appl. Phys. Lett. 114, 231103 (2019); </a:t>
            </a:r>
            <a:r>
              <a:rPr lang="fr-FR" sz="1300" i="0" u="none" strike="noStrike" baseline="0" dirty="0" err="1">
                <a:latin typeface="AdvOT483a8203"/>
              </a:rPr>
              <a:t>doi</a:t>
            </a:r>
            <a:r>
              <a:rPr lang="fr-FR" sz="1300" i="0" u="none" strike="noStrike" baseline="0" dirty="0">
                <a:latin typeface="AdvOT483a8203"/>
              </a:rPr>
              <a:t>: 10.1063/1.5095241]</a:t>
            </a:r>
            <a:endParaRPr lang="en-IN" sz="1300" dirty="0">
              <a:latin typeface="AdvOT483a8203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4DBEB8-0DA2-0090-ACD5-3EF47F25A031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Nitrogen Vacancy Energy Level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AA23625-1EC5-7FCA-04C9-8B67D2A5B2D7}"/>
              </a:ext>
            </a:extLst>
          </p:cNvPr>
          <p:cNvGrpSpPr/>
          <p:nvPr/>
        </p:nvGrpSpPr>
        <p:grpSpPr>
          <a:xfrm>
            <a:off x="44839" y="4202825"/>
            <a:ext cx="5735915" cy="2269898"/>
            <a:chOff x="-309862" y="4347741"/>
            <a:chExt cx="5735915" cy="226989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6CED468-77C0-35F8-F614-7181C12A0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6837" y="4347741"/>
              <a:ext cx="3411443" cy="1877961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AEB70C-3A3E-2A89-4DF3-6B13B64E6F6F}"/>
                </a:ext>
              </a:extLst>
            </p:cNvPr>
            <p:cNvSpPr/>
            <p:nvPr/>
          </p:nvSpPr>
          <p:spPr>
            <a:xfrm>
              <a:off x="2082087" y="5486400"/>
              <a:ext cx="1241216" cy="344129"/>
            </a:xfrm>
            <a:prstGeom prst="rect">
              <a:avLst/>
            </a:prstGeom>
            <a:solidFill>
              <a:srgbClr val="F1EFE7"/>
            </a:solidFill>
            <a:ln>
              <a:solidFill>
                <a:srgbClr val="F1EF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FEE6404-8766-AC8D-3525-8AD3E9651560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5476240"/>
              <a:ext cx="0" cy="38608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D8806E8-BF7D-2A49-30E6-EA9FCDA499DE}"/>
                </a:ext>
              </a:extLst>
            </p:cNvPr>
            <p:cNvCxnSpPr>
              <a:cxnSpLocks/>
            </p:cNvCxnSpPr>
            <p:nvPr/>
          </p:nvCxnSpPr>
          <p:spPr>
            <a:xfrm>
              <a:off x="3281680" y="5471160"/>
              <a:ext cx="0" cy="386080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591E32D-2E46-2236-1AD1-9A443E0CA25B}"/>
                </a:ext>
              </a:extLst>
            </p:cNvPr>
            <p:cNvCxnSpPr/>
            <p:nvPr/>
          </p:nvCxnSpPr>
          <p:spPr>
            <a:xfrm>
              <a:off x="2199640" y="5547360"/>
              <a:ext cx="1082040" cy="0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24A733-08BE-6EED-1E47-FD7CCE37FF27}"/>
                </a:ext>
              </a:extLst>
            </p:cNvPr>
            <p:cNvSpPr txBox="1"/>
            <p:nvPr/>
          </p:nvSpPr>
          <p:spPr>
            <a:xfrm>
              <a:off x="-309862" y="6294474"/>
              <a:ext cx="57359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i="1" dirty="0">
                  <a:latin typeface="Bookman Old Style" panose="02050604050505020204" pitchFamily="18" charset="0"/>
                </a:rPr>
                <a:t>   Dip in the red fluorescence at spin flipping frequencies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B27A860-F31B-A873-D123-4A72663A7BD7}"/>
                </a:ext>
              </a:extLst>
            </p:cNvPr>
            <p:cNvSpPr txBox="1"/>
            <p:nvPr/>
          </p:nvSpPr>
          <p:spPr>
            <a:xfrm>
              <a:off x="2366791" y="5545340"/>
              <a:ext cx="773802" cy="2851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>
                  <a:latin typeface="Bookman Old Style" panose="02050604050505020204" pitchFamily="18" charset="0"/>
                </a:rPr>
                <a:t>2γ</a:t>
              </a:r>
              <a:r>
                <a:rPr lang="en-IN" sz="1200" b="1" baseline="-25000" dirty="0">
                  <a:latin typeface="Bookman Old Style" panose="02050604050505020204" pitchFamily="18" charset="0"/>
                </a:rPr>
                <a:t>e</a:t>
              </a:r>
              <a:r>
                <a:rPr lang="en-IN" sz="1200" b="1" dirty="0">
                  <a:latin typeface="Bookman Old Style" panose="02050604050505020204" pitchFamily="18" charset="0"/>
                </a:rPr>
                <a:t>B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AD4EE51-FECF-969E-847E-446284A4F78A}"/>
              </a:ext>
            </a:extLst>
          </p:cNvPr>
          <p:cNvSpPr txBox="1"/>
          <p:nvPr/>
        </p:nvSpPr>
        <p:spPr>
          <a:xfrm>
            <a:off x="2841431" y="1003110"/>
            <a:ext cx="3803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</a:rPr>
              <a:t>γ</a:t>
            </a:r>
            <a:r>
              <a:rPr lang="en-IN" sz="1600" baseline="-25000" dirty="0" err="1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</a:rPr>
              <a:t>e</a:t>
            </a:r>
            <a:r>
              <a:rPr lang="en-IN" sz="1600" baseline="-250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</a:rPr>
              <a:t>= gyromagnetic ratio (28 Hz/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</a:rPr>
              <a:t>nT</a:t>
            </a:r>
            <a:r>
              <a:rPr lang="en-IN" sz="160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</a:rPr>
              <a:t>)</a:t>
            </a:r>
            <a:r>
              <a:rPr lang="en-IN" sz="1600" baseline="-2500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endParaRPr lang="en-IN" sz="1600" dirty="0">
              <a:solidFill>
                <a:schemeClr val="bg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C1E70EB-332A-64DC-36BC-48E9CFAEF4D7}"/>
              </a:ext>
            </a:extLst>
          </p:cNvPr>
          <p:cNvGrpSpPr/>
          <p:nvPr/>
        </p:nvGrpSpPr>
        <p:grpSpPr>
          <a:xfrm>
            <a:off x="6325141" y="1209834"/>
            <a:ext cx="5757479" cy="4738647"/>
            <a:chOff x="6325141" y="1209834"/>
            <a:chExt cx="5757479" cy="473864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F20CE45-7B8A-43B1-75E8-4A1BF8CFAD15}"/>
                </a:ext>
              </a:extLst>
            </p:cNvPr>
            <p:cNvGrpSpPr/>
            <p:nvPr/>
          </p:nvGrpSpPr>
          <p:grpSpPr>
            <a:xfrm>
              <a:off x="6325141" y="1209834"/>
              <a:ext cx="5735916" cy="4738647"/>
              <a:chOff x="6354484" y="1444659"/>
              <a:chExt cx="5735916" cy="473864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C64F9DE-89AF-B400-B843-05663876651C}"/>
                  </a:ext>
                </a:extLst>
              </p:cNvPr>
              <p:cNvGrpSpPr/>
              <p:nvPr/>
            </p:nvGrpSpPr>
            <p:grpSpPr>
              <a:xfrm>
                <a:off x="6354484" y="1444659"/>
                <a:ext cx="5735916" cy="4738647"/>
                <a:chOff x="6354484" y="1493819"/>
                <a:chExt cx="5735916" cy="4738647"/>
              </a:xfrm>
            </p:grpSpPr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7E622C5C-75E1-4A74-3BF2-5493100198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223" r="4194"/>
                <a:stretch>
                  <a:fillRect/>
                </a:stretch>
              </p:blipFill>
              <p:spPr>
                <a:xfrm>
                  <a:off x="6695440" y="1493819"/>
                  <a:ext cx="5394960" cy="4366638"/>
                </a:xfrm>
                <a:prstGeom prst="rect">
                  <a:avLst/>
                </a:prstGeom>
              </p:spPr>
            </p:pic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8457E62-EF7B-2940-28D4-F09BAF95940E}"/>
                    </a:ext>
                  </a:extLst>
                </p:cNvPr>
                <p:cNvGrpSpPr/>
                <p:nvPr/>
              </p:nvGrpSpPr>
              <p:grpSpPr>
                <a:xfrm>
                  <a:off x="6354484" y="4748981"/>
                  <a:ext cx="5735915" cy="1483485"/>
                  <a:chOff x="6354484" y="4748981"/>
                  <a:chExt cx="5735915" cy="1483485"/>
                </a:xfrm>
              </p:grpSpPr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2945FC7-5EBC-FCD6-4099-B32E3E402818}"/>
                      </a:ext>
                    </a:extLst>
                  </p:cNvPr>
                  <p:cNvSpPr txBox="1"/>
                  <p:nvPr/>
                </p:nvSpPr>
                <p:spPr>
                  <a:xfrm>
                    <a:off x="6354484" y="5863134"/>
                    <a:ext cx="573591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IN" i="1" dirty="0">
                        <a:latin typeface="Bookman Old Style" panose="02050604050505020204" pitchFamily="18" charset="0"/>
                      </a:rPr>
                      <a:t>Energy level </a:t>
                    </a:r>
                    <a:r>
                      <a:rPr lang="en-US" i="1" dirty="0">
                        <a:latin typeface="Bookman Old Style" panose="02050604050505020204" pitchFamily="18" charset="0"/>
                      </a:rPr>
                      <a:t>diagram for NV− center in diamond</a:t>
                    </a:r>
                    <a:endParaRPr lang="en-IN" i="1" dirty="0">
                      <a:latin typeface="Bookman Old Style" panose="02050604050505020204" pitchFamily="18" charset="0"/>
                    </a:endParaRP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A0E631BD-3380-7DCD-2FA3-313810ABA19C}"/>
                      </a:ext>
                    </a:extLst>
                  </p:cNvPr>
                  <p:cNvCxnSpPr/>
                  <p:nvPr/>
                </p:nvCxnSpPr>
                <p:spPr>
                  <a:xfrm>
                    <a:off x="7462684" y="4748981"/>
                    <a:ext cx="0" cy="717754"/>
                  </a:xfrm>
                  <a:prstGeom prst="straightConnector1">
                    <a:avLst/>
                  </a:prstGeom>
                  <a:ln w="28575"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684759A-6C40-28B8-5A89-463631CE6CA3}"/>
                      </a:ext>
                    </a:extLst>
                  </p:cNvPr>
                  <p:cNvSpPr txBox="1"/>
                  <p:nvPr/>
                </p:nvSpPr>
                <p:spPr>
                  <a:xfrm>
                    <a:off x="7469242" y="5466735"/>
                    <a:ext cx="2925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IN" dirty="0">
                        <a:solidFill>
                          <a:srgbClr val="0070C0"/>
                        </a:solidFill>
                        <a:latin typeface="Berlin Sans FB" panose="020E0602020502020306" pitchFamily="34" charset="0"/>
                      </a:rPr>
                      <a:t>D</a:t>
                    </a:r>
                    <a:endParaRPr lang="en-IN" dirty="0">
                      <a:solidFill>
                        <a:srgbClr val="0070C0"/>
                      </a:solidFill>
                    </a:endParaRPr>
                  </a:p>
                </p:txBody>
              </p:sp>
            </p:grpSp>
          </p:grp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7EA32C65-2503-5937-A65A-0AD6EE837406}"/>
                  </a:ext>
                </a:extLst>
              </p:cNvPr>
              <p:cNvCxnSpPr/>
              <p:nvPr/>
            </p:nvCxnSpPr>
            <p:spPr>
              <a:xfrm>
                <a:off x="7315200" y="1965163"/>
                <a:ext cx="0" cy="3481234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5372738-25F7-54A3-7EBB-54C5F4315C18}"/>
                  </a:ext>
                </a:extLst>
              </p:cNvPr>
              <p:cNvCxnSpPr/>
              <p:nvPr/>
            </p:nvCxnSpPr>
            <p:spPr>
              <a:xfrm flipV="1">
                <a:off x="7193902" y="1605694"/>
                <a:ext cx="0" cy="4068147"/>
              </a:xfrm>
              <a:prstGeom prst="straightConnector1">
                <a:avLst/>
              </a:prstGeom>
              <a:ln w="76200">
                <a:solidFill>
                  <a:srgbClr val="008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F9AE4C7E-401D-1114-05D7-5572104EED9E}"/>
                      </a:ext>
                    </a:extLst>
                  </p14:cNvPr>
                  <p14:cNvContentPartPr/>
                  <p14:nvPr/>
                </p14:nvContentPartPr>
                <p14:xfrm>
                  <a:off x="7556576" y="4767950"/>
                  <a:ext cx="271800" cy="57924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F9AE4C7E-401D-1114-05D7-5572104EED9E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520576" y="4731950"/>
                    <a:ext cx="343440" cy="65088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8805FE-63FC-D5BB-296C-AC213704B988}"/>
                </a:ext>
              </a:extLst>
            </p:cNvPr>
            <p:cNvSpPr/>
            <p:nvPr/>
          </p:nvSpPr>
          <p:spPr>
            <a:xfrm>
              <a:off x="9685177" y="3116424"/>
              <a:ext cx="2397443" cy="18847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AF693A-54FD-4D13-B341-87763A4ABB13}"/>
              </a:ext>
            </a:extLst>
          </p:cNvPr>
          <p:cNvCxnSpPr/>
          <p:nvPr/>
        </p:nvCxnSpPr>
        <p:spPr>
          <a:xfrm>
            <a:off x="9386596" y="4156170"/>
            <a:ext cx="41054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3B53AC-133D-4E80-2720-AE23253F16F5}"/>
              </a:ext>
            </a:extLst>
          </p:cNvPr>
          <p:cNvSpPr txBox="1"/>
          <p:nvPr/>
        </p:nvSpPr>
        <p:spPr>
          <a:xfrm>
            <a:off x="-1360004" y="6422507"/>
            <a:ext cx="87089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dirty="0">
                <a:latin typeface="AdvOT483a8203"/>
              </a:rPr>
              <a:t>[N. Savage, Nature, Vol 591, </a:t>
            </a:r>
            <a:r>
              <a:rPr lang="en-IN" sz="1300" dirty="0">
                <a:latin typeface="AdvOT483a8203"/>
              </a:rPr>
              <a:t>doi.org/10.1038/d41586-021-00743-3</a:t>
            </a:r>
            <a:r>
              <a:rPr lang="fr-FR" sz="1300" dirty="0">
                <a:latin typeface="AdvOT483a8203"/>
              </a:rPr>
              <a:t>] </a:t>
            </a:r>
            <a:endParaRPr lang="en-IN" sz="1300" dirty="0">
              <a:latin typeface="AdvOT483a8203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0DE78D-2090-30B5-7D16-147CF9741FA0}"/>
              </a:ext>
            </a:extLst>
          </p:cNvPr>
          <p:cNvSpPr txBox="1"/>
          <p:nvPr/>
        </p:nvSpPr>
        <p:spPr>
          <a:xfrm>
            <a:off x="5780754" y="6280402"/>
            <a:ext cx="5735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Zero field splitting energy (D = 2.87 GHz) </a:t>
            </a:r>
          </a:p>
        </p:txBody>
      </p:sp>
    </p:spTree>
    <p:extLst>
      <p:ext uri="{BB962C8B-B14F-4D97-AF65-F5344CB8AC3E}">
        <p14:creationId xmlns:p14="http://schemas.microsoft.com/office/powerpoint/2010/main" val="2160913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26212-4EF1-D7C2-30A2-77E096E0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37DBDB-6087-4469-8FEC-24B70AA8FAC2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C040FA-67A2-0ADD-E2E2-23836C98D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93E6F4-D33E-0D13-3B62-8DA58C870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72EB3B-7A29-57AB-BEE6-A2E11279D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8A8011-299F-138A-B919-6AA038B21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063" y="1252467"/>
            <a:ext cx="5820813" cy="41120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036FED-426E-CD44-FA21-071A2739DAF6}"/>
              </a:ext>
            </a:extLst>
          </p:cNvPr>
          <p:cNvSpPr txBox="1"/>
          <p:nvPr/>
        </p:nvSpPr>
        <p:spPr>
          <a:xfrm>
            <a:off x="2082087" y="13498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Nitrogen Vacancy Energy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E15B7-8DA2-24EA-7402-C4D58B5BBE0A}"/>
              </a:ext>
            </a:extLst>
          </p:cNvPr>
          <p:cNvSpPr txBox="1"/>
          <p:nvPr/>
        </p:nvSpPr>
        <p:spPr>
          <a:xfrm>
            <a:off x="297965" y="923204"/>
            <a:ext cx="602717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baseline="30000" dirty="0">
                <a:solidFill>
                  <a:srgbClr val="0070C0"/>
                </a:solidFill>
                <a:latin typeface="Berlin Sans FB" panose="020E0602020502020306" pitchFamily="34" charset="0"/>
              </a:rPr>
              <a:t>14</a:t>
            </a:r>
            <a:r>
              <a:rPr lang="en-IN" sz="3200" b="1" dirty="0">
                <a:solidFill>
                  <a:srgbClr val="0070C0"/>
                </a:solidFill>
                <a:latin typeface="Berlin Sans FB" panose="020E0602020502020306" pitchFamily="34" charset="0"/>
              </a:rPr>
              <a:t>N hyperfine structure</a:t>
            </a:r>
            <a:endParaRPr lang="en-IN" sz="3200" b="1" baseline="30000" dirty="0">
              <a:solidFill>
                <a:srgbClr val="0070C0"/>
              </a:solidFill>
              <a:latin typeface="Berlin Sans FB" panose="020E0602020502020306" pitchFamily="34" charset="0"/>
            </a:endParaRPr>
          </a:p>
          <a:p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Electron spin (S=1) couples with nuclear spin of adjacent N-14 atom (I=1)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3 fold splitting in each of the Zeeman levels forming a 9-state system.</a:t>
            </a:r>
          </a:p>
          <a:p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Each of the two main magnetic dips further split into three closely spaced mini dips.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The </a:t>
            </a:r>
            <a:r>
              <a:rPr lang="en-IN" sz="1700" dirty="0">
                <a:solidFill>
                  <a:srgbClr val="008000"/>
                </a:solidFill>
                <a:latin typeface="Bookman Old Style" panose="02050604050505020204" pitchFamily="18" charset="0"/>
              </a:rPr>
              <a:t>green</a:t>
            </a:r>
            <a:r>
              <a:rPr lang="en-IN" sz="1700" dirty="0">
                <a:latin typeface="Bookman Old Style" panose="02050604050505020204" pitchFamily="18" charset="0"/>
              </a:rPr>
              <a:t> line shows transition from (</a:t>
            </a:r>
            <a:r>
              <a:rPr lang="en-IN" sz="1700" dirty="0" err="1">
                <a:latin typeface="Bookman Old Style" panose="02050604050505020204" pitchFamily="18" charset="0"/>
              </a:rPr>
              <a:t>m</a:t>
            </a:r>
            <a:r>
              <a:rPr lang="en-IN" sz="17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700" baseline="-25000" dirty="0">
                <a:latin typeface="Bookman Old Style" panose="02050604050505020204" pitchFamily="18" charset="0"/>
              </a:rPr>
              <a:t> </a:t>
            </a:r>
            <a:r>
              <a:rPr lang="en-IN" sz="1700" dirty="0">
                <a:latin typeface="Bookman Old Style" panose="02050604050505020204" pitchFamily="18" charset="0"/>
              </a:rPr>
              <a:t>= 0; m</a:t>
            </a:r>
            <a:r>
              <a:rPr lang="en-IN" sz="1700" baseline="-25000" dirty="0">
                <a:latin typeface="Bookman Old Style" panose="02050604050505020204" pitchFamily="18" charset="0"/>
              </a:rPr>
              <a:t>i </a:t>
            </a:r>
            <a:r>
              <a:rPr lang="en-IN" sz="1700" dirty="0">
                <a:latin typeface="Bookman Old Style" panose="02050604050505020204" pitchFamily="18" charset="0"/>
              </a:rPr>
              <a:t>= 0) to (</a:t>
            </a:r>
            <a:r>
              <a:rPr lang="en-IN" sz="1700" dirty="0" err="1">
                <a:latin typeface="Bookman Old Style" panose="02050604050505020204" pitchFamily="18" charset="0"/>
              </a:rPr>
              <a:t>m</a:t>
            </a:r>
            <a:r>
              <a:rPr lang="en-IN" sz="1700" baseline="-25000" dirty="0" err="1">
                <a:latin typeface="Bookman Old Style" panose="02050604050505020204" pitchFamily="18" charset="0"/>
              </a:rPr>
              <a:t>s</a:t>
            </a:r>
            <a:r>
              <a:rPr lang="en-IN" sz="1700" baseline="-25000" dirty="0">
                <a:latin typeface="Bookman Old Style" panose="02050604050505020204" pitchFamily="18" charset="0"/>
              </a:rPr>
              <a:t> </a:t>
            </a:r>
            <a:r>
              <a:rPr lang="en-IN" sz="1700" dirty="0">
                <a:latin typeface="Bookman Old Style" panose="02050604050505020204" pitchFamily="18" charset="0"/>
              </a:rPr>
              <a:t>= +/-1; m</a:t>
            </a:r>
            <a:r>
              <a:rPr lang="en-IN" sz="1700" baseline="-25000" dirty="0">
                <a:latin typeface="Bookman Old Style" panose="02050604050505020204" pitchFamily="18" charset="0"/>
              </a:rPr>
              <a:t>i </a:t>
            </a:r>
            <a:r>
              <a:rPr lang="en-IN" sz="1700" dirty="0">
                <a:latin typeface="Bookman Old Style" panose="02050604050505020204" pitchFamily="18" charset="0"/>
              </a:rPr>
              <a:t>= 0).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7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dirty="0">
                <a:latin typeface="Bookman Old Style" panose="02050604050505020204" pitchFamily="18" charset="0"/>
              </a:rPr>
              <a:t>The </a:t>
            </a:r>
            <a:r>
              <a:rPr lang="en-IN" sz="1700" dirty="0">
                <a:solidFill>
                  <a:schemeClr val="accent2"/>
                </a:solidFill>
                <a:latin typeface="Bookman Old Style" panose="02050604050505020204" pitchFamily="18" charset="0"/>
              </a:rPr>
              <a:t>orange</a:t>
            </a:r>
            <a:r>
              <a:rPr lang="en-IN" sz="1700" dirty="0">
                <a:latin typeface="Bookman Old Style" panose="02050604050505020204" pitchFamily="18" charset="0"/>
              </a:rPr>
              <a:t> and </a:t>
            </a:r>
            <a:r>
              <a:rPr lang="en-IN" sz="1700" dirty="0">
                <a:solidFill>
                  <a:schemeClr val="accent1"/>
                </a:solidFill>
                <a:latin typeface="Bookman Old Style" panose="02050604050505020204" pitchFamily="18" charset="0"/>
              </a:rPr>
              <a:t>blue</a:t>
            </a:r>
            <a:r>
              <a:rPr lang="en-IN" sz="1700" dirty="0">
                <a:latin typeface="Bookman Old Style" panose="02050604050505020204" pitchFamily="18" charset="0"/>
              </a:rPr>
              <a:t> lines show similar transition but with m</a:t>
            </a:r>
            <a:r>
              <a:rPr lang="en-IN" sz="1700" baseline="-25000" dirty="0">
                <a:latin typeface="Bookman Old Style" panose="02050604050505020204" pitchFamily="18" charset="0"/>
              </a:rPr>
              <a:t>i </a:t>
            </a:r>
            <a:r>
              <a:rPr lang="en-IN" sz="1700" dirty="0">
                <a:latin typeface="Bookman Old Style" panose="02050604050505020204" pitchFamily="18" charset="0"/>
              </a:rPr>
              <a:t>= +1 and m</a:t>
            </a:r>
            <a:r>
              <a:rPr lang="en-IN" sz="1700" baseline="-25000" dirty="0">
                <a:latin typeface="Bookman Old Style" panose="02050604050505020204" pitchFamily="18" charset="0"/>
              </a:rPr>
              <a:t>i </a:t>
            </a:r>
            <a:r>
              <a:rPr lang="en-IN" sz="1700" dirty="0">
                <a:latin typeface="Bookman Old Style" panose="02050604050505020204" pitchFamily="18" charset="0"/>
              </a:rPr>
              <a:t>= -1 respectively.</a:t>
            </a:r>
          </a:p>
          <a:p>
            <a:endParaRPr lang="en-IN" sz="1700" dirty="0">
              <a:latin typeface="Bookman Old Style" panose="0205060405050502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433CD7-9FE8-6B7D-0BF0-56BE097962EE}"/>
              </a:ext>
            </a:extLst>
          </p:cNvPr>
          <p:cNvSpPr txBox="1"/>
          <p:nvPr/>
        </p:nvSpPr>
        <p:spPr>
          <a:xfrm>
            <a:off x="6325141" y="5579149"/>
            <a:ext cx="573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Bookman Old Style" panose="02050604050505020204" pitchFamily="18" charset="0"/>
              </a:rPr>
              <a:t>Ground state energy levels and allowed transitions in NV- centre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75E07C-82A9-92A4-5529-88BFF1206879}"/>
              </a:ext>
            </a:extLst>
          </p:cNvPr>
          <p:cNvSpPr txBox="1"/>
          <p:nvPr/>
        </p:nvSpPr>
        <p:spPr>
          <a:xfrm>
            <a:off x="1255035" y="6523393"/>
            <a:ext cx="9878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Berlin Sans FB" panose="020E0602020502020306" pitchFamily="34" charset="0"/>
              </a:rPr>
              <a:t>Rosenzweig, Yossi. (2016). The Physics of Nitrogen-Vacancy Color Centers in Diamonds and their Interaction with External Fields. 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65FD12-19E1-363C-57FD-A471020AA97A}"/>
              </a:ext>
            </a:extLst>
          </p:cNvPr>
          <p:cNvSpPr/>
          <p:nvPr/>
        </p:nvSpPr>
        <p:spPr>
          <a:xfrm>
            <a:off x="7197972" y="3429000"/>
            <a:ext cx="322501" cy="3032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B31FC2-5742-7103-E3FB-73DCCD74E069}"/>
              </a:ext>
            </a:extLst>
          </p:cNvPr>
          <p:cNvSpPr txBox="1"/>
          <p:nvPr/>
        </p:nvSpPr>
        <p:spPr>
          <a:xfrm>
            <a:off x="6787424" y="3429000"/>
            <a:ext cx="1466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Bookman Old Style" panose="02050604050505020204" pitchFamily="18" charset="0"/>
              </a:rPr>
              <a:t>D = 2.87 GHz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ADC046-26AA-57CA-03AB-CA23E803B267}"/>
              </a:ext>
            </a:extLst>
          </p:cNvPr>
          <p:cNvSpPr/>
          <p:nvPr/>
        </p:nvSpPr>
        <p:spPr>
          <a:xfrm>
            <a:off x="9050692" y="2360645"/>
            <a:ext cx="755780" cy="214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DC973E-A940-DA8F-6A01-40B2211AEDA7}"/>
              </a:ext>
            </a:extLst>
          </p:cNvPr>
          <p:cNvSpPr txBox="1"/>
          <p:nvPr/>
        </p:nvSpPr>
        <p:spPr>
          <a:xfrm>
            <a:off x="9032670" y="2324099"/>
            <a:ext cx="773802" cy="28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b="1">
                <a:latin typeface="Bookman Old Style" panose="02050604050505020204" pitchFamily="18" charset="0"/>
              </a:rPr>
              <a:t>2γ</a:t>
            </a:r>
            <a:r>
              <a:rPr lang="en-IN" sz="1200" b="1" baseline="-25000">
                <a:latin typeface="Bookman Old Style" panose="02050604050505020204" pitchFamily="18" charset="0"/>
              </a:rPr>
              <a:t>e</a:t>
            </a:r>
            <a:r>
              <a:rPr lang="en-IN" sz="1200" b="1">
                <a:latin typeface="Bookman Old Style" panose="02050604050505020204" pitchFamily="18" charset="0"/>
              </a:rPr>
              <a:t>B</a:t>
            </a:r>
            <a:endParaRPr lang="en-IN" sz="1200" b="1" dirty="0">
              <a:latin typeface="Bookman Old Style" panose="0205060405050502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C20221-5BFD-192B-A29A-3E4E3616A460}"/>
              </a:ext>
            </a:extLst>
          </p:cNvPr>
          <p:cNvSpPr txBox="1"/>
          <p:nvPr/>
        </p:nvSpPr>
        <p:spPr>
          <a:xfrm>
            <a:off x="891729" y="5597137"/>
            <a:ext cx="38030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P = -4.95 MHz</a:t>
            </a:r>
          </a:p>
          <a:p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A</a:t>
            </a:r>
            <a:r>
              <a:rPr lang="en-IN" sz="14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II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= -2.16 MHz</a:t>
            </a:r>
          </a:p>
        </p:txBody>
      </p:sp>
    </p:spTree>
    <p:extLst>
      <p:ext uri="{BB962C8B-B14F-4D97-AF65-F5344CB8AC3E}">
        <p14:creationId xmlns:p14="http://schemas.microsoft.com/office/powerpoint/2010/main" val="428373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6D174-FB3F-4C0B-78A7-A866A6AE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76E4B7-E3FC-0B3A-2369-B5BDC51C647B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0BE3ED-4920-05EC-7BA5-79C9F3B01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D6FC70-B1D8-6220-CDCB-55BB99ECA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060E03-F4F3-B195-2A58-824AB5530A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E422D3-5A37-F124-3CB3-E66AF86B6A3A}"/>
              </a:ext>
            </a:extLst>
          </p:cNvPr>
          <p:cNvSpPr txBox="1"/>
          <p:nvPr/>
        </p:nvSpPr>
        <p:spPr>
          <a:xfrm>
            <a:off x="199099" y="834311"/>
            <a:ext cx="11894578" cy="7586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Special Diamond Cuts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b="1" u="sng" dirty="0">
                <a:latin typeface="Bookman Old Style" panose="02050604050505020204" pitchFamily="18" charset="0"/>
              </a:rPr>
              <a:t>67° Cut (Brewster Angle):</a:t>
            </a:r>
            <a:r>
              <a:rPr lang="en-IN" sz="1700" dirty="0">
                <a:latin typeface="Bookman Old Style" panose="02050604050505020204" pitchFamily="18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Bookman Old Style" panose="02050604050505020204" pitchFamily="18" charset="0"/>
              </a:rPr>
              <a:t>minimizes reflection loss.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Bookman Old Style" panose="02050604050505020204" pitchFamily="18" charset="0"/>
              </a:rPr>
              <a:t>ensures maximum transmission of green laser pump.</a:t>
            </a:r>
          </a:p>
          <a:p>
            <a:endParaRPr lang="en-IN" sz="1700" b="1" u="sng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b="1" u="sng" dirty="0">
                <a:latin typeface="Bookman Old Style" panose="02050604050505020204" pitchFamily="18" charset="0"/>
              </a:rPr>
              <a:t>22.7° Cut:</a:t>
            </a:r>
            <a:r>
              <a:rPr lang="en-IN" sz="1700" dirty="0">
                <a:latin typeface="Bookman Old Style" panose="02050604050505020204" pitchFamily="18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Bookman Old Style" panose="02050604050505020204" pitchFamily="18" charset="0"/>
              </a:rPr>
              <a:t>directs the laser beam laterally across the width of the crystal.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Bookman Old Style" panose="02050604050505020204" pitchFamily="18" charset="0"/>
              </a:rPr>
              <a:t>excites maximum number of NV centres.</a:t>
            </a:r>
          </a:p>
          <a:p>
            <a:pPr lvl="1"/>
            <a:endParaRPr lang="en-IN" dirty="0">
              <a:latin typeface="Bookman Old Style" panose="02050604050505020204" pitchFamily="18" charset="0"/>
            </a:endParaRPr>
          </a:p>
          <a:p>
            <a:r>
              <a:rPr lang="en-IN" sz="3200" b="1" dirty="0">
                <a:solidFill>
                  <a:srgbClr val="002060"/>
                </a:solidFill>
                <a:latin typeface="Berlin Sans FB" panose="020E0602020502020306" pitchFamily="34" charset="0"/>
              </a:rPr>
              <a:t>Optical Coating and Filtering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b="1" u="sng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b="1" u="sng" dirty="0">
                <a:latin typeface="Bookman Old Style" panose="02050604050505020204" pitchFamily="18" charset="0"/>
              </a:rPr>
              <a:t>Coatings:</a:t>
            </a:r>
            <a:r>
              <a:rPr lang="en-IN" sz="1700" dirty="0">
                <a:latin typeface="Bookman Old Style" panose="02050604050505020204" pitchFamily="18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Bookman Old Style" panose="02050604050505020204" pitchFamily="18" charset="0"/>
              </a:rPr>
              <a:t>Back side facing the MW antenna is layered with highly reflective (R&gt;99%) for wavelength 500-800 nm.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Bookman Old Style" panose="02050604050505020204" pitchFamily="18" charset="0"/>
              </a:rPr>
              <a:t>Front side has split coating. It is </a:t>
            </a:r>
            <a:r>
              <a:rPr lang="en-IN" sz="1700" b="1" u="sng" dirty="0">
                <a:latin typeface="Bookman Old Style" panose="02050604050505020204" pitchFamily="18" charset="0"/>
              </a:rPr>
              <a:t>highly reflective (R&gt;99%)</a:t>
            </a:r>
            <a:r>
              <a:rPr lang="en-IN" sz="1700" b="1" dirty="0">
                <a:latin typeface="Bookman Old Style" panose="02050604050505020204" pitchFamily="18" charset="0"/>
              </a:rPr>
              <a:t> </a:t>
            </a:r>
            <a:r>
              <a:rPr lang="en-IN" sz="1700" dirty="0">
                <a:latin typeface="Bookman Old Style" panose="02050604050505020204" pitchFamily="18" charset="0"/>
              </a:rPr>
              <a:t>for </a:t>
            </a:r>
            <a:r>
              <a:rPr lang="en-IN" sz="17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532 nm</a:t>
            </a:r>
            <a:r>
              <a:rPr lang="en-IN" sz="1700" b="1" dirty="0">
                <a:latin typeface="Bookman Old Style" panose="02050604050505020204" pitchFamily="18" charset="0"/>
              </a:rPr>
              <a:t> </a:t>
            </a:r>
            <a:r>
              <a:rPr lang="en-IN" sz="1700" dirty="0">
                <a:latin typeface="Bookman Old Style" panose="02050604050505020204" pitchFamily="18" charset="0"/>
              </a:rPr>
              <a:t>green light but </a:t>
            </a:r>
            <a:r>
              <a:rPr lang="en-IN" sz="1700" b="1" u="sng" dirty="0">
                <a:latin typeface="Bookman Old Style" panose="02050604050505020204" pitchFamily="18" charset="0"/>
              </a:rPr>
              <a:t>anti-reflective (R&lt;1%)</a:t>
            </a:r>
            <a:r>
              <a:rPr lang="en-IN" sz="1700" dirty="0">
                <a:latin typeface="Bookman Old Style" panose="02050604050505020204" pitchFamily="18" charset="0"/>
              </a:rPr>
              <a:t> for </a:t>
            </a:r>
            <a:r>
              <a:rPr lang="en-IN" sz="17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600-800nm</a:t>
            </a:r>
            <a:r>
              <a:rPr lang="en-IN" sz="1700" dirty="0">
                <a:latin typeface="Bookman Old Style" panose="02050604050505020204" pitchFamily="18" charset="0"/>
              </a:rPr>
              <a:t> red fluorescence.</a:t>
            </a:r>
          </a:p>
          <a:p>
            <a:endParaRPr lang="en-IN" sz="1700" b="1" u="sng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700" b="1" u="sng" dirty="0">
                <a:latin typeface="Bookman Old Style" panose="02050604050505020204" pitchFamily="18" charset="0"/>
              </a:rPr>
              <a:t>Filtering and Detection:</a:t>
            </a:r>
            <a:r>
              <a:rPr lang="en-IN" sz="1700" dirty="0">
                <a:latin typeface="Bookman Old Style" panose="02050604050505020204" pitchFamily="18" charset="0"/>
              </a:rPr>
              <a:t> Optical </a:t>
            </a:r>
            <a:r>
              <a:rPr lang="en-IN" sz="1700" u="sng" dirty="0">
                <a:latin typeface="Bookman Old Style" panose="02050604050505020204" pitchFamily="18" charset="0"/>
              </a:rPr>
              <a:t>long pass filter</a:t>
            </a:r>
            <a:r>
              <a:rPr lang="en-IN" sz="1700" dirty="0">
                <a:latin typeface="Bookman Old Style" panose="02050604050505020204" pitchFamily="18" charset="0"/>
              </a:rPr>
              <a:t> (550 nm) rejects stray green light so that photodiode can measure red fluorescence effectively.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endParaRPr lang="en-IN" sz="3200" b="1" dirty="0">
              <a:solidFill>
                <a:srgbClr val="002060"/>
              </a:solidFill>
              <a:latin typeface="Berlin Sans FB" panose="020E0602020502020306" pitchFamily="34" charset="0"/>
            </a:endParaRPr>
          </a:p>
          <a:p>
            <a:endParaRPr lang="en-IN" sz="3200" b="1" dirty="0">
              <a:solidFill>
                <a:srgbClr val="002060"/>
              </a:solidFill>
              <a:latin typeface="Berlin Sans FB" panose="020E0602020502020306" pitchFamily="34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86621-6507-EE70-5962-7D5553B77B75}"/>
              </a:ext>
            </a:extLst>
          </p:cNvPr>
          <p:cNvSpPr txBox="1"/>
          <p:nvPr/>
        </p:nvSpPr>
        <p:spPr>
          <a:xfrm>
            <a:off x="3028336" y="6523393"/>
            <a:ext cx="6125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Berlin Sans FB" panose="020E0602020502020306" pitchFamily="34" charset="0"/>
              </a:rPr>
              <a:t>James L. Webb et. al., Appl. Phys. Lett. 114, 231103 (2019); </a:t>
            </a:r>
            <a:r>
              <a:rPr lang="fr-FR" sz="1400" dirty="0" err="1">
                <a:latin typeface="Berlin Sans FB" panose="020E0602020502020306" pitchFamily="34" charset="0"/>
              </a:rPr>
              <a:t>doi</a:t>
            </a:r>
            <a:r>
              <a:rPr lang="fr-FR" sz="1400" dirty="0">
                <a:latin typeface="Berlin Sans FB" panose="020E0602020502020306" pitchFamily="34" charset="0"/>
              </a:rPr>
              <a:t>: 10.1063/1.5095241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EE1B1-7A42-0C0A-8AB7-4F6F978ECD6C}"/>
              </a:ext>
            </a:extLst>
          </p:cNvPr>
          <p:cNvSpPr txBox="1"/>
          <p:nvPr/>
        </p:nvSpPr>
        <p:spPr>
          <a:xfrm>
            <a:off x="2108995" y="3666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Optical and crystal design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5FC23-0424-A2B8-FF42-6DDFC3E81B8D}"/>
              </a:ext>
            </a:extLst>
          </p:cNvPr>
          <p:cNvSpPr txBox="1"/>
          <p:nvPr/>
        </p:nvSpPr>
        <p:spPr>
          <a:xfrm>
            <a:off x="7052683" y="3455797"/>
            <a:ext cx="57359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latin typeface="Bookman Old Style" panose="02050604050505020204" pitchFamily="18" charset="0"/>
              </a:rPr>
              <a:t>Schematic of the specially cut diamond crystal</a:t>
            </a:r>
            <a:endParaRPr lang="en-IN" sz="1500" i="1" dirty="0">
              <a:latin typeface="Bookman Old Style" panose="020506040505050202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9CDD51-E455-9B95-CCC5-91664CD579D0}"/>
              </a:ext>
            </a:extLst>
          </p:cNvPr>
          <p:cNvGrpSpPr/>
          <p:nvPr/>
        </p:nvGrpSpPr>
        <p:grpSpPr>
          <a:xfrm>
            <a:off x="7753746" y="1867967"/>
            <a:ext cx="4228520" cy="1498067"/>
            <a:chOff x="7716417" y="1990912"/>
            <a:chExt cx="4228520" cy="14980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BE6FA9A-4FBC-3D4D-0D06-D0B1F4411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6770" b="67875"/>
            <a:stretch>
              <a:fillRect/>
            </a:stretch>
          </p:blipFill>
          <p:spPr>
            <a:xfrm>
              <a:off x="8051975" y="1990912"/>
              <a:ext cx="3892962" cy="149806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88EA59-B3A5-A9BC-6826-4800F5043FFC}"/>
                    </a:ext>
                  </a:extLst>
                </p14:cNvPr>
                <p14:cNvContentPartPr/>
                <p14:nvPr/>
              </p14:nvContentPartPr>
              <p14:xfrm>
                <a:off x="8339936" y="2258030"/>
                <a:ext cx="78120" cy="137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88EA59-B3A5-A9BC-6826-4800F5043F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31296" y="2249030"/>
                  <a:ext cx="95760" cy="15516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E9A231-602D-C258-5CDE-CB9723E0ACBA}"/>
                </a:ext>
              </a:extLst>
            </p:cNvPr>
            <p:cNvSpPr txBox="1"/>
            <p:nvPr/>
          </p:nvSpPr>
          <p:spPr>
            <a:xfrm>
              <a:off x="7716417" y="2272110"/>
              <a:ext cx="6235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dirty="0">
                  <a:solidFill>
                    <a:schemeClr val="bg2">
                      <a:lumMod val="75000"/>
                    </a:schemeClr>
                  </a:solidFill>
                  <a:latin typeface="Bookman Old Style" panose="02050604050505020204" pitchFamily="18" charset="0"/>
                </a:rPr>
                <a:t>22.7°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1944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874AA-33F5-A27F-6300-CD86E5DA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E6FA16-8A9E-66B0-635D-6807CAA4B19D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9E093-FB26-117D-37E7-ED063A494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A49150-DE8B-C034-8F80-3EBB0142F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BF6D52-C041-6805-B4B9-23631BE50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4F901F-2566-7F10-DBBE-F9C678374822}"/>
              </a:ext>
            </a:extLst>
          </p:cNvPr>
          <p:cNvSpPr txBox="1"/>
          <p:nvPr/>
        </p:nvSpPr>
        <p:spPr>
          <a:xfrm>
            <a:off x="3028336" y="6523393"/>
            <a:ext cx="6125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Berlin Sans FB" panose="020E0602020502020306" pitchFamily="34" charset="0"/>
              </a:rPr>
              <a:t>James L. Webb et. al., Appl. Phys. Lett. 114, 231103 (2019); </a:t>
            </a:r>
            <a:r>
              <a:rPr lang="fr-FR" sz="1400" dirty="0" err="1">
                <a:latin typeface="Berlin Sans FB" panose="020E0602020502020306" pitchFamily="34" charset="0"/>
              </a:rPr>
              <a:t>doi</a:t>
            </a:r>
            <a:r>
              <a:rPr lang="fr-FR" sz="1400" dirty="0">
                <a:latin typeface="Berlin Sans FB" panose="020E0602020502020306" pitchFamily="34" charset="0"/>
              </a:rPr>
              <a:t>: 10.1063/1.5095241</a:t>
            </a:r>
            <a:endParaRPr lang="en-IN" sz="1400" dirty="0">
              <a:latin typeface="Berlin Sans FB" panose="020E06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E2174-C4AA-F299-1116-541E003DBABC}"/>
              </a:ext>
            </a:extLst>
          </p:cNvPr>
          <p:cNvSpPr txBox="1"/>
          <p:nvPr/>
        </p:nvSpPr>
        <p:spPr>
          <a:xfrm>
            <a:off x="2108995" y="36662"/>
            <a:ext cx="788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SF Atarian System Extended" panose="00000400000000000000" pitchFamily="2" charset="0"/>
              </a:rPr>
              <a:t>Optical and crystal design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4BAD9-7F10-E0E5-D757-E406FB3DB4C3}"/>
              </a:ext>
            </a:extLst>
          </p:cNvPr>
          <p:cNvSpPr txBox="1"/>
          <p:nvPr/>
        </p:nvSpPr>
        <p:spPr>
          <a:xfrm>
            <a:off x="3546669" y="6122125"/>
            <a:ext cx="57359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latin typeface="Bookman Old Style" panose="02050604050505020204" pitchFamily="18" charset="0"/>
              </a:rPr>
              <a:t>Handheld NV diamond magnetometer</a:t>
            </a:r>
            <a:endParaRPr lang="en-IN" sz="1500" i="1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F957E-D502-A5BD-C111-C59A3E1FC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793" y="1049592"/>
            <a:ext cx="5910791" cy="494740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B43C49-195D-0C93-7D81-782DDDA6DAFB}"/>
              </a:ext>
            </a:extLst>
          </p:cNvPr>
          <p:cNvCxnSpPr/>
          <p:nvPr/>
        </p:nvCxnSpPr>
        <p:spPr>
          <a:xfrm>
            <a:off x="3028336" y="1543987"/>
            <a:ext cx="1258851" cy="47968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7E4DE8-ABD1-D445-64C0-DE857E7FF019}"/>
              </a:ext>
            </a:extLst>
          </p:cNvPr>
          <p:cNvCxnSpPr/>
          <p:nvPr/>
        </p:nvCxnSpPr>
        <p:spPr>
          <a:xfrm flipH="1">
            <a:off x="3192905" y="2608289"/>
            <a:ext cx="1109272" cy="119921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4D04F7-D9F1-E5A7-7191-CFD5E8D42E4B}"/>
              </a:ext>
            </a:extLst>
          </p:cNvPr>
          <p:cNvSpPr txBox="1"/>
          <p:nvPr/>
        </p:nvSpPr>
        <p:spPr>
          <a:xfrm>
            <a:off x="2313777" y="3858034"/>
            <a:ext cx="1466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Bookman Old Style" panose="02050604050505020204" pitchFamily="18" charset="0"/>
              </a:rPr>
              <a:t>Front side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9D45A-8694-67F2-BAE7-ECB6926D720E}"/>
              </a:ext>
            </a:extLst>
          </p:cNvPr>
          <p:cNvSpPr txBox="1"/>
          <p:nvPr/>
        </p:nvSpPr>
        <p:spPr>
          <a:xfrm>
            <a:off x="2298787" y="1237896"/>
            <a:ext cx="1466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Bookman Old Style" panose="02050604050505020204" pitchFamily="18" charset="0"/>
              </a:rPr>
              <a:t>Back side</a:t>
            </a:r>
          </a:p>
        </p:txBody>
      </p:sp>
    </p:spTree>
    <p:extLst>
      <p:ext uri="{BB962C8B-B14F-4D97-AF65-F5344CB8AC3E}">
        <p14:creationId xmlns:p14="http://schemas.microsoft.com/office/powerpoint/2010/main" val="388372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E1AF-D671-4A69-A2BD-6042F534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82A59F-953A-D27F-641C-6757F8835EB1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84EFC0-1326-EE5E-C167-F8C926066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70545-AF60-2207-9170-E87B92F50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6A3FB4-0E34-1C93-19E6-2177312A7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EA8491-D67E-B95F-22A0-F50A5F97DCF7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Electronic Spin Echo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B95A4-7986-1299-F7B4-7B7E900D8547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J.R. Maze et. al., Nanoscale Magnetic Sensing in diamond, Nature-Vol 455 | 2 October 2008 | doi:10.1038/nature07279</a:t>
            </a:r>
            <a:endParaRPr lang="en-IN" sz="1100" dirty="0">
              <a:latin typeface="Berlin Sans FB" panose="020E0602020502020306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19F6F-8E2B-3E19-CE3B-30AEA60C9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947" y="1114220"/>
            <a:ext cx="5735915" cy="45678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1F264D-8DEB-A3B2-1826-236B0BA61275}"/>
              </a:ext>
            </a:extLst>
          </p:cNvPr>
          <p:cNvSpPr txBox="1"/>
          <p:nvPr/>
        </p:nvSpPr>
        <p:spPr>
          <a:xfrm>
            <a:off x="2782231" y="5823034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ookman Old Style" panose="02050604050505020204" pitchFamily="18" charset="0"/>
              </a:rPr>
              <a:t>Confocal Microscopy setup</a:t>
            </a:r>
            <a:endParaRPr lang="en-IN" i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4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0C369-A066-8B4D-992B-EC2882C9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753B3D3-4E0F-E276-98DF-8C3D531038BE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2D8BC-528D-4E95-E04E-0A282C362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8B2159-50D9-CC74-3942-2FDB8EF8F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DBCA38-8D9E-B5B7-53AE-BC6C0FC36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5DDE93-D3A4-2E46-838E-7908AA2F2365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Electronic Spin Echo Measurement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C461E-4CC1-B542-23F5-03D6DD087D8F}"/>
              </a:ext>
            </a:extLst>
          </p:cNvPr>
          <p:cNvSpPr txBox="1"/>
          <p:nvPr/>
        </p:nvSpPr>
        <p:spPr>
          <a:xfrm>
            <a:off x="6779840" y="4320839"/>
            <a:ext cx="573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ookman Old Style" panose="02050604050505020204" pitchFamily="18" charset="0"/>
              </a:rPr>
              <a:t>Optical and microwave spin echo </a:t>
            </a:r>
          </a:p>
          <a:p>
            <a:pPr algn="ctr"/>
            <a:r>
              <a:rPr lang="en-US" i="1" dirty="0">
                <a:latin typeface="Bookman Old Style" panose="02050604050505020204" pitchFamily="18" charset="0"/>
              </a:rPr>
              <a:t>pulse sequence</a:t>
            </a:r>
            <a:endParaRPr lang="en-IN" i="1" dirty="0">
              <a:latin typeface="Bookman Old Style" panose="020506040505050202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E0CD08-D120-5391-DEFB-B2C426B70591}"/>
              </a:ext>
            </a:extLst>
          </p:cNvPr>
          <p:cNvSpPr/>
          <p:nvPr/>
        </p:nvSpPr>
        <p:spPr>
          <a:xfrm>
            <a:off x="6935949" y="1841027"/>
            <a:ext cx="411391" cy="34496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A19D36-14D3-E220-D661-445EB256DCC7}"/>
              </a:ext>
            </a:extLst>
          </p:cNvPr>
          <p:cNvSpPr txBox="1"/>
          <p:nvPr/>
        </p:nvSpPr>
        <p:spPr>
          <a:xfrm>
            <a:off x="131095" y="782064"/>
            <a:ext cx="693402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AC Magnetic Field Sensing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Spin Echo</a:t>
            </a:r>
            <a:r>
              <a:rPr lang="en-IN" dirty="0">
                <a:latin typeface="Bookman Old Style" panose="02050604050505020204" pitchFamily="18" charset="0"/>
              </a:rPr>
              <a:t>: Recovery of the signal with spin information.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Spin Echo Interval</a:t>
            </a:r>
            <a:r>
              <a:rPr lang="en-IN" dirty="0">
                <a:latin typeface="Bookman Old Style" panose="02050604050505020204" pitchFamily="18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Total free evolution time during which the NV spin accumulates phase from AC magnetic field.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Time difference between the two π/2 pulses.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Polarization (1us):</a:t>
            </a:r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A green laser pulse polarizes the spin into </a:t>
            </a:r>
            <a:r>
              <a:rPr lang="en-IN" dirty="0" err="1">
                <a:latin typeface="Bookman Old Style" panose="02050604050505020204" pitchFamily="18" charset="0"/>
              </a:rPr>
              <a:t>m</a:t>
            </a:r>
            <a:r>
              <a:rPr lang="en-IN" baseline="-25000" dirty="0" err="1">
                <a:latin typeface="Bookman Old Style" panose="02050604050505020204" pitchFamily="18" charset="0"/>
              </a:rPr>
              <a:t>s</a:t>
            </a:r>
            <a:r>
              <a:rPr lang="en-IN" baseline="-25000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= 0 ground state.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l-GR" b="1" u="sng" dirty="0">
                <a:latin typeface="Bookman Old Style" panose="02050604050505020204" pitchFamily="18" charset="0"/>
              </a:rPr>
              <a:t>π</a:t>
            </a:r>
            <a:r>
              <a:rPr lang="en-IN" b="1" u="sng" dirty="0">
                <a:latin typeface="Bookman Old Style" panose="02050604050505020204" pitchFamily="18" charset="0"/>
              </a:rPr>
              <a:t>/2 pulse:</a:t>
            </a:r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MW pulse creates coherent superposition of </a:t>
            </a:r>
            <a:r>
              <a:rPr lang="en-IN" dirty="0" err="1">
                <a:latin typeface="Bookman Old Style" panose="02050604050505020204" pitchFamily="18" charset="0"/>
              </a:rPr>
              <a:t>m</a:t>
            </a:r>
            <a:r>
              <a:rPr lang="en-IN" baseline="-25000" dirty="0" err="1">
                <a:latin typeface="Bookman Old Style" panose="02050604050505020204" pitchFamily="18" charset="0"/>
              </a:rPr>
              <a:t>s</a:t>
            </a:r>
            <a:r>
              <a:rPr lang="en-IN" baseline="-25000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= 0 and </a:t>
            </a:r>
            <a:r>
              <a:rPr lang="en-IN" dirty="0" err="1">
                <a:latin typeface="Bookman Old Style" panose="02050604050505020204" pitchFamily="18" charset="0"/>
              </a:rPr>
              <a:t>m</a:t>
            </a:r>
            <a:r>
              <a:rPr lang="en-IN" baseline="-25000" dirty="0" err="1">
                <a:latin typeface="Bookman Old Style" panose="02050604050505020204" pitchFamily="18" charset="0"/>
              </a:rPr>
              <a:t>s</a:t>
            </a:r>
            <a:r>
              <a:rPr lang="en-IN" baseline="-25000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= 1 states.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Free Evolution (</a:t>
            </a:r>
            <a:r>
              <a:rPr lang="el-GR" b="1" u="sng" dirty="0">
                <a:latin typeface="Bookman Old Style" panose="02050604050505020204" pitchFamily="18" charset="0"/>
              </a:rPr>
              <a:t>τ</a:t>
            </a:r>
            <a:r>
              <a:rPr lang="en-IN" b="1" u="sng" dirty="0">
                <a:latin typeface="Bookman Old Style" panose="02050604050505020204" pitchFamily="18" charset="0"/>
              </a:rPr>
              <a:t>/2):</a:t>
            </a:r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The NV spin accumulates phase under AC magnetic field and </a:t>
            </a:r>
            <a:r>
              <a:rPr lang="en-IN" baseline="30000" dirty="0">
                <a:latin typeface="Bookman Old Style" panose="02050604050505020204" pitchFamily="18" charset="0"/>
              </a:rPr>
              <a:t>13</a:t>
            </a:r>
            <a:r>
              <a:rPr lang="en-IN" dirty="0">
                <a:latin typeface="Bookman Old Style" panose="02050604050505020204" pitchFamily="18" charset="0"/>
              </a:rPr>
              <a:t>C nuclear spins.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l-GR" b="1" u="sng" dirty="0">
                <a:latin typeface="Bookman Old Style" panose="02050604050505020204" pitchFamily="18" charset="0"/>
              </a:rPr>
              <a:t>π</a:t>
            </a:r>
            <a:r>
              <a:rPr lang="en-IN" b="1" u="sng" dirty="0">
                <a:latin typeface="Bookman Old Style" panose="02050604050505020204" pitchFamily="18" charset="0"/>
              </a:rPr>
              <a:t> refocusing pulse:</a:t>
            </a:r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Swaps the spin (    to       ) to cancel the static noise.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3C0B8-1E96-385D-46B2-5AC8407D7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302" y="2093917"/>
            <a:ext cx="5198523" cy="19884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6B2DD3-3790-D358-B5EB-FF9CE4BC81A1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J.R. Maze et. al., Nanoscale Magnetic Sensing in diamond, Nature-Vol 455 | 2 October 2008 | doi:10.1038/nature07279</a:t>
            </a:r>
            <a:endParaRPr lang="en-IN" sz="1100" dirty="0">
              <a:latin typeface="Berlin Sans FB" panose="020E0602020502020306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0D6B8-FB46-3D09-10D0-C2B2EA540598}"/>
              </a:ext>
            </a:extLst>
          </p:cNvPr>
          <p:cNvSpPr txBox="1"/>
          <p:nvPr/>
        </p:nvSpPr>
        <p:spPr>
          <a:xfrm>
            <a:off x="8688857" y="1520326"/>
            <a:ext cx="14660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b="1" dirty="0">
                <a:latin typeface="Bookman Old Style" panose="02050604050505020204" pitchFamily="18" charset="0"/>
              </a:rPr>
              <a:t>τ</a:t>
            </a:r>
            <a:r>
              <a:rPr lang="en-IN" sz="1600" b="1" dirty="0">
                <a:latin typeface="Bookman Old Style" panose="02050604050505020204" pitchFamily="18" charset="0"/>
              </a:rPr>
              <a:t> = 1/</a:t>
            </a:r>
            <a:r>
              <a:rPr lang="el-GR" sz="1600" b="1" dirty="0">
                <a:latin typeface="Bookman Old Style" panose="02050604050505020204" pitchFamily="18" charset="0"/>
              </a:rPr>
              <a:t> ν</a:t>
            </a:r>
            <a:r>
              <a:rPr lang="en-IN" sz="1600" b="1" dirty="0">
                <a:latin typeface="Bookman Old Style" panose="02050604050505020204" pitchFamily="18" charset="0"/>
              </a:rPr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65CB4-B295-D441-441E-869B83F674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751" r="80451" b="38139"/>
          <a:stretch>
            <a:fillRect/>
          </a:stretch>
        </p:blipFill>
        <p:spPr>
          <a:xfrm>
            <a:off x="4732288" y="5710136"/>
            <a:ext cx="202611" cy="278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8AE4D9-861F-389D-70A9-53AACBA6C70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06" t="29447" r="78603" b="31342"/>
          <a:stretch>
            <a:fillRect/>
          </a:stretch>
        </p:blipFill>
        <p:spPr>
          <a:xfrm>
            <a:off x="5237398" y="5661960"/>
            <a:ext cx="475861" cy="3077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A36DBC-6019-B608-AF09-2AD2E1D60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109" y="4343384"/>
            <a:ext cx="1336790" cy="48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1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53621-D9BC-7928-E665-BF87B9A7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AE4231-16EA-44BE-F4D4-0563FE6FA94B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B0D2EF-0207-7C00-C064-49EDD97D3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29D1D2-9955-6ED6-6826-A7DEC07AF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34405-BE2E-DEF4-A065-92067A14F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5237EC-4497-A2D4-8EFD-7584A1B397F8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Electronic Spin Echo Measurement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31A9C5-E438-416F-2469-C9FF5D9A27B9}"/>
              </a:ext>
            </a:extLst>
          </p:cNvPr>
          <p:cNvSpPr txBox="1"/>
          <p:nvPr/>
        </p:nvSpPr>
        <p:spPr>
          <a:xfrm>
            <a:off x="6779840" y="4320839"/>
            <a:ext cx="573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ookman Old Style" panose="02050604050505020204" pitchFamily="18" charset="0"/>
              </a:rPr>
              <a:t>Optical and microwave spin echo </a:t>
            </a:r>
          </a:p>
          <a:p>
            <a:pPr algn="ctr"/>
            <a:r>
              <a:rPr lang="en-US" i="1" dirty="0">
                <a:latin typeface="Bookman Old Style" panose="02050604050505020204" pitchFamily="18" charset="0"/>
              </a:rPr>
              <a:t>pulse sequence</a:t>
            </a:r>
            <a:endParaRPr lang="en-IN" i="1" dirty="0">
              <a:latin typeface="Bookman Old Style" panose="020506040505050202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9F7773-5619-0FFD-0575-D1387C90CBD2}"/>
              </a:ext>
            </a:extLst>
          </p:cNvPr>
          <p:cNvSpPr/>
          <p:nvPr/>
        </p:nvSpPr>
        <p:spPr>
          <a:xfrm>
            <a:off x="6935949" y="1841027"/>
            <a:ext cx="411391" cy="34496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33162-6F78-6007-9202-1C0DD06C9E71}"/>
              </a:ext>
            </a:extLst>
          </p:cNvPr>
          <p:cNvSpPr txBox="1"/>
          <p:nvPr/>
        </p:nvSpPr>
        <p:spPr>
          <a:xfrm>
            <a:off x="131095" y="983415"/>
            <a:ext cx="693402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Berlin Sans FB" panose="020E0602020502020306" pitchFamily="34" charset="0"/>
              </a:rPr>
              <a:t>AC Magnetic Field Sensing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Free Evolution (</a:t>
            </a:r>
            <a:r>
              <a:rPr lang="el-GR" b="1" u="sng" dirty="0">
                <a:latin typeface="Bookman Old Style" panose="02050604050505020204" pitchFamily="18" charset="0"/>
              </a:rPr>
              <a:t>τ</a:t>
            </a:r>
            <a:r>
              <a:rPr lang="en-IN" b="1" u="sng" dirty="0">
                <a:latin typeface="Bookman Old Style" panose="02050604050505020204" pitchFamily="18" charset="0"/>
              </a:rPr>
              <a:t>/2):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Phase accumulated here gets added to the phase from the first half as the field is oscillating.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But the phase due to static noise gets cancelled.</a:t>
            </a:r>
          </a:p>
          <a:p>
            <a:endParaRPr lang="en-IN" b="1" u="sng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l-GR" b="1" u="sng" dirty="0">
                <a:latin typeface="Bookman Old Style" panose="02050604050505020204" pitchFamily="18" charset="0"/>
              </a:rPr>
              <a:t>π</a:t>
            </a:r>
            <a:r>
              <a:rPr lang="en-IN" b="1" u="sng" dirty="0">
                <a:latin typeface="Bookman Old Style" panose="02050604050505020204" pitchFamily="18" charset="0"/>
              </a:rPr>
              <a:t>/2 readout pulse:</a:t>
            </a:r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dirty="0">
                <a:latin typeface="Bookman Old Style" panose="02050604050505020204" pitchFamily="18" charset="0"/>
              </a:rPr>
              <a:t>The accumulated phase is converted into a population difference.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Readout (3us):</a:t>
            </a:r>
            <a:r>
              <a:rPr lang="en-IN" b="1" dirty="0">
                <a:latin typeface="Bookman Old Style" panose="020506040505050202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b="1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The number of photons is counted during the measurement window.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The measured fluorescence is dependent to the probability of NV spin in </a:t>
            </a:r>
            <a:r>
              <a:rPr lang="en-IN" dirty="0" err="1">
                <a:latin typeface="Bookman Old Style" panose="02050604050505020204" pitchFamily="18" charset="0"/>
              </a:rPr>
              <a:t>m</a:t>
            </a:r>
            <a:r>
              <a:rPr lang="en-IN" baseline="-25000" dirty="0" err="1">
                <a:latin typeface="Bookman Old Style" panose="02050604050505020204" pitchFamily="18" charset="0"/>
              </a:rPr>
              <a:t>s</a:t>
            </a:r>
            <a:r>
              <a:rPr lang="en-IN" dirty="0">
                <a:latin typeface="Bookman Old Style" panose="02050604050505020204" pitchFamily="18" charset="0"/>
              </a:rPr>
              <a:t>=0 state which is </a:t>
            </a:r>
            <a:r>
              <a:rPr lang="en-IN" dirty="0" err="1">
                <a:latin typeface="Bookman Old Style" panose="02050604050505020204" pitchFamily="18" charset="0"/>
              </a:rPr>
              <a:t>inturn</a:t>
            </a:r>
            <a:r>
              <a:rPr lang="en-IN" dirty="0">
                <a:latin typeface="Bookman Old Style" panose="02050604050505020204" pitchFamily="18" charset="0"/>
              </a:rPr>
              <a:t> dependent on the accumulated phase.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CE2D5B-DA6F-25E6-F6B8-2856A95C5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302" y="2093917"/>
            <a:ext cx="5198523" cy="19884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5215A5-DBE7-5315-1519-5D6E42C77C2A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J.R. Maze et. al., Nanoscale Magnetic Sensing in diamond, Nature-Vol 455 | 2 October 2008 | doi:10.1038/nature07279</a:t>
            </a:r>
            <a:endParaRPr lang="en-IN" sz="1100" dirty="0">
              <a:latin typeface="Berlin Sans FB" panose="020E0602020502020306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79B83-93D4-250B-3C4D-D21438BA0412}"/>
              </a:ext>
            </a:extLst>
          </p:cNvPr>
          <p:cNvSpPr txBox="1"/>
          <p:nvPr/>
        </p:nvSpPr>
        <p:spPr>
          <a:xfrm>
            <a:off x="8688857" y="1520326"/>
            <a:ext cx="14660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600" b="1" dirty="0">
                <a:latin typeface="Bookman Old Style" panose="02050604050505020204" pitchFamily="18" charset="0"/>
              </a:rPr>
              <a:t>τ</a:t>
            </a:r>
            <a:r>
              <a:rPr lang="en-IN" sz="1600" b="1" dirty="0">
                <a:latin typeface="Bookman Old Style" panose="02050604050505020204" pitchFamily="18" charset="0"/>
              </a:rPr>
              <a:t> = 1/</a:t>
            </a:r>
            <a:r>
              <a:rPr lang="el-GR" sz="1600" b="1" dirty="0">
                <a:latin typeface="Bookman Old Style" panose="02050604050505020204" pitchFamily="18" charset="0"/>
              </a:rPr>
              <a:t> ν</a:t>
            </a:r>
            <a:r>
              <a:rPr lang="en-IN" sz="1600" b="1" dirty="0">
                <a:latin typeface="Bookman Old Style" panose="020506040505050202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94434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63FB-D365-2D32-4CAA-196C33F6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428C47-BF6E-B66B-4A85-4C86DD08DF0E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BFC277-2521-7BF4-6227-6B9CD53A9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5E3860-7C3E-5621-AC18-3069A85E9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5E9FA1-0AEF-D364-5D79-0A4ABBCEF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384E52-5174-E21F-9852-D42CF25671F4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Electronic Spin Echo Measurement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AF0A2C-6172-D4B1-6E41-B474B778F698}"/>
              </a:ext>
            </a:extLst>
          </p:cNvPr>
          <p:cNvGrpSpPr/>
          <p:nvPr/>
        </p:nvGrpSpPr>
        <p:grpSpPr>
          <a:xfrm>
            <a:off x="6935949" y="1841027"/>
            <a:ext cx="5736044" cy="3744911"/>
            <a:chOff x="6935949" y="1841027"/>
            <a:chExt cx="5736044" cy="374491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71AF26-92D5-E2F1-D905-F5C738EBB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35949" y="1882720"/>
              <a:ext cx="5258399" cy="2849379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563C01C-C080-07BD-6DB5-1E35F990CEF6}"/>
                </a:ext>
              </a:extLst>
            </p:cNvPr>
            <p:cNvGrpSpPr/>
            <p:nvPr/>
          </p:nvGrpSpPr>
          <p:grpSpPr>
            <a:xfrm>
              <a:off x="6935949" y="1841027"/>
              <a:ext cx="5736044" cy="3744911"/>
              <a:chOff x="6935949" y="1841027"/>
              <a:chExt cx="5736044" cy="374491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564C8F-2A56-F7D6-6C1A-4A5512D3C03C}"/>
                  </a:ext>
                </a:extLst>
              </p:cNvPr>
              <p:cNvSpPr txBox="1"/>
              <p:nvPr/>
            </p:nvSpPr>
            <p:spPr>
              <a:xfrm>
                <a:off x="6936078" y="4939607"/>
                <a:ext cx="57359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latin typeface="Bookman Old Style" panose="02050604050505020204" pitchFamily="18" charset="0"/>
                  </a:rPr>
                  <a:t>Electronic Spin Echo measurement </a:t>
                </a:r>
              </a:p>
              <a:p>
                <a:pPr algn="ctr"/>
                <a:r>
                  <a:rPr lang="en-US" i="1" dirty="0">
                    <a:latin typeface="Bookman Old Style" panose="02050604050505020204" pitchFamily="18" charset="0"/>
                  </a:rPr>
                  <a:t>over time</a:t>
                </a:r>
                <a:endParaRPr lang="en-IN" i="1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29ECD17-FB3F-62D8-A934-2C68D3CCE721}"/>
                  </a:ext>
                </a:extLst>
              </p:cNvPr>
              <p:cNvSpPr/>
              <p:nvPr/>
            </p:nvSpPr>
            <p:spPr>
              <a:xfrm>
                <a:off x="6935949" y="1841027"/>
                <a:ext cx="411391" cy="34496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2C817C7-B2B1-D8E1-A78B-B0E9BD92C1BB}"/>
              </a:ext>
            </a:extLst>
          </p:cNvPr>
          <p:cNvSpPr txBox="1"/>
          <p:nvPr/>
        </p:nvSpPr>
        <p:spPr>
          <a:xfrm>
            <a:off x="131095" y="1202807"/>
            <a:ext cx="693402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Peaks and Valleys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Normalized spin echo signal (corresponding to fractional change in NV centre fluorescence) over time.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Oscillating peaks and valleys are caused by the NV spin interacting with surrounding bath of </a:t>
            </a:r>
            <a:r>
              <a:rPr lang="en-IN" baseline="30000" dirty="0">
                <a:latin typeface="Bookman Old Style" panose="02050604050505020204" pitchFamily="18" charset="0"/>
              </a:rPr>
              <a:t>13</a:t>
            </a:r>
            <a:r>
              <a:rPr lang="en-IN" dirty="0">
                <a:latin typeface="Bookman Old Style" panose="02050604050505020204" pitchFamily="18" charset="0"/>
              </a:rPr>
              <a:t>C nuclear spins.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Bookman Old Style" panose="02050604050505020204" pitchFamily="18" charset="0"/>
              </a:rPr>
              <a:t>Peaks</a:t>
            </a:r>
            <a:r>
              <a:rPr lang="en-IN" dirty="0">
                <a:latin typeface="Bookman Old Style" panose="02050604050505020204" pitchFamily="18" charset="0"/>
              </a:rPr>
              <a:t> = Revivals </a:t>
            </a:r>
          </a:p>
          <a:p>
            <a:r>
              <a:rPr lang="en-IN" dirty="0">
                <a:latin typeface="Bookman Old Style" panose="02050604050505020204" pitchFamily="18" charset="0"/>
              </a:rPr>
              <a:t>    </a:t>
            </a:r>
            <a:r>
              <a:rPr lang="en-IN" b="1" dirty="0">
                <a:latin typeface="Bookman Old Style" panose="02050604050505020204" pitchFamily="18" charset="0"/>
              </a:rPr>
              <a:t>Valleys</a:t>
            </a:r>
            <a:r>
              <a:rPr lang="en-IN" dirty="0">
                <a:latin typeface="Bookman Old Style" panose="02050604050505020204" pitchFamily="18" charset="0"/>
              </a:rPr>
              <a:t> = Collapses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Revivals occur periodically at half the rate of the </a:t>
            </a:r>
            <a:r>
              <a:rPr lang="en-IN" b="1" dirty="0">
                <a:latin typeface="Bookman Old Style" panose="02050604050505020204" pitchFamily="18" charset="0"/>
              </a:rPr>
              <a:t>Larmor frequency</a:t>
            </a:r>
            <a:r>
              <a:rPr lang="en-IN" dirty="0">
                <a:latin typeface="Bookman Old Style" panose="02050604050505020204" pitchFamily="18" charset="0"/>
              </a:rPr>
              <a:t> of the </a:t>
            </a:r>
            <a:r>
              <a:rPr lang="en-IN" baseline="30000" dirty="0">
                <a:latin typeface="Bookman Old Style" panose="02050604050505020204" pitchFamily="18" charset="0"/>
              </a:rPr>
              <a:t>13</a:t>
            </a:r>
            <a:r>
              <a:rPr lang="en-IN" dirty="0">
                <a:latin typeface="Bookman Old Style" panose="02050604050505020204" pitchFamily="18" charset="0"/>
              </a:rPr>
              <a:t>C nuclei.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Experiments are conducted at the revival peaks as the NV spin decouples from the magnetic noise of </a:t>
            </a:r>
            <a:r>
              <a:rPr lang="en-IN" baseline="30000" dirty="0">
                <a:latin typeface="Bookman Old Style" panose="02050604050505020204" pitchFamily="18" charset="0"/>
              </a:rPr>
              <a:t>13</a:t>
            </a:r>
            <a:r>
              <a:rPr lang="en-IN" dirty="0">
                <a:latin typeface="Bookman Old Style" panose="02050604050505020204" pitchFamily="18" charset="0"/>
              </a:rPr>
              <a:t>C nuclei.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71BF49-0A38-E81D-934C-BC72359A97EC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J.R. Maze et. al., Nanoscale Magnetic Sensing in diamond, Nature-Vol 455 | 2 October 2008 | doi:10.1038/nature07279</a:t>
            </a:r>
            <a:endParaRPr lang="en-IN" sz="11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698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4758-B2A5-7034-0075-070BAAA0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C2848E-250D-EBDE-0458-5ECBBAA6B07B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7499A9-81DD-AED8-3505-405285626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E8C88F-1E86-A08A-9DFD-4A9AFB2DD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5C36B8-53F2-19F2-CBDF-B9368877A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342C3B-E162-3E30-13E3-A66F4C0BA69F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Electronic Spin Echo Measurement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A51750-3B33-6F6D-7D85-1B1D11D33015}"/>
              </a:ext>
            </a:extLst>
          </p:cNvPr>
          <p:cNvSpPr/>
          <p:nvPr/>
        </p:nvSpPr>
        <p:spPr>
          <a:xfrm>
            <a:off x="6935949" y="1841027"/>
            <a:ext cx="411391" cy="34496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BB71A9-B29A-57E9-A0EF-1A7FC4824FBE}"/>
              </a:ext>
            </a:extLst>
          </p:cNvPr>
          <p:cNvSpPr txBox="1"/>
          <p:nvPr/>
        </p:nvSpPr>
        <p:spPr>
          <a:xfrm>
            <a:off x="131095" y="931684"/>
            <a:ext cx="741648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Sensitivity of magnetometer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Normalized spin echo signal as a function of amplitude of external AC magnetic field.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With increasing field amplitude, NV spin accumulates phase due to time varying Zeeman shift.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 phase accumulation is read out as a periodic change in the detected fluorescence.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Magnetometer is most sensitive at the point of maximum slope (small change in magnetic field).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latin typeface="Bookman Old Style" panose="02050604050505020204" pitchFamily="18" charset="0"/>
              </a:rPr>
              <a:t>Sensitivity</a:t>
            </a:r>
            <a:r>
              <a:rPr lang="en-IN" dirty="0">
                <a:latin typeface="Bookman Old Style" panose="02050604050505020204" pitchFamily="18" charset="0"/>
              </a:rPr>
              <a:t> is limited by uncertainty in measurement of spin echo signal (noise).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Cosine behaviour of signal can be changes to a sine behaviour by adjusting the phase of microwave signal by 90</a:t>
            </a:r>
            <a:r>
              <a:rPr lang="en-IN" b="1" dirty="0">
                <a:latin typeface="Bookman Old Style" panose="02050604050505020204" pitchFamily="18" charset="0"/>
              </a:rPr>
              <a:t>°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25BB65-11F8-C076-16BA-C72426D0A2FA}"/>
              </a:ext>
            </a:extLst>
          </p:cNvPr>
          <p:cNvGrpSpPr/>
          <p:nvPr/>
        </p:nvGrpSpPr>
        <p:grpSpPr>
          <a:xfrm>
            <a:off x="6935949" y="1091891"/>
            <a:ext cx="5735915" cy="3429190"/>
            <a:chOff x="7034398" y="1886926"/>
            <a:chExt cx="5735915" cy="34291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1C2DF8-6BB7-1A40-5019-0E51FA259650}"/>
                </a:ext>
              </a:extLst>
            </p:cNvPr>
            <p:cNvSpPr txBox="1"/>
            <p:nvPr/>
          </p:nvSpPr>
          <p:spPr>
            <a:xfrm>
              <a:off x="7034398" y="4669785"/>
              <a:ext cx="5735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atin typeface="Bookman Old Style" panose="02050604050505020204" pitchFamily="18" charset="0"/>
                </a:rPr>
                <a:t>Electronic Spin Echo measurement with </a:t>
              </a:r>
            </a:p>
            <a:p>
              <a:pPr algn="ctr"/>
              <a:r>
                <a:rPr lang="en-US" i="1" dirty="0">
                  <a:latin typeface="Bookman Old Style" panose="02050604050505020204" pitchFamily="18" charset="0"/>
                </a:rPr>
                <a:t>external AC magnetic field</a:t>
              </a:r>
              <a:endParaRPr lang="en-IN" i="1" dirty="0">
                <a:latin typeface="Bookman Old Style" panose="02050604050505020204" pitchFamily="18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2D5A060-51F5-5ACA-1F64-245298682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24" r="2962"/>
            <a:stretch>
              <a:fillRect/>
            </a:stretch>
          </p:blipFill>
          <p:spPr>
            <a:xfrm>
              <a:off x="7561004" y="1886926"/>
              <a:ext cx="4598222" cy="26911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5EB85F-99CF-9D88-EAAD-864AA6DDC407}"/>
                </a:ext>
              </a:extLst>
            </p:cNvPr>
            <p:cNvSpPr txBox="1"/>
            <p:nvPr/>
          </p:nvSpPr>
          <p:spPr>
            <a:xfrm>
              <a:off x="9024193" y="2264106"/>
              <a:ext cx="1688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f</a:t>
              </a:r>
              <a:r>
                <a:rPr lang="en-IN" baseline="-25000" dirty="0">
                  <a:solidFill>
                    <a:srgbClr val="FF0000"/>
                  </a:solidFill>
                </a:rPr>
                <a:t>2</a:t>
              </a:r>
              <a:r>
                <a:rPr lang="en-IN" dirty="0">
                  <a:solidFill>
                    <a:srgbClr val="FF0000"/>
                  </a:solidFill>
                </a:rPr>
                <a:t> = 4.21 kHz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42168C-D5CC-3DD4-528D-339506777C50}"/>
                </a:ext>
              </a:extLst>
            </p:cNvPr>
            <p:cNvSpPr txBox="1"/>
            <p:nvPr/>
          </p:nvSpPr>
          <p:spPr>
            <a:xfrm>
              <a:off x="10285530" y="3540845"/>
              <a:ext cx="13942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f</a:t>
              </a:r>
              <a:r>
                <a:rPr lang="en-IN" baseline="-25000" dirty="0">
                  <a:solidFill>
                    <a:schemeClr val="accent5">
                      <a:lumMod val="50000"/>
                    </a:schemeClr>
                  </a:solidFill>
                </a:rPr>
                <a:t>1 </a:t>
              </a:r>
              <a:r>
                <a:rPr lang="en-IN" dirty="0">
                  <a:solidFill>
                    <a:schemeClr val="accent5">
                      <a:lumMod val="50000"/>
                    </a:schemeClr>
                  </a:solidFill>
                </a:rPr>
                <a:t>= 3.15 kHz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93D79B5-C302-12ED-1CA8-A6ABBF6F267F}"/>
                </a:ext>
              </a:extLst>
            </p:cNvPr>
            <p:cNvSpPr/>
            <p:nvPr/>
          </p:nvSpPr>
          <p:spPr>
            <a:xfrm>
              <a:off x="7561004" y="1936956"/>
              <a:ext cx="216312" cy="2195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90BD1F3-A2C7-3339-30B6-8F7DADDCA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9430" y="4521081"/>
            <a:ext cx="2011854" cy="8230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47B370-DE7B-37B8-FA85-3F37637364AA}"/>
              </a:ext>
            </a:extLst>
          </p:cNvPr>
          <p:cNvSpPr txBox="1"/>
          <p:nvPr/>
        </p:nvSpPr>
        <p:spPr>
          <a:xfrm>
            <a:off x="7796981" y="4712721"/>
            <a:ext cx="1681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man Old Style" panose="02050604050505020204" pitchFamily="18" charset="0"/>
              </a:rPr>
              <a:t>Sensitivity:</a:t>
            </a:r>
            <a:endParaRPr lang="en-IN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720842-B386-4FEC-2661-0763E66BB3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694" y="5380241"/>
            <a:ext cx="297206" cy="36579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86AC453-3314-8A18-BE73-67B3D07463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118" y="5845335"/>
            <a:ext cx="556308" cy="59441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7E5D029-4192-87BF-10DA-AAF9AA7D4A86}"/>
              </a:ext>
            </a:extLst>
          </p:cNvPr>
          <p:cNvSpPr txBox="1"/>
          <p:nvPr/>
        </p:nvSpPr>
        <p:spPr>
          <a:xfrm>
            <a:off x="8574426" y="5346090"/>
            <a:ext cx="6351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: noise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A72D1B-D0FD-2E59-B5DF-81AB312EAD32}"/>
              </a:ext>
            </a:extLst>
          </p:cNvPr>
          <p:cNvSpPr txBox="1"/>
          <p:nvPr/>
        </p:nvSpPr>
        <p:spPr>
          <a:xfrm>
            <a:off x="8638500" y="5929775"/>
            <a:ext cx="6351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: slope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80448F-510E-02CC-6BBB-1A23B3DAA012}"/>
              </a:ext>
            </a:extLst>
          </p:cNvPr>
          <p:cNvSpPr txBox="1"/>
          <p:nvPr/>
        </p:nvSpPr>
        <p:spPr>
          <a:xfrm>
            <a:off x="3028336" y="6523393"/>
            <a:ext cx="6125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Berlin Sans FB" panose="020E0602020502020306" pitchFamily="34" charset="0"/>
              </a:rPr>
              <a:t>J.R. Maze et. al., Nature-Vol 455 | 2 October 2008 | doi:10.1038/nature07279</a:t>
            </a:r>
            <a:endParaRPr lang="en-IN" sz="11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483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852C-719E-72FE-72B1-CDFE539BE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2A1CAD-8E05-C8FA-30DD-7AE750CB878A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7E6BF-B506-EA6E-06B5-B6AA45ADB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38D7C8-20B4-7FA5-0643-B6AB3EE55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1107E7-C73B-8A4F-36FB-224805DF3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313D23-3150-F081-EEF6-59DA7E354398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Sensitivity V/S AC Frequency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C5783-B5D6-C408-A99F-C1E89527B80C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Berlin Sans FB" panose="020E0602020502020306" pitchFamily="34" charset="0"/>
              </a:rPr>
              <a:t>N. Savage, Nature, Vol 591, </a:t>
            </a:r>
            <a:r>
              <a:rPr lang="en-IN" sz="1400" dirty="0">
                <a:latin typeface="Berlin Sans FB" panose="020E0602020502020306" pitchFamily="34" charset="0"/>
              </a:rPr>
              <a:t>doi.org/10.1038/d41586-021-00743-3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B94EC5-1139-19F4-1A58-40EE65D374BB}"/>
              </a:ext>
            </a:extLst>
          </p:cNvPr>
          <p:cNvGrpSpPr/>
          <p:nvPr/>
        </p:nvGrpSpPr>
        <p:grpSpPr>
          <a:xfrm>
            <a:off x="7513321" y="1761191"/>
            <a:ext cx="4482772" cy="3274535"/>
            <a:chOff x="7659088" y="2059588"/>
            <a:chExt cx="4261813" cy="321345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E65A85C-7C4C-2463-7FC4-5EFEDE305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59088" y="2059588"/>
              <a:ext cx="4261813" cy="321345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EEC69F-BCBC-AFA2-BD35-17B1F33309C5}"/>
                </a:ext>
              </a:extLst>
            </p:cNvPr>
            <p:cNvSpPr/>
            <p:nvPr/>
          </p:nvSpPr>
          <p:spPr>
            <a:xfrm>
              <a:off x="7659088" y="2059588"/>
              <a:ext cx="296192" cy="2721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B3D426-A266-9640-6B10-F757D9F97168}"/>
              </a:ext>
            </a:extLst>
          </p:cNvPr>
          <p:cNvGrpSpPr/>
          <p:nvPr/>
        </p:nvGrpSpPr>
        <p:grpSpPr>
          <a:xfrm>
            <a:off x="131095" y="822900"/>
            <a:ext cx="7693329" cy="6217087"/>
            <a:chOff x="131095" y="822900"/>
            <a:chExt cx="7693329" cy="62170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B96B7B-0138-B2CA-8726-F10457F59938}"/>
                </a:ext>
              </a:extLst>
            </p:cNvPr>
            <p:cNvSpPr txBox="1"/>
            <p:nvPr/>
          </p:nvSpPr>
          <p:spPr>
            <a:xfrm>
              <a:off x="131095" y="822900"/>
              <a:ext cx="7693329" cy="6217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800" b="1" dirty="0">
                  <a:solidFill>
                    <a:srgbClr val="008000"/>
                  </a:solidFill>
                  <a:latin typeface="Berlin Sans FB" panose="020E0602020502020306" pitchFamily="34" charset="0"/>
                </a:rPr>
                <a:t>Results </a:t>
              </a:r>
            </a:p>
            <a:p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Input Parameters</a:t>
              </a:r>
              <a:r>
                <a:rPr lang="en-IN" dirty="0">
                  <a:latin typeface="Bookman Old Style" panose="02050604050505020204" pitchFamily="18" charset="0"/>
                </a:rPr>
                <a:t>: 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AC magnetic field frequency ranging from 1-10 kHz.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Measurements are taken at two different static magnetic fields </a:t>
              </a:r>
              <a:r>
                <a:rPr lang="en-IN" b="1" dirty="0">
                  <a:highlight>
                    <a:srgbClr val="00FF00"/>
                  </a:highlight>
                  <a:latin typeface="Bookman Old Style" panose="02050604050505020204" pitchFamily="18" charset="0"/>
                </a:rPr>
                <a:t>B</a:t>
              </a:r>
              <a:r>
                <a:rPr lang="en-IN" b="1" baseline="-25000" dirty="0">
                  <a:highlight>
                    <a:srgbClr val="00FF00"/>
                  </a:highlight>
                  <a:latin typeface="Bookman Old Style" panose="02050604050505020204" pitchFamily="18" charset="0"/>
                </a:rPr>
                <a:t>0 </a:t>
              </a:r>
              <a:r>
                <a:rPr lang="en-IN" b="1" dirty="0">
                  <a:highlight>
                    <a:srgbClr val="00FF00"/>
                  </a:highlight>
                  <a:latin typeface="Bookman Old Style" panose="02050604050505020204" pitchFamily="18" charset="0"/>
                </a:rPr>
                <a:t>= 13 G</a:t>
              </a:r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dirty="0">
                  <a:latin typeface="Bookman Old Style" panose="02050604050505020204" pitchFamily="18" charset="0"/>
                </a:rPr>
                <a:t>and </a:t>
              </a:r>
              <a:r>
                <a:rPr lang="en-IN" b="1" dirty="0">
                  <a:highlight>
                    <a:srgbClr val="FF0000"/>
                  </a:highlight>
                  <a:latin typeface="Bookman Old Style" panose="02050604050505020204" pitchFamily="18" charset="0"/>
                </a:rPr>
                <a:t>B</a:t>
              </a:r>
              <a:r>
                <a:rPr lang="en-IN" b="1" baseline="-25000" dirty="0">
                  <a:highlight>
                    <a:srgbClr val="FF0000"/>
                  </a:highlight>
                  <a:latin typeface="Bookman Old Style" panose="02050604050505020204" pitchFamily="18" charset="0"/>
                </a:rPr>
                <a:t>0 </a:t>
              </a:r>
              <a:r>
                <a:rPr lang="en-IN" b="1" dirty="0">
                  <a:highlight>
                    <a:srgbClr val="FF0000"/>
                  </a:highlight>
                  <a:latin typeface="Bookman Old Style" panose="02050604050505020204" pitchFamily="18" charset="0"/>
                </a:rPr>
                <a:t>= 22 G</a:t>
              </a:r>
              <a:r>
                <a:rPr lang="en-IN" b="1" dirty="0">
                  <a:latin typeface="Bookman Old Style" panose="02050604050505020204" pitchFamily="18" charset="0"/>
                </a:rPr>
                <a:t>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Averaging time is T = 1s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Output</a:t>
              </a:r>
              <a:r>
                <a:rPr lang="en-IN" dirty="0">
                  <a:latin typeface="Bookman Old Style" panose="02050604050505020204" pitchFamily="18" charset="0"/>
                </a:rPr>
                <a:t>: Minimum detectable AC magnetic field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Observations</a:t>
              </a:r>
              <a:r>
                <a:rPr lang="en-IN" dirty="0">
                  <a:latin typeface="Bookman Old Style" panose="02050604050505020204" pitchFamily="18" charset="0"/>
                </a:rPr>
                <a:t>: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Sensitivity is lowest at around 3 kHz.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The minimum detectable field is about 30 </a:t>
              </a:r>
              <a:r>
                <a:rPr lang="en-IN" dirty="0" err="1">
                  <a:latin typeface="Bookman Old Style" panose="02050604050505020204" pitchFamily="18" charset="0"/>
                </a:rPr>
                <a:t>nT.</a:t>
              </a:r>
              <a:endParaRPr lang="en-IN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At low frequencies, the sensitivity is very poor as the spin echo interval             becomes very long and NV spin decoheres before echo is formed.</a:t>
              </a:r>
            </a:p>
            <a:p>
              <a:pPr lvl="1"/>
              <a:endParaRPr lang="en-IN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dirty="0">
                <a:latin typeface="Bookman Old Style" panose="02050604050505020204" pitchFamily="18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90FFA7A-3202-5B8D-FB47-84F23306E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61282" y="5569126"/>
              <a:ext cx="830232" cy="28303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9DDF5A9-534D-236B-065A-FDFBFCCE458D}"/>
              </a:ext>
            </a:extLst>
          </p:cNvPr>
          <p:cNvSpPr txBox="1"/>
          <p:nvPr/>
        </p:nvSpPr>
        <p:spPr>
          <a:xfrm>
            <a:off x="7309719" y="5165463"/>
            <a:ext cx="5018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ookman Old Style" panose="02050604050505020204" pitchFamily="18" charset="0"/>
              </a:rPr>
              <a:t>Minimum detectable AC field over a range of frequencies</a:t>
            </a:r>
            <a:endParaRPr lang="en-IN" i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780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AAB1-6DDD-882E-7A3A-E46CF3A4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50BC10-16B5-B0E2-346E-6C540EB1F54E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7B832A-E0E8-1535-727F-EA6171F5A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D65884-811E-9037-C7D3-BFE1E23BA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E2CCA1-90CD-FD7A-0D69-F9E9690F4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7D387F-8498-158D-1B54-6C760132139F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Berlin Sans FB" panose="020E0602020502020306" pitchFamily="34" charset="0"/>
              </a:rPr>
              <a:t>N. Savage, Nature, Vol 591, </a:t>
            </a:r>
            <a:r>
              <a:rPr lang="en-IN" sz="1400" dirty="0">
                <a:latin typeface="Berlin Sans FB" panose="020E0602020502020306" pitchFamily="34" charset="0"/>
              </a:rPr>
              <a:t>doi.org/10.1038/d41586-021-00743-3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67296-30A8-3968-C957-54C4F045A1BC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Sensitivity V/S Averaging Time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CEA594-3A7C-F9EE-F20B-27692E5FAA40}"/>
              </a:ext>
            </a:extLst>
          </p:cNvPr>
          <p:cNvGrpSpPr/>
          <p:nvPr/>
        </p:nvGrpSpPr>
        <p:grpSpPr>
          <a:xfrm>
            <a:off x="7263243" y="1611883"/>
            <a:ext cx="4676016" cy="3840108"/>
            <a:chOff x="7384889" y="1508946"/>
            <a:chExt cx="4676016" cy="384010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FB74BA-5F04-112E-D739-4563FE0E7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00129" y="1508946"/>
              <a:ext cx="4660776" cy="384010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85291E-8B77-61E0-D381-99196DB40FFA}"/>
                </a:ext>
              </a:extLst>
            </p:cNvPr>
            <p:cNvSpPr/>
            <p:nvPr/>
          </p:nvSpPr>
          <p:spPr>
            <a:xfrm>
              <a:off x="7384889" y="1668429"/>
              <a:ext cx="296192" cy="2721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641D9F2-FF6E-A083-C8A0-1B74097AEA00}"/>
              </a:ext>
            </a:extLst>
          </p:cNvPr>
          <p:cNvSpPr txBox="1"/>
          <p:nvPr/>
        </p:nvSpPr>
        <p:spPr>
          <a:xfrm>
            <a:off x="7248003" y="5451991"/>
            <a:ext cx="5018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ookman Old Style" panose="02050604050505020204" pitchFamily="18" charset="0"/>
              </a:rPr>
              <a:t>Minimum detectable AC field as a function of averaging time</a:t>
            </a:r>
            <a:endParaRPr lang="en-IN" i="1" dirty="0">
              <a:latin typeface="Bookman Old Style" panose="0205060405050502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9961DA-1C85-3189-FA25-582D18092DA5}"/>
              </a:ext>
            </a:extLst>
          </p:cNvPr>
          <p:cNvSpPr txBox="1"/>
          <p:nvPr/>
        </p:nvSpPr>
        <p:spPr>
          <a:xfrm>
            <a:off x="131096" y="822900"/>
            <a:ext cx="69846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Results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Input Parameters</a:t>
            </a:r>
            <a:r>
              <a:rPr lang="en-IN" dirty="0">
                <a:latin typeface="Bookman Old Style" panose="02050604050505020204" pitchFamily="18" charset="0"/>
              </a:rPr>
              <a:t>: AC magnetic field at </a:t>
            </a:r>
            <a:r>
              <a:rPr lang="el-GR" dirty="0">
                <a:highlight>
                  <a:srgbClr val="FFFF00"/>
                </a:highlight>
                <a:latin typeface="Bookman Old Style" panose="02050604050505020204" pitchFamily="18" charset="0"/>
              </a:rPr>
              <a:t>ν</a:t>
            </a:r>
            <a:r>
              <a:rPr lang="en-IN" dirty="0">
                <a:highlight>
                  <a:srgbClr val="FFFF00"/>
                </a:highlight>
                <a:latin typeface="Bookman Old Style" panose="02050604050505020204" pitchFamily="18" charset="0"/>
              </a:rPr>
              <a:t> = 3.2 kHz</a:t>
            </a:r>
            <a:r>
              <a:rPr lang="en-IN" dirty="0">
                <a:latin typeface="Bookman Old Style" panose="02050604050505020204" pitchFamily="18" charset="0"/>
              </a:rPr>
              <a:t> and </a:t>
            </a:r>
            <a:r>
              <a:rPr lang="en-IN" dirty="0">
                <a:highlight>
                  <a:srgbClr val="FFFF00"/>
                </a:highlight>
                <a:latin typeface="Bookman Old Style" panose="02050604050505020204" pitchFamily="18" charset="0"/>
              </a:rPr>
              <a:t>B</a:t>
            </a:r>
            <a:r>
              <a:rPr lang="en-IN" baseline="-25000" dirty="0">
                <a:highlight>
                  <a:srgbClr val="FFFF00"/>
                </a:highlight>
                <a:latin typeface="Bookman Old Style" panose="02050604050505020204" pitchFamily="18" charset="0"/>
              </a:rPr>
              <a:t>0</a:t>
            </a:r>
            <a:r>
              <a:rPr lang="en-IN" dirty="0">
                <a:highlight>
                  <a:srgbClr val="FFFF00"/>
                </a:highlight>
                <a:latin typeface="Bookman Old Style" panose="02050604050505020204" pitchFamily="18" charset="0"/>
              </a:rPr>
              <a:t> = 13G</a:t>
            </a:r>
            <a:r>
              <a:rPr lang="en-IN" dirty="0">
                <a:latin typeface="Bookman Old Style" panose="02050604050505020204" pitchFamily="18" charset="0"/>
              </a:rPr>
              <a:t>.</a:t>
            </a:r>
          </a:p>
          <a:p>
            <a:pPr lvl="1"/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Output</a:t>
            </a:r>
            <a:r>
              <a:rPr lang="en-IN" dirty="0">
                <a:latin typeface="Bookman Old Style" panose="02050604050505020204" pitchFamily="18" charset="0"/>
              </a:rPr>
              <a:t>: Minimum detectable AC magnetic field on logarithmic scale.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Observations</a:t>
            </a:r>
            <a:r>
              <a:rPr lang="en-IN" dirty="0">
                <a:latin typeface="Bookman Old Style" panose="02050604050505020204" pitchFamily="18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Sensitivity improves with averaging time.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After 100s of averaging, magnetic fields as small as few nanoteslas are resolvable.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6B9FEB-0AF1-6A68-53F3-172A865485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729" y="5081964"/>
            <a:ext cx="2187130" cy="4572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8DEB285-A00D-189C-1903-A1724272FD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489" y="5801764"/>
            <a:ext cx="2309060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44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38F2-D474-924F-743B-7585826B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FBF4AD-C621-F4CC-7D71-1E8386E256FB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2FE06F-8296-4BAA-F443-D09BBBC55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9CB14-6006-A301-254F-AF5A2C2CB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398B32-12F3-0A13-6C0D-86593B130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E0EB16-E969-B3CF-75ED-53FD09765BAC}"/>
              </a:ext>
            </a:extLst>
          </p:cNvPr>
          <p:cNvSpPr txBox="1"/>
          <p:nvPr/>
        </p:nvSpPr>
        <p:spPr>
          <a:xfrm>
            <a:off x="1773298" y="6003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Growing Diamonds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F46365-AD41-EC5A-B10E-F4F05E175093}"/>
              </a:ext>
            </a:extLst>
          </p:cNvPr>
          <p:cNvSpPr txBox="1"/>
          <p:nvPr/>
        </p:nvSpPr>
        <p:spPr>
          <a:xfrm>
            <a:off x="131095" y="1622528"/>
            <a:ext cx="693402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1</a:t>
            </a:r>
            <a:r>
              <a:rPr lang="en-IN" sz="32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. Laying Down Layers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A mixture of methane, hydrogen and nitrogen gas is superheated (2000°C) using MW to form plasma.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Carbon atoms from methane as well as occasional nitrogen atom, settle out of plasma onto a heated seed layer.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Hydrogen acts as a catalyst and modulates the process.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98268-18B6-632B-88A4-ABCD3E4F2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5437" y="716447"/>
            <a:ext cx="3006620" cy="57166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83E454-6A0F-E25B-A4E7-D92F7DD426BC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Berlin Sans FB" panose="020E0602020502020306" pitchFamily="34" charset="0"/>
              </a:rPr>
              <a:t>N. Savage, Nature, Vol 591, </a:t>
            </a:r>
            <a:r>
              <a:rPr lang="en-IN" sz="1400" dirty="0">
                <a:latin typeface="Berlin Sans FB" panose="020E0602020502020306" pitchFamily="34" charset="0"/>
              </a:rPr>
              <a:t>doi.org/10.1038/d41586-021-00743-3</a:t>
            </a:r>
          </a:p>
        </p:txBody>
      </p:sp>
    </p:spTree>
    <p:extLst>
      <p:ext uri="{BB962C8B-B14F-4D97-AF65-F5344CB8AC3E}">
        <p14:creationId xmlns:p14="http://schemas.microsoft.com/office/powerpoint/2010/main" val="519101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FE4C-2751-EC7B-0695-4AB573EA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A71B6E-92DB-8997-2724-E55A5DB79619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A1F0DF-C6E4-AEF0-A2C3-5156630F2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36D11F-4221-5CE2-CA7B-47BBF238B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9A5C1B-491D-AE09-843A-3086248B4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56C3C7-3260-698D-5F55-05C6D4CDB7F5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Growing Diamonds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D7010D-723C-EBD5-C948-BB3862284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092" y="1281619"/>
            <a:ext cx="3992904" cy="21940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433FA6-380F-D042-8FA1-D28B2F35A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7092" y="3869108"/>
            <a:ext cx="3992904" cy="24164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64AFF8-2A79-D8A9-08BF-FB7060B97774}"/>
              </a:ext>
            </a:extLst>
          </p:cNvPr>
          <p:cNvSpPr txBox="1"/>
          <p:nvPr/>
        </p:nvSpPr>
        <p:spPr>
          <a:xfrm>
            <a:off x="131095" y="787278"/>
            <a:ext cx="693402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2</a:t>
            </a:r>
            <a:r>
              <a:rPr lang="en-IN" sz="32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. Bombardment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 diamond film is hit with an high energy electron beam.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It kicks some carbon atoms out of the crystal lattice to create empty spaces called vacancies.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These vacancies are distributed randomly in the crystal lattice.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53072-64C9-C6A0-4D3F-0162936867D8}"/>
              </a:ext>
            </a:extLst>
          </p:cNvPr>
          <p:cNvSpPr txBox="1"/>
          <p:nvPr/>
        </p:nvSpPr>
        <p:spPr>
          <a:xfrm>
            <a:off x="113727" y="3942770"/>
            <a:ext cx="69340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70C0"/>
                </a:solidFill>
                <a:latin typeface="Berlin Sans FB" panose="020E0602020502020306" pitchFamily="34" charset="0"/>
              </a:rPr>
              <a:t>3</a:t>
            </a:r>
            <a:r>
              <a:rPr lang="en-IN" sz="3200" b="1" dirty="0">
                <a:solidFill>
                  <a:srgbClr val="0070C0"/>
                </a:solidFill>
                <a:latin typeface="Berlin Sans FB" panose="020E0602020502020306" pitchFamily="34" charset="0"/>
              </a:rPr>
              <a:t>. Annealing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Heating the diamond around 800° energizes the atoms causing the vacancies to move around.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Many vacancies settle next to nitrogen atoms and form NV centres.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5321A-A55B-12F5-6634-D28EA367C39A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Berlin Sans FB" panose="020E0602020502020306" pitchFamily="34" charset="0"/>
              </a:rPr>
              <a:t>N. Savage, Nature, Vol 591, </a:t>
            </a:r>
            <a:r>
              <a:rPr lang="en-IN" sz="1400" dirty="0">
                <a:latin typeface="Berlin Sans FB" panose="020E0602020502020306" pitchFamily="34" charset="0"/>
              </a:rPr>
              <a:t>doi.org/10.1038/d41586-021-00743-3</a:t>
            </a:r>
          </a:p>
        </p:txBody>
      </p:sp>
    </p:spTree>
    <p:extLst>
      <p:ext uri="{BB962C8B-B14F-4D97-AF65-F5344CB8AC3E}">
        <p14:creationId xmlns:p14="http://schemas.microsoft.com/office/powerpoint/2010/main" val="3850135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B25A-A4F9-9855-18D1-79440D9F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1FD52E-E9DA-FEC3-121E-65E14DE701B0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34F667-C4B2-58FE-11B3-9F8EDB5AD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C0B976-D777-F8C2-A4A1-7B27D1F44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E34FF8-4592-EE8C-8223-EBF011A9D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B725D2-9BD6-57D2-EE20-572C7AF6E28A}"/>
              </a:ext>
            </a:extLst>
          </p:cNvPr>
          <p:cNvSpPr txBox="1"/>
          <p:nvPr/>
        </p:nvSpPr>
        <p:spPr>
          <a:xfrm>
            <a:off x="1773298" y="13498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Growing Diamonds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C8F61-DA48-F484-0411-5C28D8FE32F6}"/>
              </a:ext>
            </a:extLst>
          </p:cNvPr>
          <p:cNvSpPr txBox="1"/>
          <p:nvPr/>
        </p:nvSpPr>
        <p:spPr>
          <a:xfrm>
            <a:off x="131095" y="6523393"/>
            <a:ext cx="1192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Berlin Sans FB" panose="020E0602020502020306" pitchFamily="34" charset="0"/>
              </a:rPr>
              <a:t>N. Savage, Nature, Vol 591, </a:t>
            </a:r>
            <a:r>
              <a:rPr lang="en-IN" sz="1400" dirty="0">
                <a:latin typeface="Berlin Sans FB" panose="020E0602020502020306" pitchFamily="34" charset="0"/>
              </a:rPr>
              <a:t>doi.org/10.1038/d41586-021-00743-3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683F38-2D15-BF2B-470F-A6537D53B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468" y="1753109"/>
            <a:ext cx="3845095" cy="3906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5905B-7C01-D247-DA4B-A72A455519D1}"/>
              </a:ext>
            </a:extLst>
          </p:cNvPr>
          <p:cNvSpPr txBox="1"/>
          <p:nvPr/>
        </p:nvSpPr>
        <p:spPr>
          <a:xfrm>
            <a:off x="131095" y="1464436"/>
            <a:ext cx="693402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4</a:t>
            </a:r>
            <a:r>
              <a:rPr lang="en-IN" sz="32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. Centres of Excellence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 nitrogen atoms, vacancy and the neighbouring carbon atoms together form an “artificial atom”.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This centre of excellence has its own quantum property known as spin.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Spin can be pictured as a set of magnets with North and South poles.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The arrangement of these magnets provides the spin state.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43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6D10B-F73D-2E67-8016-50D2932BD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BA0F77-453D-6F1F-3A3F-8A75FFD8931C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2B74E-071F-559E-6668-92AACB427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1FCB8-281C-72D7-01BB-07197699D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0B72A8-65D6-DF5F-9403-A07A73860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BB5AA6-F817-03F0-9792-0559EFECD0EE}"/>
              </a:ext>
            </a:extLst>
          </p:cNvPr>
          <p:cNvSpPr txBox="1"/>
          <p:nvPr/>
        </p:nvSpPr>
        <p:spPr>
          <a:xfrm>
            <a:off x="1773298" y="6003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Magnetic Sensing In Diamond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03D80A-DE0E-46E3-C9B5-E3974E67B6D3}"/>
              </a:ext>
            </a:extLst>
          </p:cNvPr>
          <p:cNvGrpSpPr/>
          <p:nvPr/>
        </p:nvGrpSpPr>
        <p:grpSpPr>
          <a:xfrm>
            <a:off x="131095" y="822900"/>
            <a:ext cx="11321391" cy="5940088"/>
            <a:chOff x="131095" y="822900"/>
            <a:chExt cx="11321391" cy="594008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B52B45E-EF98-C3AC-8DE1-78792DF801A4}"/>
                </a:ext>
              </a:extLst>
            </p:cNvPr>
            <p:cNvSpPr txBox="1"/>
            <p:nvPr/>
          </p:nvSpPr>
          <p:spPr>
            <a:xfrm>
              <a:off x="131095" y="822900"/>
              <a:ext cx="11321391" cy="5940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800" b="1" dirty="0">
                  <a:solidFill>
                    <a:srgbClr val="C00000"/>
                  </a:solidFill>
                  <a:latin typeface="Berlin Sans FB" panose="020E0602020502020306" pitchFamily="34" charset="0"/>
                </a:rPr>
                <a:t>Experimental Setup</a:t>
              </a:r>
            </a:p>
            <a:p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Diamond Sample</a:t>
              </a:r>
              <a:r>
                <a:rPr lang="en-IN" dirty="0">
                  <a:latin typeface="Bookman Old Style" panose="02050604050505020204" pitchFamily="18" charset="0"/>
                </a:rPr>
                <a:t>: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Company: Sumitomo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Fabrication technique: HPHT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Nitrogen conc. : 100 ppm or 1.76 x 10</a:t>
              </a:r>
              <a:r>
                <a:rPr lang="en-IN" baseline="30000" dirty="0">
                  <a:latin typeface="Bookman Old Style" panose="02050604050505020204" pitchFamily="18" charset="0"/>
                </a:rPr>
                <a:t>15 </a:t>
              </a:r>
              <a:r>
                <a:rPr lang="en-IN" dirty="0">
                  <a:latin typeface="Bookman Old Style" panose="02050604050505020204" pitchFamily="18" charset="0"/>
                </a:rPr>
                <a:t>cm</a:t>
              </a:r>
              <a:r>
                <a:rPr lang="en-IN" baseline="30000" dirty="0">
                  <a:latin typeface="Bookman Old Style" panose="02050604050505020204" pitchFamily="18" charset="0"/>
                </a:rPr>
                <a:t>-3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Size: 1.4 x 1.4 x 1 mm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Electron Irradiation</a:t>
              </a:r>
              <a:r>
                <a:rPr lang="en-IN" dirty="0">
                  <a:latin typeface="Bookman Old Style" panose="02050604050505020204" pitchFamily="18" charset="0"/>
                </a:rPr>
                <a:t>: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Device: High energy e- accelerator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Energy: 10 MeV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Diamond was water cooled in a copper tube to avoid vacancy-carbon recombination above 150°C.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After that diamond was sealed in quartz tube and annealed at 850°C.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Helmholtz Coils</a:t>
              </a:r>
              <a:r>
                <a:rPr lang="en-IN" dirty="0">
                  <a:latin typeface="Bookman Old Style" panose="02050604050505020204" pitchFamily="18" charset="0"/>
                </a:rPr>
                <a:t>: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A pair of Helmholtz coils was manufactured to provide static magnetic field to split the degenerate levels.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dirty="0">
                <a:latin typeface="Bookman Old Style" panose="02050604050505020204" pitchFamily="18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9470DE-081B-9305-A950-62398F243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67631" y="5854206"/>
              <a:ext cx="480102" cy="259102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D844A3-A668-1449-9201-0DF2FEAA9830}"/>
              </a:ext>
            </a:extLst>
          </p:cNvPr>
          <p:cNvSpPr txBox="1"/>
          <p:nvPr/>
        </p:nvSpPr>
        <p:spPr>
          <a:xfrm>
            <a:off x="2648638" y="6552418"/>
            <a:ext cx="7206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Filiang</a:t>
            </a:r>
            <a:r>
              <a:rPr lang="en-IN" sz="1400" dirty="0">
                <a:latin typeface="Berlin Sans FB" panose="020E0602020502020306" pitchFamily="34" charset="0"/>
              </a:rPr>
              <a:t> Mu et al., Sensor Review (2017) Volume 37, Number 4 | doi:10.1108/SR-09-2016-0163</a:t>
            </a:r>
            <a:endParaRPr lang="en-IN" sz="11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44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E51A-96A7-A1CB-B60F-7B05189BC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8B2338-B1C1-B3FF-D56C-D18E3696E795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05048F-B9BC-D897-1507-D6863A9BF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00E9B-31A0-82C1-966D-3FE2B9796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4649C4-8C58-8217-BCBE-F68A80D59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B2E1DF-5D1D-FF04-DB96-A34929FAADAE}"/>
              </a:ext>
            </a:extLst>
          </p:cNvPr>
          <p:cNvSpPr txBox="1"/>
          <p:nvPr/>
        </p:nvSpPr>
        <p:spPr>
          <a:xfrm>
            <a:off x="1773298" y="6003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Magnetic Sensing In Diamond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5F8CAC-460A-4E4F-6D25-E404658F2274}"/>
              </a:ext>
            </a:extLst>
          </p:cNvPr>
          <p:cNvSpPr txBox="1"/>
          <p:nvPr/>
        </p:nvSpPr>
        <p:spPr>
          <a:xfrm>
            <a:off x="131094" y="723257"/>
            <a:ext cx="716911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C00000"/>
                </a:solidFill>
                <a:latin typeface="Berlin Sans FB" panose="020E0602020502020306" pitchFamily="34" charset="0"/>
              </a:rPr>
              <a:t>Experimental Setup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Laser (532 nm)</a:t>
            </a:r>
            <a:r>
              <a:rPr lang="en-IN" dirty="0">
                <a:latin typeface="Bookman Old Style" panose="02050604050505020204" pitchFamily="18" charset="0"/>
              </a:rPr>
              <a:t>: Optical pump for green light.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AOM (Acousto-Optic Modulator)</a:t>
            </a:r>
            <a:r>
              <a:rPr lang="en-IN" dirty="0">
                <a:latin typeface="Bookman Old Style" panose="02050604050505020204" pitchFamily="18" charset="0"/>
              </a:rPr>
              <a:t>: Gating the laser to create pulses.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DM (</a:t>
            </a:r>
            <a:r>
              <a:rPr lang="en-IN" b="1" u="sng" dirty="0" err="1">
                <a:latin typeface="Bookman Old Style" panose="02050604050505020204" pitchFamily="18" charset="0"/>
              </a:rPr>
              <a:t>Dichoric</a:t>
            </a:r>
            <a:r>
              <a:rPr lang="en-IN" b="1" u="sng" dirty="0">
                <a:latin typeface="Bookman Old Style" panose="02050604050505020204" pitchFamily="18" charset="0"/>
              </a:rPr>
              <a:t> Mirror):</a:t>
            </a:r>
            <a:r>
              <a:rPr lang="en-IN" dirty="0">
                <a:latin typeface="Bookman Old Style" panose="02050604050505020204" pitchFamily="18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Reflects green light to sample.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Transmits red fluorescence to detector.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RM (Reflective Mirror)</a:t>
            </a:r>
            <a:r>
              <a:rPr lang="en-IN" dirty="0">
                <a:latin typeface="Bookman Old Style" panose="02050604050505020204" pitchFamily="18" charset="0"/>
              </a:rPr>
              <a:t>: To steer the beam.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OBJ (Objective)</a:t>
            </a:r>
            <a:r>
              <a:rPr lang="en-IN" dirty="0">
                <a:latin typeface="Bookman Old Style" panose="02050604050505020204" pitchFamily="18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Focuses green laser onto the diamond sample.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Bookman Old Style" panose="02050604050505020204" pitchFamily="18" charset="0"/>
              </a:rPr>
              <a:t>Collects emitted red fluorescence.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5396B-E4BA-4668-D20D-5DECE69C8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997" y="1801386"/>
            <a:ext cx="5685013" cy="21490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28AEAF-B9DB-5DE3-F615-4BFA45A01913}"/>
              </a:ext>
            </a:extLst>
          </p:cNvPr>
          <p:cNvSpPr txBox="1"/>
          <p:nvPr/>
        </p:nvSpPr>
        <p:spPr>
          <a:xfrm>
            <a:off x="6591304" y="4232768"/>
            <a:ext cx="57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ookman Old Style" panose="02050604050505020204" pitchFamily="18" charset="0"/>
              </a:rPr>
              <a:t>Confocal ODMR setup</a:t>
            </a:r>
            <a:endParaRPr lang="en-IN" i="1" dirty="0"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1402D-8D85-94F7-1B1A-015A8299F36B}"/>
              </a:ext>
            </a:extLst>
          </p:cNvPr>
          <p:cNvSpPr txBox="1"/>
          <p:nvPr/>
        </p:nvSpPr>
        <p:spPr>
          <a:xfrm>
            <a:off x="163406" y="5004376"/>
            <a:ext cx="84674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PD (Photodetector)</a:t>
            </a:r>
            <a:r>
              <a:rPr lang="en-IN" dirty="0">
                <a:latin typeface="Bookman Old Style" panose="02050604050505020204" pitchFamily="18" charset="0"/>
              </a:rPr>
              <a:t>: Detects red photoluminescence signal.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Antenna</a:t>
            </a:r>
            <a:r>
              <a:rPr lang="en-IN" dirty="0">
                <a:latin typeface="Bookman Old Style" panose="02050604050505020204" pitchFamily="18" charset="0"/>
              </a:rPr>
              <a:t>: 20 um copper wire to deliver Microwaves.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 dirty="0">
                <a:latin typeface="Bookman Old Style" panose="02050604050505020204" pitchFamily="18" charset="0"/>
              </a:rPr>
              <a:t>PD (Photodetector)</a:t>
            </a:r>
            <a:r>
              <a:rPr lang="en-IN" dirty="0">
                <a:latin typeface="Bookman Old Style" panose="02050604050505020204" pitchFamily="18" charset="0"/>
              </a:rPr>
              <a:t>: Detects red photoluminescence signal.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u="sng">
                <a:latin typeface="Bookman Old Style" panose="02050604050505020204" pitchFamily="18" charset="0"/>
              </a:rPr>
              <a:t>Long Pass Filter</a:t>
            </a:r>
            <a:r>
              <a:rPr lang="en-IN" dirty="0">
                <a:latin typeface="Bookman Old Style" panose="02050604050505020204" pitchFamily="18" charset="0"/>
              </a:rPr>
              <a:t>: Allows only red fluorescence to pass through it.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38A11-696A-C42A-FCC2-008D69D10275}"/>
              </a:ext>
            </a:extLst>
          </p:cNvPr>
          <p:cNvSpPr txBox="1"/>
          <p:nvPr/>
        </p:nvSpPr>
        <p:spPr>
          <a:xfrm>
            <a:off x="2555336" y="6552418"/>
            <a:ext cx="7206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Filiang</a:t>
            </a:r>
            <a:r>
              <a:rPr lang="en-IN" sz="1400" dirty="0">
                <a:latin typeface="Berlin Sans FB" panose="020E0602020502020306" pitchFamily="34" charset="0"/>
              </a:rPr>
              <a:t> Mu et al., Sensor Review (2017) Volume 37, Number 4 | doi:10.1108/SR-09-2016-0163</a:t>
            </a:r>
            <a:endParaRPr lang="en-IN" sz="11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888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A30E-D72D-BB4E-0723-011CDA72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C0A9EE-DE7B-61A8-B456-28279E9161AB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DB59E-75F7-B9C2-01C0-320F2394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646173-7E39-599A-EF15-10846E449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D528F4-247E-4888-59F5-71F68C2F74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CFB0F2-3328-61C1-A971-A8BDABA6C6D0}"/>
              </a:ext>
            </a:extLst>
          </p:cNvPr>
          <p:cNvSpPr txBox="1"/>
          <p:nvPr/>
        </p:nvSpPr>
        <p:spPr>
          <a:xfrm>
            <a:off x="2769941" y="6552418"/>
            <a:ext cx="7206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Filiang</a:t>
            </a:r>
            <a:r>
              <a:rPr lang="en-IN" sz="1400" dirty="0">
                <a:latin typeface="Berlin Sans FB" panose="020E0602020502020306" pitchFamily="34" charset="0"/>
              </a:rPr>
              <a:t> Mu et al., Sensor Review (2017) Volume 37, Number 4 | doi:10.1108/SR-09-2016-0163</a:t>
            </a:r>
            <a:endParaRPr lang="en-IN" sz="1100" dirty="0">
              <a:latin typeface="Berlin Sans FB" panose="020E06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55E10-5646-702D-38B1-350E7885B9BB}"/>
              </a:ext>
            </a:extLst>
          </p:cNvPr>
          <p:cNvSpPr txBox="1"/>
          <p:nvPr/>
        </p:nvSpPr>
        <p:spPr>
          <a:xfrm>
            <a:off x="1773298" y="135466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Spectral Analysis Of NV- Centre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4C78E1-227D-5498-46D4-A3322446B4D9}"/>
              </a:ext>
            </a:extLst>
          </p:cNvPr>
          <p:cNvSpPr/>
          <p:nvPr/>
        </p:nvSpPr>
        <p:spPr>
          <a:xfrm>
            <a:off x="6935949" y="1841027"/>
            <a:ext cx="411391" cy="34496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CDC78E-C060-9997-C803-E24C82612621}"/>
              </a:ext>
            </a:extLst>
          </p:cNvPr>
          <p:cNvSpPr txBox="1"/>
          <p:nvPr/>
        </p:nvSpPr>
        <p:spPr>
          <a:xfrm>
            <a:off x="140474" y="946367"/>
            <a:ext cx="7206865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Four different diamond samples were irradiated with electrons at an energy dose of 10 MeV for time :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Diamond 4 = 0 hour</a:t>
            </a:r>
          </a:p>
          <a:p>
            <a:r>
              <a:rPr lang="en-IN" dirty="0">
                <a:solidFill>
                  <a:srgbClr val="0070C0"/>
                </a:solidFill>
                <a:latin typeface="Bookman Old Style" panose="02050604050505020204" pitchFamily="18" charset="0"/>
              </a:rPr>
              <a:t>Diamond 3 = 1 hour</a:t>
            </a:r>
          </a:p>
          <a:p>
            <a:r>
              <a:rPr lang="en-IN" dirty="0">
                <a:solidFill>
                  <a:srgbClr val="00B050"/>
                </a:solidFill>
                <a:latin typeface="Bookman Old Style" panose="02050604050505020204" pitchFamily="18" charset="0"/>
              </a:rPr>
              <a:t>Diamond 2 = 2 hour</a:t>
            </a:r>
          </a:p>
          <a:p>
            <a:r>
              <a:rPr lang="en-IN" dirty="0">
                <a:solidFill>
                  <a:srgbClr val="FF0000"/>
                </a:solidFill>
                <a:latin typeface="Bookman Old Style" panose="02050604050505020204" pitchFamily="18" charset="0"/>
              </a:rPr>
              <a:t>Diamond 1 = 3 hour</a:t>
            </a:r>
          </a:p>
          <a:p>
            <a:endParaRPr lang="en-IN" sz="3200" b="1" dirty="0">
              <a:solidFill>
                <a:srgbClr val="008000"/>
              </a:solidFill>
              <a:latin typeface="Berlin Sans FB" panose="020E0602020502020306" pitchFamily="34" charset="0"/>
            </a:endParaRPr>
          </a:p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Berlin Sans FB" panose="020E0602020502020306" pitchFamily="34" charset="0"/>
              </a:rPr>
              <a:t>Before Annealing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A stable sharp peak at 552 nm across all the samples as the overall </a:t>
            </a:r>
            <a:r>
              <a:rPr lang="en-IN" b="1" dirty="0">
                <a:latin typeface="Bookman Old Style" panose="02050604050505020204" pitchFamily="18" charset="0"/>
              </a:rPr>
              <a:t>carbon count </a:t>
            </a:r>
            <a:r>
              <a:rPr lang="en-IN" dirty="0">
                <a:latin typeface="Bookman Old Style" panose="02050604050505020204" pitchFamily="18" charset="0"/>
              </a:rPr>
              <a:t>in the diamond remains constant.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Some carbon atoms are physically knocked off from their normal positions due to electron irradiation.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Bookman Old Style" panose="02050604050505020204" pitchFamily="18" charset="0"/>
              </a:rPr>
              <a:t>So another peak at 524 nm indicates these </a:t>
            </a:r>
            <a:r>
              <a:rPr lang="en-IN" b="1" dirty="0">
                <a:latin typeface="Bookman Old Style" panose="02050604050505020204" pitchFamily="18" charset="0"/>
              </a:rPr>
              <a:t>carbon impurities</a:t>
            </a:r>
            <a:r>
              <a:rPr lang="en-IN" dirty="0">
                <a:latin typeface="Bookman Old Style" panose="02050604050505020204" pitchFamily="18" charset="0"/>
              </a:rPr>
              <a:t> between the diamond lattices.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0778E0-02AD-838E-2FCA-3681E6FDF572}"/>
              </a:ext>
            </a:extLst>
          </p:cNvPr>
          <p:cNvGrpSpPr/>
          <p:nvPr/>
        </p:nvGrpSpPr>
        <p:grpSpPr>
          <a:xfrm>
            <a:off x="6655892" y="1214554"/>
            <a:ext cx="5684366" cy="4624086"/>
            <a:chOff x="6655892" y="1214554"/>
            <a:chExt cx="5684366" cy="462408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839A4A-7495-6BD5-E9FF-582A4EA0AFA3}"/>
                </a:ext>
              </a:extLst>
            </p:cNvPr>
            <p:cNvSpPr txBox="1"/>
            <p:nvPr/>
          </p:nvSpPr>
          <p:spPr>
            <a:xfrm>
              <a:off x="7219770" y="5192309"/>
              <a:ext cx="5120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atin typeface="Bookman Old Style" panose="02050604050505020204" pitchFamily="18" charset="0"/>
                </a:rPr>
                <a:t>Room Temperature fluorescence spectrum </a:t>
              </a:r>
            </a:p>
            <a:p>
              <a:pPr algn="ctr"/>
              <a:r>
                <a:rPr lang="en-US" i="1" dirty="0">
                  <a:latin typeface="Bookman Old Style" panose="02050604050505020204" pitchFamily="18" charset="0"/>
                </a:rPr>
                <a:t>of different diamond samples</a:t>
              </a:r>
              <a:endParaRPr lang="en-IN" i="1" dirty="0">
                <a:latin typeface="Bookman Old Style" panose="02050604050505020204" pitchFamily="18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758FFB-2478-9780-F6C6-75A9D8EED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144" r="1345" b="8574"/>
            <a:stretch>
              <a:fillRect/>
            </a:stretch>
          </p:blipFill>
          <p:spPr>
            <a:xfrm>
              <a:off x="7172633" y="1214554"/>
              <a:ext cx="4997243" cy="343751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2F0D348-A8EE-312C-E925-82A782D5DB62}"/>
                </a:ext>
              </a:extLst>
            </p:cNvPr>
            <p:cNvSpPr txBox="1"/>
            <p:nvPr/>
          </p:nvSpPr>
          <p:spPr>
            <a:xfrm>
              <a:off x="6655892" y="1387803"/>
              <a:ext cx="461665" cy="2308324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dirty="0"/>
                <a:t>Intensity (arb. Units)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3F615C7-90C5-17DE-0FFB-392F06791484}"/>
                </a:ext>
              </a:extLst>
            </p:cNvPr>
            <p:cNvSpPr txBox="1"/>
            <p:nvPr/>
          </p:nvSpPr>
          <p:spPr>
            <a:xfrm>
              <a:off x="8142297" y="4696713"/>
              <a:ext cx="35076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Wavelength (nm)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458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160F-7D41-66E9-C40B-BA0D2ED2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4CEE2E-E92E-F093-62DC-68452AEB01BB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CB3C79-592A-365B-A311-6606B06C5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D68FB3-9536-3DC5-E2E8-9C51E2340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34485F-D2ED-021B-A170-B993A3536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909974-EE55-7726-8BBC-2C1D45B7ECFC}"/>
              </a:ext>
            </a:extLst>
          </p:cNvPr>
          <p:cNvSpPr txBox="1"/>
          <p:nvPr/>
        </p:nvSpPr>
        <p:spPr>
          <a:xfrm>
            <a:off x="1773298" y="6003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F Atarian System Extended" panose="00000400000000000000" pitchFamily="2" charset="0"/>
              </a:rPr>
              <a:t>Spectral Analysis Of NV- Centre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851305D-282E-1A9F-6C58-7EF051B0862E}"/>
              </a:ext>
            </a:extLst>
          </p:cNvPr>
          <p:cNvSpPr/>
          <p:nvPr/>
        </p:nvSpPr>
        <p:spPr>
          <a:xfrm>
            <a:off x="6935949" y="1841027"/>
            <a:ext cx="411391" cy="34496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ECD524-C71A-04CE-FEFE-5C084B9FAB92}"/>
              </a:ext>
            </a:extLst>
          </p:cNvPr>
          <p:cNvSpPr txBox="1"/>
          <p:nvPr/>
        </p:nvSpPr>
        <p:spPr>
          <a:xfrm>
            <a:off x="116343" y="813733"/>
            <a:ext cx="741648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Berlin Sans FB" panose="020E0602020502020306" pitchFamily="34" charset="0"/>
              </a:rPr>
              <a:t>After Annealing (850° C)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The spectra is dominated by NV</a:t>
            </a:r>
            <a:r>
              <a:rPr lang="en-IN" sz="1600" baseline="30000" dirty="0">
                <a:latin typeface="Bookman Old Style" panose="02050604050505020204" pitchFamily="18" charset="0"/>
              </a:rPr>
              <a:t>- </a:t>
            </a:r>
            <a:r>
              <a:rPr lang="en-IN" sz="1600" dirty="0">
                <a:latin typeface="Bookman Old Style" panose="02050604050505020204" pitchFamily="18" charset="0"/>
              </a:rPr>
              <a:t>Zero Phonon Lines (ZPLs) located at 638 nm.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Zero Phonon Line: </a:t>
            </a:r>
            <a:r>
              <a:rPr lang="en-IN" sz="1600" dirty="0">
                <a:latin typeface="Bookman Old Style" panose="02050604050505020204" pitchFamily="18" charset="0"/>
              </a:rPr>
              <a:t>Photon is emitted without losing any energy to surrounding diamond crystal lattice.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The peak has a line width of roughly 1.5 nm </a:t>
            </a:r>
            <a:r>
              <a:rPr lang="en-IN" sz="1600" b="1" dirty="0">
                <a:latin typeface="Bookman Old Style" panose="02050604050505020204" pitchFamily="18" charset="0"/>
              </a:rPr>
              <a:t>Full Width at Half Maximum (FWHM).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Peak increases progressively with longer electron irradiation time.</a:t>
            </a:r>
          </a:p>
          <a:p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Bookman Old Style" panose="02050604050505020204" pitchFamily="18" charset="0"/>
              </a:rPr>
              <a:t>Higher dose period of electrons successfully increases the conc. of NV- centres in the diamond.</a:t>
            </a: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2467C3-709B-64D7-068E-AF8DDEACB2E9}"/>
              </a:ext>
            </a:extLst>
          </p:cNvPr>
          <p:cNvGrpSpPr/>
          <p:nvPr/>
        </p:nvGrpSpPr>
        <p:grpSpPr>
          <a:xfrm>
            <a:off x="7301620" y="1257187"/>
            <a:ext cx="5542893" cy="4117116"/>
            <a:chOff x="7154318" y="1192559"/>
            <a:chExt cx="5735915" cy="418174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D36DA0-48AC-EDF1-F008-142FA06890B5}"/>
                </a:ext>
              </a:extLst>
            </p:cNvPr>
            <p:cNvSpPr txBox="1"/>
            <p:nvPr/>
          </p:nvSpPr>
          <p:spPr>
            <a:xfrm>
              <a:off x="7154318" y="4727972"/>
              <a:ext cx="57359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atin typeface="Bookman Old Style" panose="02050604050505020204" pitchFamily="18" charset="0"/>
                </a:rPr>
                <a:t>Fluorescence spectrum of </a:t>
              </a:r>
            </a:p>
            <a:p>
              <a:pPr algn="ctr"/>
              <a:r>
                <a:rPr lang="en-US" i="1" dirty="0">
                  <a:latin typeface="Bookman Old Style" panose="02050604050505020204" pitchFamily="18" charset="0"/>
                </a:rPr>
                <a:t>different diamond samples at 850° C</a:t>
              </a:r>
              <a:endParaRPr lang="en-IN" i="1" dirty="0">
                <a:latin typeface="Bookman Old Style" panose="02050604050505020204" pitchFamily="18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C885B76-2084-345A-5339-05BB5BDC7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13900" y="1192559"/>
              <a:ext cx="4527979" cy="312699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E86E9D8-F35D-A674-0B94-1F74E6DD6BAE}"/>
                </a:ext>
              </a:extLst>
            </p:cNvPr>
            <p:cNvSpPr txBox="1"/>
            <p:nvPr/>
          </p:nvSpPr>
          <p:spPr>
            <a:xfrm>
              <a:off x="7251027" y="1226688"/>
              <a:ext cx="461665" cy="2308324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dirty="0"/>
                <a:t>Intensity (arb. Units)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F5E7DB-5110-EE6E-F8B0-724A51B44946}"/>
                </a:ext>
              </a:extLst>
            </p:cNvPr>
            <p:cNvSpPr txBox="1"/>
            <p:nvPr/>
          </p:nvSpPr>
          <p:spPr>
            <a:xfrm>
              <a:off x="8423907" y="4295012"/>
              <a:ext cx="35076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Wavelength (nm)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8C23212-2AA0-664D-C69F-FE1DB66217F3}"/>
              </a:ext>
            </a:extLst>
          </p:cNvPr>
          <p:cNvSpPr txBox="1"/>
          <p:nvPr/>
        </p:nvSpPr>
        <p:spPr>
          <a:xfrm>
            <a:off x="9248621" y="5441380"/>
            <a:ext cx="20698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Diamond 4 = 0 hour</a:t>
            </a:r>
          </a:p>
          <a:p>
            <a:r>
              <a:rPr lang="en-IN" sz="1400" dirty="0">
                <a:solidFill>
                  <a:srgbClr val="0070C0"/>
                </a:solidFill>
                <a:latin typeface="Bookman Old Style" panose="02050604050505020204" pitchFamily="18" charset="0"/>
              </a:rPr>
              <a:t>Diamond 3 = 1 hour</a:t>
            </a:r>
          </a:p>
          <a:p>
            <a:r>
              <a:rPr lang="en-IN" sz="1400" dirty="0">
                <a:solidFill>
                  <a:srgbClr val="00B050"/>
                </a:solidFill>
                <a:latin typeface="Bookman Old Style" panose="02050604050505020204" pitchFamily="18" charset="0"/>
              </a:rPr>
              <a:t>Diamond 2 = 2 hour</a:t>
            </a:r>
          </a:p>
          <a:p>
            <a:r>
              <a:rPr lang="en-IN" sz="1400" dirty="0">
                <a:solidFill>
                  <a:srgbClr val="FF0000"/>
                </a:solidFill>
                <a:latin typeface="Bookman Old Style" panose="02050604050505020204" pitchFamily="18" charset="0"/>
              </a:rPr>
              <a:t>Diamond 1 = 3 hour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AE3847-A15E-8730-E239-5A1D511F2D61}"/>
              </a:ext>
            </a:extLst>
          </p:cNvPr>
          <p:cNvSpPr txBox="1"/>
          <p:nvPr/>
        </p:nvSpPr>
        <p:spPr>
          <a:xfrm>
            <a:off x="279386" y="5228452"/>
            <a:ext cx="72732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FWHM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: Frequency or wavelength width where the intensity drops to 50%</a:t>
            </a:r>
          </a:p>
          <a:p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Photon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 = Packet of light energy</a:t>
            </a:r>
          </a:p>
          <a:p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Phonon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Bookman Old Style" panose="02050604050505020204" pitchFamily="18" charset="0"/>
              </a:rPr>
              <a:t> = Packet of vibrational energy (heat or sound)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1DB51-9D21-A664-CEC0-B386D92865CD}"/>
              </a:ext>
            </a:extLst>
          </p:cNvPr>
          <p:cNvSpPr txBox="1"/>
          <p:nvPr/>
        </p:nvSpPr>
        <p:spPr>
          <a:xfrm>
            <a:off x="2769941" y="6552418"/>
            <a:ext cx="7206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Filiang</a:t>
            </a:r>
            <a:r>
              <a:rPr lang="en-IN" sz="1400" dirty="0">
                <a:latin typeface="Berlin Sans FB" panose="020E0602020502020306" pitchFamily="34" charset="0"/>
              </a:rPr>
              <a:t> Mu et al., Sensor Review (2017) Volume 37, Number 4 | doi:10.1108/SR-09-2016-0163</a:t>
            </a:r>
            <a:endParaRPr lang="en-IN" sz="11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64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AAC96-9146-8FFA-1A67-529BB122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3B6E89-626E-68D1-1988-83FB80F4D8ED}"/>
              </a:ext>
            </a:extLst>
          </p:cNvPr>
          <p:cNvSpPr/>
          <p:nvPr/>
        </p:nvSpPr>
        <p:spPr>
          <a:xfrm>
            <a:off x="-9832" y="6547784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475922-2F53-1E06-11E3-1F512875F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856EEA-75B7-80D8-02D8-E743740BE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F4F842-AF81-089D-5BC8-230D96189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1D482B-B40B-6E68-DED3-39BF45E2F4BD}"/>
              </a:ext>
            </a:extLst>
          </p:cNvPr>
          <p:cNvSpPr txBox="1"/>
          <p:nvPr/>
        </p:nvSpPr>
        <p:spPr>
          <a:xfrm>
            <a:off x="1773298" y="6003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Electronic Spin Resonance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BA8A3F-5777-D055-DD5D-769C41CFFF53}"/>
              </a:ext>
            </a:extLst>
          </p:cNvPr>
          <p:cNvSpPr txBox="1"/>
          <p:nvPr/>
        </p:nvSpPr>
        <p:spPr>
          <a:xfrm>
            <a:off x="131095" y="794903"/>
            <a:ext cx="769332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8000"/>
                </a:solidFill>
                <a:latin typeface="Berlin Sans FB" panose="020E0602020502020306" pitchFamily="34" charset="0"/>
              </a:rPr>
              <a:t>Results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Inputs</a:t>
            </a:r>
            <a:r>
              <a:rPr lang="en-IN" sz="1600" dirty="0">
                <a:latin typeface="Bookman Old Style" panose="02050604050505020204" pitchFamily="18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The MW power was set from 5 to 19 dBm.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MW frequency was scanned from 2.765 GHz to 2.975 GHz in steps of 1 </a:t>
            </a:r>
            <a:r>
              <a:rPr lang="en-IN" sz="1600" dirty="0" err="1">
                <a:latin typeface="Bookman Old Style" panose="02050604050505020204" pitchFamily="18" charset="0"/>
              </a:rPr>
              <a:t>MHz.</a:t>
            </a:r>
            <a:endParaRPr lang="en-IN" sz="16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Output</a:t>
            </a:r>
            <a:r>
              <a:rPr lang="en-IN" sz="1600" dirty="0">
                <a:latin typeface="Bookman Old Style" panose="02050604050505020204" pitchFamily="18" charset="0"/>
              </a:rPr>
              <a:t>: Normalized fluorescence.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u="sng" dirty="0">
                <a:latin typeface="Bookman Old Style" panose="02050604050505020204" pitchFamily="18" charset="0"/>
              </a:rPr>
              <a:t>Observations</a:t>
            </a:r>
            <a:r>
              <a:rPr lang="en-IN" sz="1600" dirty="0">
                <a:latin typeface="Bookman Old Style" panose="02050604050505020204" pitchFamily="18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sz="1600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At zero MW frequency no change in fluorescence is observed.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The fluorescence has 2 dips at 2.868 GHz and 2.872 GHz due to mechanical strain.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Increasing the MW power increases the depth of dips as it drives more NV spins.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Increasing the MW power also broadens the BW of dip as the spin transition saturates.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Bookman Old Style" panose="02050604050505020204" pitchFamily="18" charset="0"/>
              </a:rPr>
              <a:t>The 3.5 MHz splitting remains constant as it is due to strain and is independent of MW power.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1AED3-55A7-79ED-D0DF-0E8137719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552" y="1544651"/>
            <a:ext cx="4495354" cy="34207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427B07-29E7-13D5-C4CC-1822E00DDA10}"/>
              </a:ext>
            </a:extLst>
          </p:cNvPr>
          <p:cNvSpPr txBox="1"/>
          <p:nvPr/>
        </p:nvSpPr>
        <p:spPr>
          <a:xfrm>
            <a:off x="7670545" y="5066566"/>
            <a:ext cx="48138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i="1" dirty="0">
                <a:latin typeface="Bookman Old Style" panose="02050604050505020204" pitchFamily="18" charset="0"/>
              </a:rPr>
              <a:t>Relative change in fluorescence with variation of MW frequency and power</a:t>
            </a:r>
            <a:endParaRPr lang="en-IN" sz="1700" i="1" dirty="0"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8D8E7-EED1-F70F-8D04-8E52F660E3EC}"/>
              </a:ext>
            </a:extLst>
          </p:cNvPr>
          <p:cNvSpPr txBox="1"/>
          <p:nvPr/>
        </p:nvSpPr>
        <p:spPr>
          <a:xfrm>
            <a:off x="2704624" y="6561749"/>
            <a:ext cx="7206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Filiang</a:t>
            </a:r>
            <a:r>
              <a:rPr lang="en-IN" sz="1400" dirty="0">
                <a:latin typeface="Berlin Sans FB" panose="020E0602020502020306" pitchFamily="34" charset="0"/>
              </a:rPr>
              <a:t> Mu et al., Sensor Review (2017) Volume 37, Number 4 | doi:10.1108/SR-09-2016-0163</a:t>
            </a:r>
            <a:endParaRPr lang="en-IN" sz="11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483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C001A-3CF1-777C-CE61-3A257087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27DC39-F3E0-B688-8F1D-9395C236E505}"/>
              </a:ext>
            </a:extLst>
          </p:cNvPr>
          <p:cNvSpPr/>
          <p:nvPr/>
        </p:nvSpPr>
        <p:spPr>
          <a:xfrm>
            <a:off x="-9832" y="6538453"/>
            <a:ext cx="12201832" cy="319548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798089-7994-B9F8-BB05-811843A3F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3" t="26938" r="2133" b="23653"/>
          <a:stretch>
            <a:fillRect/>
          </a:stretch>
        </p:blipFill>
        <p:spPr>
          <a:xfrm>
            <a:off x="10160" y="0"/>
            <a:ext cx="1763138" cy="883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89C8C7-2EE8-5184-5A31-89C5CC352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0" t="7127" r="21162" b="8952"/>
          <a:stretch>
            <a:fillRect/>
          </a:stretch>
        </p:blipFill>
        <p:spPr>
          <a:xfrm>
            <a:off x="10035798" y="74462"/>
            <a:ext cx="946834" cy="10397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13EAC7-87D1-39BE-BEE3-3537C70EE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0116" y="9832"/>
            <a:ext cx="1039760" cy="1039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FEC3FB-72A9-A064-D5C2-D1E8A569ACBF}"/>
              </a:ext>
            </a:extLst>
          </p:cNvPr>
          <p:cNvSpPr txBox="1"/>
          <p:nvPr/>
        </p:nvSpPr>
        <p:spPr>
          <a:xfrm>
            <a:off x="7327987" y="5411430"/>
            <a:ext cx="5018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ookman Old Style" panose="02050604050505020204" pitchFamily="18" charset="0"/>
              </a:rPr>
              <a:t>Relative change in fluorescence with variation of MW frequency and static MF</a:t>
            </a:r>
            <a:endParaRPr lang="en-IN" i="1" dirty="0"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F2E7B-38A2-DD73-B985-1A010EDF3501}"/>
              </a:ext>
            </a:extLst>
          </p:cNvPr>
          <p:cNvSpPr txBox="1"/>
          <p:nvPr/>
        </p:nvSpPr>
        <p:spPr>
          <a:xfrm>
            <a:off x="2713955" y="6552418"/>
            <a:ext cx="7206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 err="1">
                <a:latin typeface="Berlin Sans FB" panose="020E0602020502020306" pitchFamily="34" charset="0"/>
              </a:rPr>
              <a:t>Filiang</a:t>
            </a:r>
            <a:r>
              <a:rPr lang="en-IN" sz="1400" dirty="0">
                <a:latin typeface="Berlin Sans FB" panose="020E0602020502020306" pitchFamily="34" charset="0"/>
              </a:rPr>
              <a:t> Mu et al., Sensor Review (2017) Volume 37, Number 4 | doi:10.1108/SR-09-2016-0163</a:t>
            </a:r>
            <a:endParaRPr lang="en-IN" sz="1100" dirty="0">
              <a:latin typeface="Berlin Sans FB" panose="020E0602020502020306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BC3C8D-B163-2A8B-20FA-0D3FB1CB132E}"/>
              </a:ext>
            </a:extLst>
          </p:cNvPr>
          <p:cNvGrpSpPr/>
          <p:nvPr/>
        </p:nvGrpSpPr>
        <p:grpSpPr>
          <a:xfrm>
            <a:off x="131095" y="1196126"/>
            <a:ext cx="7316507" cy="5663089"/>
            <a:chOff x="131095" y="822900"/>
            <a:chExt cx="7316507" cy="566308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DCA167-ECEA-2A68-28BA-E1061F3B8EDB}"/>
                </a:ext>
              </a:extLst>
            </p:cNvPr>
            <p:cNvSpPr txBox="1"/>
            <p:nvPr/>
          </p:nvSpPr>
          <p:spPr>
            <a:xfrm>
              <a:off x="131095" y="822900"/>
              <a:ext cx="7316507" cy="5663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800" b="1" dirty="0">
                  <a:solidFill>
                    <a:srgbClr val="008000"/>
                  </a:solidFill>
                  <a:latin typeface="Berlin Sans FB" panose="020E0602020502020306" pitchFamily="34" charset="0"/>
                </a:rPr>
                <a:t>Results </a:t>
              </a:r>
            </a:p>
            <a:p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Inputs</a:t>
              </a:r>
              <a:r>
                <a:rPr lang="en-IN" dirty="0">
                  <a:latin typeface="Bookman Old Style" panose="02050604050505020204" pitchFamily="18" charset="0"/>
                </a:rPr>
                <a:t>: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The MW power was fixed at 19 dBm.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MW frequency was scanned from 2.8 GHz to 2.96 GHz.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Static MF was varied in steps of 5 G from 0 G to 30 G.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Output</a:t>
              </a:r>
              <a:r>
                <a:rPr lang="en-IN" dirty="0">
                  <a:latin typeface="Bookman Old Style" panose="02050604050505020204" pitchFamily="18" charset="0"/>
                </a:rPr>
                <a:t>: Normalized fluorescence.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IN" b="1" u="sng" dirty="0">
                  <a:latin typeface="Bookman Old Style" panose="02050604050505020204" pitchFamily="18" charset="0"/>
                </a:rPr>
                <a:t>Observations</a:t>
              </a:r>
              <a:r>
                <a:rPr lang="en-IN" dirty="0">
                  <a:latin typeface="Bookman Old Style" panose="02050604050505020204" pitchFamily="18" charset="0"/>
                </a:rPr>
                <a:t>: 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Strain can be modelled as transverse EF.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As the MF increases, the two resonance dips split apart due to Zeeman effect.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The transition            shifts higher in frequency.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IN" dirty="0">
                  <a:latin typeface="Bookman Old Style" panose="02050604050505020204" pitchFamily="18" charset="0"/>
                </a:rPr>
                <a:t>The transition            shifts lower in frequency.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endParaRPr lang="en-IN" dirty="0">
                <a:latin typeface="Bookman Old Style" panose="02050604050505020204" pitchFamily="18" charset="0"/>
              </a:endParaRP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dirty="0">
                <a:latin typeface="Bookman Old Style" panose="02050604050505020204" pitchFamily="18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6126BB8-1E51-420B-985B-37C593C76409}"/>
                </a:ext>
              </a:extLst>
            </p:cNvPr>
            <p:cNvGrpSpPr/>
            <p:nvPr/>
          </p:nvGrpSpPr>
          <p:grpSpPr>
            <a:xfrm>
              <a:off x="2601767" y="5089922"/>
              <a:ext cx="800169" cy="443783"/>
              <a:chOff x="2601767" y="5089922"/>
              <a:chExt cx="800169" cy="443783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BCC0B2E-FA26-4FCC-B328-B8DFF0A714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2515" y="5089922"/>
                <a:ext cx="731583" cy="175275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07D5E9C-C9FB-6D57-C20D-04143EC2C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01767" y="5350809"/>
                <a:ext cx="800169" cy="182896"/>
              </a:xfrm>
              <a:prstGeom prst="rect">
                <a:avLst/>
              </a:prstGeom>
            </p:spPr>
          </p:pic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E354E7-89AA-E856-5063-1FDEF61944F4}"/>
              </a:ext>
            </a:extLst>
          </p:cNvPr>
          <p:cNvGrpSpPr/>
          <p:nvPr/>
        </p:nvGrpSpPr>
        <p:grpSpPr>
          <a:xfrm>
            <a:off x="7534126" y="1379056"/>
            <a:ext cx="4547350" cy="3917004"/>
            <a:chOff x="7534126" y="1379056"/>
            <a:chExt cx="4547350" cy="3917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073842-33FA-BD99-EA5C-2FFA18271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48223" y="1379056"/>
              <a:ext cx="4333253" cy="391700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7DA29CB-2C69-1E95-ECB9-722A23AC9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34126" y="1431044"/>
              <a:ext cx="306274" cy="3459499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2DC0B9-DE32-B659-2E37-BAE42461C751}"/>
              </a:ext>
            </a:extLst>
          </p:cNvPr>
          <p:cNvSpPr txBox="1"/>
          <p:nvPr/>
        </p:nvSpPr>
        <p:spPr>
          <a:xfrm>
            <a:off x="1773298" y="60032"/>
            <a:ext cx="826249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700" b="1" dirty="0">
                <a:solidFill>
                  <a:srgbClr val="C00000"/>
                </a:solidFill>
                <a:latin typeface="SF Atarian System Extended" panose="00000400000000000000" pitchFamily="2" charset="0"/>
              </a:rPr>
              <a:t>Electronic Spin Resonance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60E852-438D-8F1D-D0E2-2DC4CDC8B8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8306" y="933886"/>
            <a:ext cx="3894697" cy="661720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F8F77B-0B3B-A8C6-F303-14A25398CC5A}"/>
              </a:ext>
            </a:extLst>
          </p:cNvPr>
          <p:cNvCxnSpPr/>
          <p:nvPr/>
        </p:nvCxnSpPr>
        <p:spPr>
          <a:xfrm flipV="1">
            <a:off x="6699380" y="1431044"/>
            <a:ext cx="0" cy="54704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B985D12-42F8-3220-1C38-26A8BEF95E7E}"/>
              </a:ext>
            </a:extLst>
          </p:cNvPr>
          <p:cNvSpPr txBox="1"/>
          <p:nvPr/>
        </p:nvSpPr>
        <p:spPr>
          <a:xfrm>
            <a:off x="6331939" y="1968760"/>
            <a:ext cx="125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Berlin Sans FB" panose="020E0602020502020306" pitchFamily="34" charset="0"/>
              </a:rPr>
              <a:t>Strain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093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3525</TotalTime>
  <Words>2887</Words>
  <Application>Microsoft Office PowerPoint</Application>
  <PresentationFormat>Widescreen</PresentationFormat>
  <Paragraphs>404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AdvOT483a8203</vt:lpstr>
      <vt:lpstr>Arial</vt:lpstr>
      <vt:lpstr>Arial Rounded MT Bold</vt:lpstr>
      <vt:lpstr>Berlin Sans FB</vt:lpstr>
      <vt:lpstr>Bookman Old Style</vt:lpstr>
      <vt:lpstr>Calibri</vt:lpstr>
      <vt:lpstr>Calibri Light</vt:lpstr>
      <vt:lpstr>SF Atarian System Extended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Sujoy Basak</dc:creator>
  <cp:lastModifiedBy>Sujoy Basak</cp:lastModifiedBy>
  <cp:revision>135</cp:revision>
  <dcterms:created xsi:type="dcterms:W3CDTF">2026-05-19T07:53:11Z</dcterms:created>
  <dcterms:modified xsi:type="dcterms:W3CDTF">2026-06-14T14:40:05Z</dcterms:modified>
</cp:coreProperties>
</file>