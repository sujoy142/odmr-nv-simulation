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68" r:id="rId3"/>
    <p:sldId id="269" r:id="rId4"/>
    <p:sldId id="282" r:id="rId5"/>
    <p:sldId id="270" r:id="rId6"/>
    <p:sldId id="288" r:id="rId7"/>
    <p:sldId id="271" r:id="rId8"/>
    <p:sldId id="272" r:id="rId9"/>
    <p:sldId id="281" r:id="rId10"/>
    <p:sldId id="300" r:id="rId11"/>
    <p:sldId id="301" r:id="rId12"/>
    <p:sldId id="283" r:id="rId13"/>
    <p:sldId id="291" r:id="rId14"/>
    <p:sldId id="289" r:id="rId15"/>
    <p:sldId id="284" r:id="rId16"/>
    <p:sldId id="290" r:id="rId17"/>
    <p:sldId id="292" r:id="rId18"/>
    <p:sldId id="299" r:id="rId19"/>
    <p:sldId id="293" r:id="rId20"/>
    <p:sldId id="295" r:id="rId21"/>
    <p:sldId id="294" r:id="rId22"/>
    <p:sldId id="273" r:id="rId23"/>
    <p:sldId id="275" r:id="rId24"/>
    <p:sldId id="276" r:id="rId25"/>
    <p:sldId id="277" r:id="rId26"/>
    <p:sldId id="278" r:id="rId27"/>
    <p:sldId id="296" r:id="rId28"/>
    <p:sldId id="279" r:id="rId29"/>
    <p:sldId id="297" r:id="rId30"/>
    <p:sldId id="280" r:id="rId31"/>
    <p:sldId id="29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8A0000"/>
    <a:srgbClr val="F1E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4452B9-66EC-4791-9E09-C0A27D65779F}" v="56" dt="2026-05-23T05:35:21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97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20:14:43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0 594 24575,'1'3'0,"0"-1"0,0 0 0,0 1 0,0-1 0,0 0 0,0 0 0,1 0 0,-1 1 0,1-1 0,0-1 0,-1 1 0,1 0 0,0 0 0,0-1 0,0 1 0,0-1 0,1 0 0,-1 1 0,0-1 0,0 0 0,5 1 0,53 18 0,-29-14 0,1-1 0,0-2 0,34-1 0,-31-2 0,1 2 0,38 8 0,7 1 0,0-3 0,163-5 0,-135-4 0,-84-1 0,-1-1 0,1-1 0,-1-1 0,0-1 0,-1-1 0,1-1 0,-1-1 0,34-19 0,-40 20 0,26-10 0,-31 13 0,0 1 0,-1-1 0,0-1 0,0 0 0,0 0 0,16-14 0,5-6 0,70-42 0,-65 46 0,64-51 0,-39 20 0,76-71 0,-122 108 0,-2-1 0,0 0 0,0-1 0,-2 0 0,0 0 0,10-24 0,-15 21-1365,-3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07:28:2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0 418 24575,'1'2'0,"-1"0"0,1-1 0,0 1 0,-1 0 0,1-1 0,0 1 0,0-1 0,0 1 0,0-1 0,1 0 0,-1 1 0,0-1 0,0 0 0,1 0 0,-1 0 0,1 0 0,-1 0 0,1 0 0,0 0 0,-1 0 0,4 0 0,37 13 0,-20-9 0,0-2 0,1-1 0,23-1 0,-21 0 0,0 0 0,28 6 0,4 1 0,0-3 0,114-3 0,-94-3 0,-59 0 0,-1-1 0,0-1 0,0 0 0,0-1 0,-1-1 0,1-1 0,-1-1 0,24-12 0,-28 13 0,19-7 0,-23 10 0,0 0 0,0 0 0,0-1 0,0-1 0,-1 1 0,12-10 0,4-4 0,49-30 0,-46 33 0,45-37 0,-27 14 0,53-49 0,-86 76 0,-1-1 0,0 0 0,-1 0 0,0-1 0,-1 0 0,8-17 0,-11 16-1365,-2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D2A0D-E772-4C56-AF9A-08B23ED63A2C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DAA01-367A-453F-9A8D-6124480EC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78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62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A03E-CF6F-C0A4-037C-0535030F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851E1-260E-B5F8-FA07-F983F3D1C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F2CA-FBAB-5B7F-EC7E-64E912E8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644CD-9AEF-4069-B567-78F0220594B0}" type="datetime1">
              <a:rPr lang="en-US" smtClean="0"/>
              <a:t>6/9/2026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17C2D-1609-429B-8974-491817ED7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A563F-400D-47D5-EAC2-FE9687F4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74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99F6-EE45-2833-C142-E0415CD77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2A5C5-CFB0-FB4F-AF70-4C6CEFE67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88F0B-4806-A9AC-636D-84C96E23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6F3D-1D45-4BC4-8277-959A725E11C5}" type="datetime1">
              <a:rPr lang="en-US" smtClean="0"/>
              <a:t>6/9/2026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FD947-8255-B620-0EF1-BBED6315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BB552-FF91-E8E1-1B6C-244EA5EE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93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7385-58F9-1A12-1775-D89A55E35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87EB8-93FD-1170-6249-ABB920189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C4A14-5448-BE75-B4DB-D72E229D1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9859A-B846-AA8A-A2E8-0EF2832E9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0655-9145-4184-AFF6-07BCC8FF0189}" type="datetime1">
              <a:rPr lang="en-US" smtClean="0"/>
              <a:t>6/9/2026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609D7-1179-50DA-6AC6-7E22900E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8B3E1-0553-2A53-57D5-B095ADB8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588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838A-C045-160A-D60E-A579ED1A4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70A33-D6E7-E531-F636-615E39DE4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886FB-18D8-3FC7-FD52-C85D1C7AE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E690B-E8E6-52ED-860A-07E403DDB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4B90A-EAAF-9B99-3CCB-8E275638F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A1DE6-1F3F-15DC-B2B0-2B331643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C600-AB4E-416E-A814-E45D3CFECF55}" type="datetime1">
              <a:rPr lang="en-US" smtClean="0"/>
              <a:t>6/9/2026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7A11A5-302E-61E1-83AE-EC4C4218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D13A0A-C47E-8ED5-9B88-C9CD1D7A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0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88F6-9DFC-84D8-FE3C-52BFADB40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366A2-FE85-9CDD-6B99-7EC8B121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A524-6032-4B9A-A557-8ECF495E5057}" type="datetime1">
              <a:rPr lang="en-US" smtClean="0"/>
              <a:t>6/9/2026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DA1BE7-9045-2434-BB37-B334D2E8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29D3A-2996-86BB-9782-1524DFFD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02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73091B-8BFC-B4F4-2DEE-EF8EE52C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8F4-FC4B-4E27-914E-822F0DD2991A}" type="datetime1">
              <a:rPr lang="en-US" smtClean="0"/>
              <a:t>6/9/2026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DEB50-E1B6-C235-11A2-12819033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12722-F72C-E246-9048-38A985EF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65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C5B4-FD30-92AC-35E8-6790AAE5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C3E5-5B29-73FC-4D30-55707D5A8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A2C4B-DBB1-8FA5-DB43-298FF0010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DF0D0-DD39-9803-F411-A1BD600A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845E-25AC-40FD-AF0E-8CD876F8E682}" type="datetime1">
              <a:rPr lang="en-US" smtClean="0"/>
              <a:t>6/9/2026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F27A5-FD1F-00C1-F2A3-63684D12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68400-8C66-2C8C-20CA-A537ECA2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64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1782-FD30-DACE-45A4-77BB55B7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BB2D0-23CD-CD8A-F3F3-A37875076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957B4-8040-A648-929F-8E7899348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5F5EB-FEF9-7213-D637-7C7B508E3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4DBC-5140-4A89-A0DE-917C537A7066}" type="datetime1">
              <a:rPr lang="en-US" smtClean="0"/>
              <a:t>6/9/2026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23DE0-5CFF-8F0D-E564-5DC33B07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DF83F-6A08-6B55-6CA4-2389BC34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61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F527-7CA1-62F9-06A2-A0721281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EBFB9-F71A-FADA-9D2E-EB84E1165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0914C-46D1-1200-D0DE-557D4B90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01CFA-8D60-4988-A298-7407980A4B4E}" type="datetime1">
              <a:rPr lang="en-US" smtClean="0"/>
              <a:t>6/9/2026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159A-A256-F65A-EB57-46E5C8AA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38041-301E-3BA9-CA4C-5613D910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63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CF510-CA0D-CB3C-7382-81F3946DE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9D006-3200-A07D-B5CE-D944BB003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7668E-3BE9-D717-5BCE-ABF793C7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BE3B-A320-4B22-95A7-EDDCA78D7AF0}" type="datetime1">
              <a:rPr lang="en-US" smtClean="0"/>
              <a:t>6/9/2026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7839A-7E6C-24B1-C991-E11545AA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A47B4-627B-36E9-0F55-A27A4012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7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24B5B-6FC2-2D27-DAB8-78C85493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CEF37-D74B-842C-8CB8-787288E73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0B71-6D8D-8A27-14F6-D9A81049A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2BC36-D39E-48B4-A9C6-94206D52840C}" type="datetime1">
              <a:rPr lang="en-US" smtClean="0"/>
              <a:t>6/9/2026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5EEB0-60E3-3757-8FC0-0664C488C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9B29E-0419-0340-13A5-DFB43D32F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65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12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1.jp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4.png"/><Relationship Id="rId9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41.png"/><Relationship Id="rId4" Type="http://schemas.openxmlformats.org/officeDocument/2006/relationships/image" Target="../media/image4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jpg"/><Relationship Id="rId7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.png"/><Relationship Id="rId7" Type="http://schemas.openxmlformats.org/officeDocument/2006/relationships/image" Target="../media/image55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4.png"/><Relationship Id="rId9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9.png"/><Relationship Id="rId7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580.png"/><Relationship Id="rId5" Type="http://schemas.openxmlformats.org/officeDocument/2006/relationships/image" Target="../media/image2.png"/><Relationship Id="rId10" Type="http://schemas.openxmlformats.org/officeDocument/2006/relationships/customXml" Target="../ink/ink1.xml"/><Relationship Id="rId4" Type="http://schemas.openxmlformats.org/officeDocument/2006/relationships/image" Target="../media/image1.jpg"/><Relationship Id="rId9" Type="http://schemas.openxmlformats.org/officeDocument/2006/relationships/image" Target="../media/image49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4.png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3" Type="http://schemas.openxmlformats.org/officeDocument/2006/relationships/image" Target="../media/image2.png"/><Relationship Id="rId7" Type="http://schemas.openxmlformats.org/officeDocument/2006/relationships/image" Target="../media/image67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00.png"/><Relationship Id="rId5" Type="http://schemas.openxmlformats.org/officeDocument/2006/relationships/image" Target="../media/image71.png"/><Relationship Id="rId10" Type="http://schemas.openxmlformats.org/officeDocument/2006/relationships/customXml" Target="../ink/ink2.xml"/><Relationship Id="rId4" Type="http://schemas.openxmlformats.org/officeDocument/2006/relationships/image" Target="../media/image4.png"/><Relationship Id="rId9" Type="http://schemas.openxmlformats.org/officeDocument/2006/relationships/image" Target="../media/image69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.png"/><Relationship Id="rId7" Type="http://schemas.openxmlformats.org/officeDocument/2006/relationships/image" Target="../media/image7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2.png"/><Relationship Id="rId7" Type="http://schemas.openxmlformats.org/officeDocument/2006/relationships/image" Target="../media/image7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4.png"/><Relationship Id="rId9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2.png"/><Relationship Id="rId7" Type="http://schemas.openxmlformats.org/officeDocument/2006/relationships/image" Target="../media/image8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79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2.png"/><Relationship Id="rId7" Type="http://schemas.openxmlformats.org/officeDocument/2006/relationships/image" Target="../media/image8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4.png"/><Relationship Id="rId9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9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7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98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9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172C68-B5EC-52E0-495A-3D331EBD40B8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3D594-B6C2-1CE5-EBAA-FB92691CF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6A20B6-0B81-D619-F081-52FFBB3E4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718301-9543-F286-8DAA-34440420BCCD}"/>
              </a:ext>
            </a:extLst>
          </p:cNvPr>
          <p:cNvSpPr txBox="1"/>
          <p:nvPr/>
        </p:nvSpPr>
        <p:spPr>
          <a:xfrm>
            <a:off x="-10524" y="1997839"/>
            <a:ext cx="78841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Spin Dynamics Simulation In NV Centre Diamond </a:t>
            </a:r>
            <a:endParaRPr lang="en-IN" sz="6600" b="1" dirty="0">
              <a:solidFill>
                <a:srgbClr val="C00000"/>
              </a:solidFill>
              <a:latin typeface="SF Atarian System Extended" panose="000004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1D6872-5B8F-4F74-A329-1555AB2E9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83" b="13538"/>
          <a:stretch>
            <a:fillRect/>
          </a:stretch>
        </p:blipFill>
        <p:spPr>
          <a:xfrm>
            <a:off x="7902743" y="2245360"/>
            <a:ext cx="4289258" cy="41845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4BC5F8-DFD3-7361-1D04-368E291D47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16FED7-0DD7-DE73-5FEF-E46FA10BD3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811" y="29709"/>
            <a:ext cx="31718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8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CC96-24F3-B1E5-50F4-936BEF52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E01CDA-020C-19D0-5A53-A6F33933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0BF966-0856-4C12-0869-6BF94965E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742EF8-A3DB-1002-3201-91BDD8602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AFC134-3599-EC92-5CD2-A369404DFBBD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Theoretical Background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088F4-1C34-D6BE-5E06-D70448E6CAD2}"/>
              </a:ext>
            </a:extLst>
          </p:cNvPr>
          <p:cNvSpPr txBox="1"/>
          <p:nvPr/>
        </p:nvSpPr>
        <p:spPr>
          <a:xfrm>
            <a:off x="62752" y="800222"/>
            <a:ext cx="929496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What is NV ensemble ?</a:t>
            </a:r>
          </a:p>
          <a:p>
            <a:r>
              <a:rPr lang="en-IN" dirty="0">
                <a:latin typeface="Book Antiqua" panose="02040602050305030304" pitchFamily="18" charset="0"/>
              </a:rPr>
              <a:t>Thousands or millions of NV centres clustered together in a crystal diamond lattice</a:t>
            </a:r>
            <a:r>
              <a:rPr lang="en-IN" dirty="0">
                <a:latin typeface="Berlin Sans FB" panose="020E0602020502020306" pitchFamily="34" charset="0"/>
              </a:rPr>
              <a:t>.</a:t>
            </a:r>
            <a:endParaRPr lang="en-IN" sz="3200" dirty="0">
              <a:latin typeface="Berlin Sans FB" panose="020E0602020502020306" pitchFamily="34" charset="0"/>
            </a:endParaRPr>
          </a:p>
          <a:p>
            <a:r>
              <a:rPr lang="en-IN" sz="3200" b="1" dirty="0">
                <a:solidFill>
                  <a:srgbClr val="00B050"/>
                </a:solidFill>
                <a:latin typeface="Berlin Sans FB" panose="020E0602020502020306" pitchFamily="34" charset="0"/>
              </a:rPr>
              <a:t>What is multipartite System ?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Multipartite System</a:t>
            </a:r>
            <a:r>
              <a:rPr lang="en-IN" sz="1600" dirty="0">
                <a:latin typeface="Bookman Old Style" panose="02050604050505020204" pitchFamily="18" charset="0"/>
              </a:rPr>
              <a:t>: multiple distinct components or parties.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For an NV Centre: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u="sng" dirty="0">
                <a:latin typeface="Bookman Old Style" panose="02050604050505020204" pitchFamily="18" charset="0"/>
              </a:rPr>
              <a:t>Party 1</a:t>
            </a:r>
            <a:r>
              <a:rPr lang="en-IN" sz="1600" dirty="0">
                <a:latin typeface="Bookman Old Style" panose="02050604050505020204" pitchFamily="18" charset="0"/>
              </a:rPr>
              <a:t>: electronic spin triplet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u="sng" dirty="0">
                <a:latin typeface="Bookman Old Style" panose="02050604050505020204" pitchFamily="18" charset="0"/>
              </a:rPr>
              <a:t>Party 2</a:t>
            </a:r>
            <a:r>
              <a:rPr lang="en-IN" sz="1600" dirty="0">
                <a:latin typeface="Bookman Old Style" panose="02050604050505020204" pitchFamily="18" charset="0"/>
              </a:rPr>
              <a:t>: nuclear spin of host </a:t>
            </a:r>
            <a:r>
              <a:rPr lang="en-IN" sz="1600" baseline="30000" dirty="0">
                <a:latin typeface="Bookman Old Style" panose="02050604050505020204" pitchFamily="18" charset="0"/>
              </a:rPr>
              <a:t>14</a:t>
            </a:r>
            <a:r>
              <a:rPr lang="en-IN" sz="1600" dirty="0">
                <a:latin typeface="Bookman Old Style" panose="02050604050505020204" pitchFamily="18" charset="0"/>
              </a:rPr>
              <a:t>N atom (I=1) or </a:t>
            </a:r>
            <a:r>
              <a:rPr lang="en-IN" sz="1600" baseline="30000" dirty="0">
                <a:latin typeface="Bookman Old Style" panose="02050604050505020204" pitchFamily="18" charset="0"/>
              </a:rPr>
              <a:t>15</a:t>
            </a:r>
            <a:r>
              <a:rPr lang="en-IN" sz="1600" dirty="0">
                <a:latin typeface="Bookman Old Style" panose="02050604050505020204" pitchFamily="18" charset="0"/>
              </a:rPr>
              <a:t>N atom (I=1/2)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u="sng" dirty="0">
                <a:latin typeface="Bookman Old Style" panose="02050604050505020204" pitchFamily="18" charset="0"/>
              </a:rPr>
              <a:t>Party 3</a:t>
            </a:r>
            <a:r>
              <a:rPr lang="en-IN" sz="1600" dirty="0">
                <a:latin typeface="Bookman Old Style" panose="02050604050505020204" pitchFamily="18" charset="0"/>
              </a:rPr>
              <a:t>: nuclear spins of nearby </a:t>
            </a:r>
            <a:r>
              <a:rPr lang="en-IN" sz="1600" baseline="30000" dirty="0">
                <a:latin typeface="Bookman Old Style" panose="02050604050505020204" pitchFamily="18" charset="0"/>
              </a:rPr>
              <a:t>13</a:t>
            </a:r>
            <a:r>
              <a:rPr lang="en-IN" sz="1600" dirty="0">
                <a:latin typeface="Bookman Old Style" panose="02050604050505020204" pitchFamily="18" charset="0"/>
              </a:rPr>
              <a:t>C atoms (I=1/2)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sz="1600" dirty="0">
              <a:latin typeface="Bookman Old Style" panose="02050604050505020204" pitchFamily="18" charset="0"/>
            </a:endParaRPr>
          </a:p>
          <a:p>
            <a:pPr lvl="1"/>
            <a:endParaRPr lang="en-IN" sz="1600" dirty="0">
              <a:latin typeface="Bookman Old Style" panose="02050604050505020204" pitchFamily="18" charset="0"/>
            </a:endParaRPr>
          </a:p>
          <a:p>
            <a:r>
              <a:rPr lang="en-IN" sz="3200" b="1" dirty="0">
                <a:solidFill>
                  <a:srgbClr val="7030A0"/>
                </a:solidFill>
                <a:latin typeface="Berlin Sans FB" panose="020E0602020502020306" pitchFamily="34" charset="0"/>
              </a:rPr>
              <a:t>Who do we use NV ensemble 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 Antiqua" panose="02040602050305030304" pitchFamily="18" charset="0"/>
              </a:rPr>
              <a:t>Detecting weak fields but over a larger area as compared to single NV centre.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 Antiqua" panose="02040602050305030304" pitchFamily="18" charset="0"/>
              </a:rPr>
              <a:t>Improved SNR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 Antiqua" panose="0204060205030503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Bookman Old Style" panose="02050604050505020204" pitchFamily="18" charset="0"/>
              </a:rPr>
              <a:t>N</a:t>
            </a:r>
            <a:r>
              <a:rPr lang="en-IN" dirty="0">
                <a:latin typeface="Bookman Old Style" panose="02050604050505020204" pitchFamily="18" charset="0"/>
              </a:rPr>
              <a:t> : Number of NV centres</a:t>
            </a:r>
            <a:endParaRPr lang="en-IN" b="1" dirty="0"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erlin Sans FB" panose="020E0602020502020306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</a:t>
            </a:r>
            <a:r>
              <a:rPr lang="en-IN" dirty="0">
                <a:latin typeface="Bookman Old Style" panose="02050604050505020204" pitchFamily="18" charset="0"/>
              </a:rPr>
              <a:t>: Minimum detectable field strength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A971E-5C20-BB82-C634-DE50EDE80545}"/>
              </a:ext>
            </a:extLst>
          </p:cNvPr>
          <p:cNvSpPr/>
          <p:nvPr/>
        </p:nvSpPr>
        <p:spPr>
          <a:xfrm>
            <a:off x="-9832" y="6594439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665F5D-B0DF-8398-5B43-4F8AE33DE040}"/>
              </a:ext>
            </a:extLst>
          </p:cNvPr>
          <p:cNvSpPr txBox="1"/>
          <p:nvPr/>
        </p:nvSpPr>
        <p:spPr>
          <a:xfrm>
            <a:off x="689546" y="6579379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Berlin Sans FB" panose="020E0602020502020306" pitchFamily="34" charset="0"/>
              </a:rPr>
              <a:t>Laura A. Volker et. al., </a:t>
            </a:r>
            <a:r>
              <a:rPr lang="en-US" sz="1400" dirty="0" err="1">
                <a:latin typeface="Berlin Sans FB" panose="020E0602020502020306" pitchFamily="34" charset="0"/>
              </a:rPr>
              <a:t>SimOS</a:t>
            </a:r>
            <a:r>
              <a:rPr lang="en-US" sz="1400" dirty="0">
                <a:latin typeface="Berlin Sans FB" panose="020E0602020502020306" pitchFamily="34" charset="0"/>
              </a:rPr>
              <a:t>: A Python Framework for Simulations of Optically Addressable Spins, </a:t>
            </a:r>
            <a:r>
              <a:rPr lang="fr-FR" sz="1400" dirty="0">
                <a:latin typeface="Berlin Sans FB" panose="020E0602020502020306" pitchFamily="34" charset="0"/>
              </a:rPr>
              <a:t>arXiv:2501.05922v1 [quant-ph] 10 Jan 2025</a:t>
            </a:r>
            <a:r>
              <a:rPr lang="en-US" sz="1400" dirty="0">
                <a:latin typeface="Berlin Sans FB" panose="020E0602020502020306" pitchFamily="34" charset="0"/>
              </a:rPr>
              <a:t>  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4D7765A-00AC-10DA-2929-D66FB5B63A2F}"/>
              </a:ext>
            </a:extLst>
          </p:cNvPr>
          <p:cNvGrpSpPr/>
          <p:nvPr/>
        </p:nvGrpSpPr>
        <p:grpSpPr>
          <a:xfrm>
            <a:off x="7547949" y="1179513"/>
            <a:ext cx="5735915" cy="5150879"/>
            <a:chOff x="7687911" y="1179513"/>
            <a:chExt cx="5735915" cy="515087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DFACDC-C9C7-2E2C-3DB1-94412712A34E}"/>
                </a:ext>
              </a:extLst>
            </p:cNvPr>
            <p:cNvSpPr txBox="1"/>
            <p:nvPr/>
          </p:nvSpPr>
          <p:spPr>
            <a:xfrm>
              <a:off x="7687911" y="5991838"/>
              <a:ext cx="57359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i="1" dirty="0">
                  <a:latin typeface="Bookman Old Style" panose="02050604050505020204" pitchFamily="18" charset="0"/>
                </a:rPr>
                <a:t>MF and EF direction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74EE25B-F068-C486-DC45-83CDDFB92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05203" y="3552527"/>
              <a:ext cx="2139400" cy="240475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DB8B5A-5064-4628-C245-8F99446EA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24075" y="1179513"/>
              <a:ext cx="2068351" cy="2207044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5D40A5E-0870-C901-C7FC-55DB5B2D7B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120" y="5228631"/>
            <a:ext cx="1447925" cy="602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5C61D9-13DE-3D72-A9C1-CE7CC8574E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2135" y="6043460"/>
            <a:ext cx="1463167" cy="4038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18B1F3-F6F2-F55C-D102-9A0EB4D2B8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589" r="58414" b="12638"/>
          <a:stretch>
            <a:fillRect/>
          </a:stretch>
        </p:blipFill>
        <p:spPr>
          <a:xfrm>
            <a:off x="429210" y="6053435"/>
            <a:ext cx="625147" cy="52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3273-47C6-813C-A0DF-512C2C4B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05C2A7-6B09-7D67-6FAE-A57233548FCF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A7AC65-B92E-A174-9A9C-92C935B6A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ED5D2F-5DD1-FBC1-C092-C81213FE4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1A7AC4-FAB2-8FB0-FAFD-C1518F5BE9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18EF2A-30CA-AE1E-3B5B-713B63FDC5C1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System Construction</a:t>
            </a:r>
            <a:endParaRPr lang="en-IN" sz="4000" b="1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B1529-D247-9026-D577-66BB3A0DB98A}"/>
              </a:ext>
            </a:extLst>
          </p:cNvPr>
          <p:cNvSpPr txBox="1"/>
          <p:nvPr/>
        </p:nvSpPr>
        <p:spPr>
          <a:xfrm>
            <a:off x="176982" y="898366"/>
            <a:ext cx="629846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Berlin Sans FB" panose="020E0602020502020306" pitchFamily="34" charset="0"/>
              </a:rPr>
              <a:t>What is Hilbert Space ?</a:t>
            </a: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Vector Space containing all physically allowable quantum states (state vectors) of a quantum system.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Mathematical operations: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u="sng" dirty="0">
                <a:latin typeface="Bookman Old Style" panose="02050604050505020204" pitchFamily="18" charset="0"/>
              </a:rPr>
              <a:t>Tensor Product</a:t>
            </a:r>
            <a:r>
              <a:rPr lang="en-IN" sz="1600" dirty="0">
                <a:latin typeface="Bookman Old Style" panose="02050604050505020204" pitchFamily="18" charset="0"/>
              </a:rPr>
              <a:t> as Lists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u="sng" dirty="0">
                <a:latin typeface="Bookman Old Style" panose="02050604050505020204" pitchFamily="18" charset="0"/>
              </a:rPr>
              <a:t>Direct Sum</a:t>
            </a:r>
            <a:r>
              <a:rPr lang="en-IN" sz="1600" dirty="0">
                <a:latin typeface="Bookman Old Style" panose="02050604050505020204" pitchFamily="18" charset="0"/>
              </a:rPr>
              <a:t> as Tuples</a:t>
            </a:r>
            <a:endParaRPr lang="en-IN" sz="3200" b="1" dirty="0">
              <a:solidFill>
                <a:srgbClr val="00B050"/>
              </a:solidFill>
              <a:latin typeface="Berlin Sans FB" panose="020E0602020502020306" pitchFamily="34" charset="0"/>
            </a:endParaRPr>
          </a:p>
          <a:p>
            <a:r>
              <a:rPr lang="en-IN" sz="3200" b="1" dirty="0">
                <a:solidFill>
                  <a:srgbClr val="00B050"/>
                </a:solidFill>
                <a:latin typeface="Berlin Sans FB" panose="020E0602020502020306" pitchFamily="34" charset="0"/>
              </a:rPr>
              <a:t>Tensor or Kronecker Product</a:t>
            </a:r>
          </a:p>
          <a:p>
            <a:r>
              <a:rPr lang="en-IN" b="1" dirty="0">
                <a:latin typeface="Bookman Old Style" panose="02050604050505020204" pitchFamily="18" charset="0"/>
              </a:rPr>
              <a:t>[Coupled Spin Pair]</a:t>
            </a:r>
          </a:p>
          <a:p>
            <a:endParaRPr lang="en-IN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First spin level : Colour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Second spin level : Shape</a:t>
            </a:r>
            <a:endParaRPr lang="en-IN" sz="1600" baseline="-250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Each state of H</a:t>
            </a:r>
            <a:r>
              <a:rPr lang="en-IN" sz="1600" baseline="-25000" dirty="0">
                <a:latin typeface="Bookman Old Style" panose="02050604050505020204" pitchFamily="18" charset="0"/>
              </a:rPr>
              <a:t>S</a:t>
            </a:r>
            <a:r>
              <a:rPr lang="en-IN" sz="1600" dirty="0">
                <a:latin typeface="Bookman Old Style" panose="02050604050505020204" pitchFamily="18" charset="0"/>
              </a:rPr>
              <a:t> coexists with each and every state of H</a:t>
            </a:r>
            <a:r>
              <a:rPr lang="en-IN" sz="1600" baseline="-25000" dirty="0">
                <a:latin typeface="Bookman Old Style" panose="02050604050505020204" pitchFamily="18" charset="0"/>
              </a:rPr>
              <a:t>I</a:t>
            </a:r>
            <a:endParaRPr lang="en-IN" sz="1600" dirty="0">
              <a:latin typeface="Bookman Old Style" panose="02050604050505020204" pitchFamily="18" charset="0"/>
            </a:endParaRPr>
          </a:p>
          <a:p>
            <a:r>
              <a:rPr lang="en-IN" sz="3200" b="1" dirty="0">
                <a:solidFill>
                  <a:srgbClr val="7030A0"/>
                </a:solidFill>
                <a:latin typeface="Berlin Sans FB" panose="020E0602020502020306" pitchFamily="34" charset="0"/>
              </a:rPr>
              <a:t>Direct Sum</a:t>
            </a:r>
          </a:p>
          <a:p>
            <a:r>
              <a:rPr lang="en-IN" b="1" dirty="0">
                <a:latin typeface="Bookman Old Style" panose="02050604050505020204" pitchFamily="18" charset="0"/>
              </a:rPr>
              <a:t>[Pair of electronic energy levels]</a:t>
            </a:r>
            <a:endParaRPr lang="en-IN" sz="3200" b="1" dirty="0">
              <a:solidFill>
                <a:srgbClr val="0070C0"/>
              </a:solidFill>
              <a:latin typeface="Berlin Sans FB" panose="020E0602020502020306" pitchFamily="34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Ground energy level : Colour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Excited energy level : Shape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Stacking of separate states in different energy levels.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268920-5D1F-A2A9-700C-41F6EDDC3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592" y="3633551"/>
            <a:ext cx="5787389" cy="18732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A0D196-84A8-03E1-9F1C-0E14F192C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271" y="1402716"/>
            <a:ext cx="5804067" cy="18963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68A4DD5-49D2-66F8-F643-6B4926BB8A72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Berlin Sans FB" panose="020E0602020502020306" pitchFamily="34" charset="0"/>
              </a:rPr>
              <a:t>Laura A. Volker et. al., </a:t>
            </a:r>
            <a:r>
              <a:rPr lang="en-US" sz="1400" dirty="0" err="1">
                <a:latin typeface="Berlin Sans FB" panose="020E0602020502020306" pitchFamily="34" charset="0"/>
              </a:rPr>
              <a:t>SimOS</a:t>
            </a:r>
            <a:r>
              <a:rPr lang="en-US" sz="1400" dirty="0">
                <a:latin typeface="Berlin Sans FB" panose="020E0602020502020306" pitchFamily="34" charset="0"/>
              </a:rPr>
              <a:t>: A Python Framework for Simulations of Optically Addressable Spins, </a:t>
            </a:r>
            <a:r>
              <a:rPr lang="fr-FR" sz="1400" dirty="0">
                <a:latin typeface="Berlin Sans FB" panose="020E0602020502020306" pitchFamily="34" charset="0"/>
              </a:rPr>
              <a:t>arXiv:2501.05922v1 [quant-ph] 10 Jan 2025</a:t>
            </a:r>
            <a:r>
              <a:rPr lang="en-US" sz="1400" dirty="0">
                <a:latin typeface="Berlin Sans FB" panose="020E0602020502020306" pitchFamily="34" charset="0"/>
              </a:rPr>
              <a:t>  </a:t>
            </a:r>
            <a:endParaRPr lang="en-IN" sz="14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086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4393A-329B-9F6E-1A9F-82C9E22F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181F15F-2B4E-B0D2-1899-5CC44CF5D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6381AE-23A5-74B4-8566-DA033BB4D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374042-1300-584E-662F-D36F71236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E73981-11BD-7C92-B34F-15AD0A7BABCF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Theoretical Background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7CFE79-5D94-D4AC-E7B0-815BC47EECED}"/>
              </a:ext>
            </a:extLst>
          </p:cNvPr>
          <p:cNvSpPr/>
          <p:nvPr/>
        </p:nvSpPr>
        <p:spPr>
          <a:xfrm>
            <a:off x="-501" y="6575777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1A0FB3-C430-B868-F8EF-F41A6DCF5D9D}"/>
              </a:ext>
            </a:extLst>
          </p:cNvPr>
          <p:cNvGrpSpPr/>
          <p:nvPr/>
        </p:nvGrpSpPr>
        <p:grpSpPr>
          <a:xfrm>
            <a:off x="249364" y="913527"/>
            <a:ext cx="6813910" cy="5816977"/>
            <a:chOff x="62752" y="800222"/>
            <a:chExt cx="6813910" cy="581697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5136DCA-B20F-9941-AE91-2F29DBB6D076}"/>
                </a:ext>
              </a:extLst>
            </p:cNvPr>
            <p:cNvSpPr txBox="1"/>
            <p:nvPr/>
          </p:nvSpPr>
          <p:spPr>
            <a:xfrm>
              <a:off x="62752" y="800222"/>
              <a:ext cx="6813910" cy="58169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b="1" dirty="0">
                  <a:solidFill>
                    <a:srgbClr val="008000"/>
                  </a:solidFill>
                  <a:latin typeface="Berlin Sans FB" panose="020E0602020502020306" pitchFamily="34" charset="0"/>
                </a:rPr>
                <a:t>What are Eigen States ?</a:t>
              </a:r>
            </a:p>
            <a:p>
              <a:r>
                <a:rPr lang="en-IN" b="1" u="sng" dirty="0">
                  <a:latin typeface="Book Antiqua" panose="02040602050305030304" pitchFamily="18" charset="0"/>
                </a:rPr>
                <a:t>Stable</a:t>
              </a:r>
              <a:r>
                <a:rPr lang="en-IN" dirty="0">
                  <a:latin typeface="Book Antiqua" panose="02040602050305030304" pitchFamily="18" charset="0"/>
                </a:rPr>
                <a:t> and naturally existing states under the given Hamiltonian.</a:t>
              </a:r>
              <a:endParaRPr lang="en-IN" dirty="0">
                <a:latin typeface="Berlin Sans FB" panose="020E0602020502020306" pitchFamily="34" charset="0"/>
              </a:endParaRPr>
            </a:p>
            <a:p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From Linear Algebra: </a:t>
              </a:r>
              <a:r>
                <a:rPr lang="en-IN" sz="1600" b="1" dirty="0">
                  <a:highlight>
                    <a:srgbClr val="FFFF00"/>
                  </a:highlight>
                  <a:latin typeface="Bookman Old Style" panose="02050604050505020204" pitchFamily="18" charset="0"/>
                </a:rPr>
                <a:t>Mv = </a:t>
              </a:r>
              <a:r>
                <a:rPr lang="el-GR" sz="1600" b="1" dirty="0">
                  <a:highlight>
                    <a:srgbClr val="FFFF00"/>
                  </a:highlight>
                  <a:latin typeface="Bookman Old Style" panose="02050604050505020204" pitchFamily="18" charset="0"/>
                </a:rPr>
                <a:t>λ</a:t>
              </a:r>
              <a:r>
                <a:rPr lang="en-IN" sz="1600" b="1" dirty="0">
                  <a:highlight>
                    <a:srgbClr val="FFFF00"/>
                  </a:highlight>
                  <a:latin typeface="Bookman Old Style" panose="02050604050505020204" pitchFamily="18" charset="0"/>
                </a:rPr>
                <a:t>v 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sz="1600" b="1" dirty="0">
                  <a:latin typeface="Bookman Old Style" panose="02050604050505020204" pitchFamily="18" charset="0"/>
                </a:rPr>
                <a:t>M</a:t>
              </a:r>
              <a:r>
                <a:rPr lang="en-IN" sz="1600" dirty="0">
                  <a:latin typeface="Bookman Old Style" panose="02050604050505020204" pitchFamily="18" charset="0"/>
                </a:rPr>
                <a:t> : Matrix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sz="1600" b="1" dirty="0">
                  <a:latin typeface="Bookman Old Style" panose="02050604050505020204" pitchFamily="18" charset="0"/>
                </a:rPr>
                <a:t>v</a:t>
              </a:r>
              <a:r>
                <a:rPr lang="en-IN" sz="1600" dirty="0">
                  <a:latin typeface="Bookman Old Style" panose="02050604050505020204" pitchFamily="18" charset="0"/>
                </a:rPr>
                <a:t>  : Eigen vector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l-GR" sz="1600" b="1" dirty="0">
                  <a:latin typeface="Bookman Old Style" panose="02050604050505020204" pitchFamily="18" charset="0"/>
                </a:rPr>
                <a:t>λ</a:t>
              </a:r>
              <a:r>
                <a:rPr lang="el-GR" sz="1600" dirty="0">
                  <a:latin typeface="Bookman Old Style" panose="02050604050505020204" pitchFamily="18" charset="0"/>
                </a:rPr>
                <a:t> </a:t>
              </a:r>
              <a:r>
                <a:rPr lang="en-IN" sz="1600" dirty="0">
                  <a:latin typeface="Bookman Old Style" panose="02050604050505020204" pitchFamily="18" charset="0"/>
                </a:rPr>
                <a:t> : Eigen value    </a:t>
              </a:r>
            </a:p>
            <a:p>
              <a:endParaRPr lang="en-IN" sz="1600" dirty="0">
                <a:latin typeface="Bookman Old Style" panose="02050604050505020204" pitchFamily="18" charset="0"/>
              </a:endParaRPr>
            </a:p>
            <a:p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In the context of NV centre:</a:t>
              </a:r>
            </a:p>
            <a:p>
              <a:r>
                <a:rPr lang="en-IN" sz="1600" dirty="0">
                  <a:latin typeface="Bookman Old Style" panose="02050604050505020204" pitchFamily="18" charset="0"/>
                </a:rPr>
                <a:t>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sz="1600" dirty="0">
                  <a:latin typeface="Bookman Old Style" panose="02050604050505020204" pitchFamily="18" charset="0"/>
                </a:rPr>
                <a:t>    : Hamiltonian matrix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sz="1600" dirty="0">
                  <a:latin typeface="Bookman Old Style" panose="02050604050505020204" pitchFamily="18" charset="0"/>
                </a:rPr>
                <a:t>    : Eigenstate or Spin State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sz="1600" dirty="0">
                  <a:latin typeface="Bookman Old Style" panose="02050604050505020204" pitchFamily="18" charset="0"/>
                </a:rPr>
                <a:t>    : Energy eigenvalue</a:t>
              </a:r>
            </a:p>
            <a:p>
              <a:pPr lvl="1"/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Eigen value same                        Energy of state same</a:t>
              </a:r>
            </a:p>
            <a:p>
              <a:r>
                <a:rPr lang="en-IN" sz="1600" dirty="0">
                  <a:latin typeface="Bookman Old Style" panose="02050604050505020204" pitchFamily="18" charset="0"/>
                </a:rPr>
                <a:t>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endParaRPr lang="en-IN" dirty="0">
                <a:latin typeface="Bookman Old Style" panose="020506040505050202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5EB150E-A82D-E03E-ED82-0167A05EC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6550"/>
            <a:stretch>
              <a:fillRect/>
            </a:stretch>
          </p:blipFill>
          <p:spPr>
            <a:xfrm>
              <a:off x="3322871" y="3231479"/>
              <a:ext cx="1482395" cy="360807"/>
            </a:xfrm>
            <a:prstGeom prst="rect">
              <a:avLst/>
            </a:prstGeom>
            <a:ln w="28575">
              <a:solidFill>
                <a:srgbClr val="8A0000"/>
              </a:solidFill>
            </a:ln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EE94DF-AC24-A533-9287-D8928A465882}"/>
                </a:ext>
              </a:extLst>
            </p:cNvPr>
            <p:cNvGrpSpPr/>
            <p:nvPr/>
          </p:nvGrpSpPr>
          <p:grpSpPr>
            <a:xfrm>
              <a:off x="799423" y="3748796"/>
              <a:ext cx="369936" cy="799018"/>
              <a:chOff x="808753" y="3515723"/>
              <a:chExt cx="369936" cy="79901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1B3EFA2-C3E3-BC52-44CC-B2887F1477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125" r="79518" b="16550"/>
              <a:stretch>
                <a:fillRect/>
              </a:stretch>
            </p:blipFill>
            <p:spPr>
              <a:xfrm>
                <a:off x="808753" y="3515723"/>
                <a:ext cx="272114" cy="360807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1214195D-7392-6E7C-DF71-1FF003C5D6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75045" t="-8113" b="16550"/>
              <a:stretch>
                <a:fillRect/>
              </a:stretch>
            </p:blipFill>
            <p:spPr>
              <a:xfrm>
                <a:off x="808753" y="3918855"/>
                <a:ext cx="369936" cy="39588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631321C-B3BD-EDDA-F025-FAF61BE1F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9720" t="12266" r="25803" b="4284"/>
            <a:stretch>
              <a:fillRect/>
            </a:stretch>
          </p:blipFill>
          <p:spPr>
            <a:xfrm>
              <a:off x="808754" y="4774843"/>
              <a:ext cx="214605" cy="360807"/>
            </a:xfrm>
            <a:prstGeom prst="rect">
              <a:avLst/>
            </a:prstGeom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9441E53-BC65-7A77-D79A-6582BEE02686}"/>
                </a:ext>
              </a:extLst>
            </p:cNvPr>
            <p:cNvCxnSpPr/>
            <p:nvPr/>
          </p:nvCxnSpPr>
          <p:spPr>
            <a:xfrm>
              <a:off x="2304661" y="5411755"/>
              <a:ext cx="130628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09BBFF0-FCC0-C6B0-EB7D-BC432269F3D7}"/>
              </a:ext>
            </a:extLst>
          </p:cNvPr>
          <p:cNvSpPr txBox="1"/>
          <p:nvPr/>
        </p:nvSpPr>
        <p:spPr>
          <a:xfrm>
            <a:off x="689546" y="6579379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50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02E4-D8C1-733C-A6C9-6A3F6559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71FE4F-3066-DF6D-AC25-122C76A626EE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F4A66-ABB8-3A36-E19F-FD9EBEA42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4299DE-35A5-1438-D9C0-9C6EC672E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FD09D9-8C57-D1C3-EDE3-1DCE0ECBFB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B2DEFF-F510-5CA5-EE42-0F26FFA30DCE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Ground State Spin Hamiltonian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7C704E-7F2A-A285-2B04-178CEFC5572C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A01A1F-926C-5F9D-4EDB-BE628C2FC76D}"/>
              </a:ext>
            </a:extLst>
          </p:cNvPr>
          <p:cNvGrpSpPr/>
          <p:nvPr/>
        </p:nvGrpSpPr>
        <p:grpSpPr>
          <a:xfrm>
            <a:off x="176982" y="842372"/>
            <a:ext cx="8920366" cy="5704126"/>
            <a:chOff x="176982" y="842372"/>
            <a:chExt cx="8920366" cy="570412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ECDF43-1708-9AEB-B4BB-1E1B0E106551}"/>
                </a:ext>
              </a:extLst>
            </p:cNvPr>
            <p:cNvSpPr txBox="1"/>
            <p:nvPr/>
          </p:nvSpPr>
          <p:spPr>
            <a:xfrm>
              <a:off x="176982" y="842372"/>
              <a:ext cx="8920366" cy="5704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b="1" dirty="0">
                  <a:solidFill>
                    <a:srgbClr val="00B050"/>
                  </a:solidFill>
                  <a:latin typeface="Berlin Sans FB" panose="020E0602020502020306" pitchFamily="34" charset="0"/>
                </a:rPr>
                <a:t>What is Hamiltonian Operator ?</a:t>
              </a:r>
            </a:p>
            <a:p>
              <a:endParaRPr lang="en-IN" sz="1600" baseline="-250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Linear operator on a Hilbert Space that describes </a:t>
              </a:r>
              <a:r>
                <a:rPr lang="en-IN" sz="1600" b="1" u="sng" dirty="0">
                  <a:latin typeface="Bookman Old Style" panose="02050604050505020204" pitchFamily="18" charset="0"/>
                </a:rPr>
                <a:t>total energy</a:t>
              </a:r>
              <a:r>
                <a:rPr lang="en-IN" sz="1600" dirty="0">
                  <a:latin typeface="Bookman Old Style" panose="02050604050505020204" pitchFamily="18" charset="0"/>
                </a:rPr>
                <a:t> of a physical system.</a:t>
              </a:r>
            </a:p>
            <a:p>
              <a:endParaRPr lang="en-IN" sz="1600" dirty="0">
                <a:latin typeface="Bookman Old Style" panose="02050604050505020204" pitchFamily="18" charset="0"/>
              </a:endParaRPr>
            </a:p>
            <a:p>
              <a:r>
                <a:rPr lang="en-IN" sz="3200" b="1" dirty="0">
                  <a:solidFill>
                    <a:srgbClr val="0070C0"/>
                  </a:solidFill>
                  <a:latin typeface="Berlin Sans FB" panose="020E0602020502020306" pitchFamily="34" charset="0"/>
                </a:rPr>
                <a:t>Ground State Spin Hamiltonian of NV Centre</a:t>
              </a:r>
            </a:p>
            <a:p>
              <a:endParaRPr lang="en-IN" sz="1600" b="1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b="1" dirty="0">
                  <a:latin typeface="Bookman Old Style" panose="02050604050505020204" pitchFamily="18" charset="0"/>
                </a:rPr>
                <a:t>            : Nuclear Spin Hamiltonian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             </a:t>
              </a:r>
              <a:r>
                <a:rPr lang="en-IN" sz="1600" b="1" dirty="0">
                  <a:latin typeface="Bookman Old Style" panose="02050604050505020204" pitchFamily="18" charset="0"/>
                </a:rPr>
                <a:t>: Electronic Spin Hamiltonian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The nuclear spin Hamiltonian is due to the hyperfine interaction between NV electron spin and nitrogen nuclear spin.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All these Hamiltonians are 9x9 matrices whose eigen values are allowed energy levels of the system.</a:t>
              </a:r>
            </a:p>
            <a:p>
              <a:endParaRPr lang="en-IN" sz="1600" dirty="0">
                <a:latin typeface="Bookman Old Style" panose="02050604050505020204" pitchFamily="18" charset="0"/>
              </a:endParaRPr>
            </a:p>
            <a:p>
              <a:r>
                <a:rPr lang="en-IN" sz="3200" b="1" dirty="0">
                  <a:solidFill>
                    <a:srgbClr val="C00000"/>
                  </a:solidFill>
                  <a:latin typeface="Berlin Sans FB" panose="020E0602020502020306" pitchFamily="34" charset="0"/>
                </a:rPr>
                <a:t>NV Reference Frame</a:t>
              </a:r>
            </a:p>
            <a:p>
              <a:endParaRPr lang="en-IN" b="1" dirty="0">
                <a:solidFill>
                  <a:srgbClr val="C00000"/>
                </a:solidFill>
                <a:latin typeface="Berlin Sans FB" panose="020E0602020502020306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Z-axis is along </a:t>
              </a:r>
              <a:r>
                <a:rPr lang="en-IN" sz="1600" b="1" u="sng" dirty="0">
                  <a:latin typeface="Bookman Old Style" panose="02050604050505020204" pitchFamily="18" charset="0"/>
                </a:rPr>
                <a:t>NV symmetry axis</a:t>
              </a:r>
              <a:r>
                <a:rPr lang="en-IN" sz="1600" dirty="0">
                  <a:latin typeface="Bookman Old Style" panose="02050604050505020204" pitchFamily="18" charset="0"/>
                </a:rPr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X-axis is one of the defect’s three symmetry planes.</a:t>
              </a:r>
              <a:endParaRPr lang="en-IN" sz="3200" b="1" dirty="0">
                <a:solidFill>
                  <a:srgbClr val="C00000"/>
                </a:solidFill>
                <a:latin typeface="Berlin Sans FB" panose="020E0602020502020306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 Antiqua" panose="02040602050305030304" pitchFamily="18" charset="0"/>
                </a:rPr>
                <a:t>Fields are decomposed into parallel and transverse components with respect to NV axis.</a:t>
              </a:r>
              <a:endParaRPr lang="en-IN" dirty="0">
                <a:latin typeface="Bookman Old Style" panose="020506040505050202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28899B-F4EB-03F9-E330-1472DE994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0185" b="22642"/>
            <a:stretch>
              <a:fillRect/>
            </a:stretch>
          </p:blipFill>
          <p:spPr>
            <a:xfrm>
              <a:off x="5072252" y="2703895"/>
              <a:ext cx="3272141" cy="584617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47FD212-41FA-23C9-7968-1E7C2328A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057" y="3191242"/>
              <a:ext cx="388654" cy="37341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F5F43DF-ED57-0D28-37FF-D54CBD20E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5006" y="2686425"/>
              <a:ext cx="533446" cy="39627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13C355D-C66D-7B8D-FC96-A7A18047CA4D}"/>
              </a:ext>
            </a:extLst>
          </p:cNvPr>
          <p:cNvSpPr txBox="1"/>
          <p:nvPr/>
        </p:nvSpPr>
        <p:spPr>
          <a:xfrm>
            <a:off x="5648933" y="3363299"/>
            <a:ext cx="2086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7030A0"/>
                </a:solidFill>
                <a:latin typeface="Berlin Sans FB" panose="020E0602020502020306" pitchFamily="34" charset="0"/>
              </a:rPr>
              <a:t>Static Hamiltonian</a:t>
            </a:r>
            <a:endParaRPr lang="en-IN" dirty="0">
              <a:solidFill>
                <a:srgbClr val="7030A0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5DEA0-8B90-8F39-532C-C711D4032ED5}"/>
              </a:ext>
            </a:extLst>
          </p:cNvPr>
          <p:cNvGrpSpPr/>
          <p:nvPr/>
        </p:nvGrpSpPr>
        <p:grpSpPr>
          <a:xfrm>
            <a:off x="7246663" y="2782037"/>
            <a:ext cx="5735915" cy="3270721"/>
            <a:chOff x="7246663" y="2782037"/>
            <a:chExt cx="5735915" cy="327072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1FC232F-D368-6D3D-61C9-2117E10DF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73395" y="2782037"/>
              <a:ext cx="3172103" cy="2650376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2D7F78-7D99-0C66-1B50-C680351D6DA0}"/>
                </a:ext>
              </a:extLst>
            </p:cNvPr>
            <p:cNvSpPr txBox="1"/>
            <p:nvPr/>
          </p:nvSpPr>
          <p:spPr>
            <a:xfrm>
              <a:off x="7246663" y="5406427"/>
              <a:ext cx="5735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latin typeface="Bookman Old Style" panose="02050604050505020204" pitchFamily="18" charset="0"/>
                </a:rPr>
                <a:t>NV Reference Frame and Lab Frame</a:t>
              </a:r>
            </a:p>
            <a:p>
              <a:pPr algn="ctr"/>
              <a:endParaRPr lang="en-IN" i="1" dirty="0">
                <a:latin typeface="Bookman Old Style" panose="0205060405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075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79E7-805D-115D-A788-88D973D9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3C5156-C420-06F2-B691-F45588483719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8BB0B1-0DFF-C2C9-B7EF-27FE16024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91D9B7-F698-2E08-F066-CC18EB1A5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BE1BC4-048B-BDFF-A183-FA8772EC3B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F6D31B-E85C-7617-E33D-A47F3797F218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Frame Transformation </a:t>
            </a:r>
            <a:endParaRPr lang="en-IN" sz="4000" b="1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882806-2BAD-F3CC-D6B0-FF7C339E76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8574"/>
          <a:stretch>
            <a:fillRect/>
          </a:stretch>
        </p:blipFill>
        <p:spPr>
          <a:xfrm>
            <a:off x="269617" y="1216935"/>
            <a:ext cx="5799717" cy="12625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C37EAD-7C2B-3DCA-9196-3FD5524233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8574"/>
          <a:stretch>
            <a:fillRect/>
          </a:stretch>
        </p:blipFill>
        <p:spPr>
          <a:xfrm>
            <a:off x="6235959" y="1175059"/>
            <a:ext cx="5826383" cy="126831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1659DEA-3169-6BB3-2813-346FEE96ACDA}"/>
              </a:ext>
            </a:extLst>
          </p:cNvPr>
          <p:cNvGrpSpPr/>
          <p:nvPr/>
        </p:nvGrpSpPr>
        <p:grpSpPr>
          <a:xfrm>
            <a:off x="-395109" y="3195902"/>
            <a:ext cx="5735915" cy="3270721"/>
            <a:chOff x="7246663" y="2782037"/>
            <a:chExt cx="5735915" cy="327072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16D99D9-E1FD-7DA5-DF2F-E4DB16798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73395" y="2782037"/>
              <a:ext cx="3172103" cy="265037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0B22AEC-B07A-81BF-9777-125C4A162381}"/>
                </a:ext>
              </a:extLst>
            </p:cNvPr>
            <p:cNvSpPr txBox="1"/>
            <p:nvPr/>
          </p:nvSpPr>
          <p:spPr>
            <a:xfrm>
              <a:off x="7246663" y="5406427"/>
              <a:ext cx="5735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latin typeface="Bookman Old Style" panose="02050604050505020204" pitchFamily="18" charset="0"/>
                </a:rPr>
                <a:t>NV Reference Frame and Lab Frame</a:t>
              </a:r>
            </a:p>
            <a:p>
              <a:pPr algn="ctr"/>
              <a:endParaRPr lang="en-IN" i="1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13C570E-C457-4957-672B-97BAE86557DE}"/>
              </a:ext>
            </a:extLst>
          </p:cNvPr>
          <p:cNvGrpSpPr/>
          <p:nvPr/>
        </p:nvGrpSpPr>
        <p:grpSpPr>
          <a:xfrm>
            <a:off x="6433961" y="4049749"/>
            <a:ext cx="5735915" cy="2648478"/>
            <a:chOff x="6433961" y="4049749"/>
            <a:chExt cx="5735915" cy="26484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2EE037-3A31-2F01-B0B3-D851B3D28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70449" y="4049749"/>
              <a:ext cx="4462938" cy="148764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2A0ECA-8C6F-D9CD-38FC-604DD4393F21}"/>
                </a:ext>
              </a:extLst>
            </p:cNvPr>
            <p:cNvSpPr txBox="1"/>
            <p:nvPr/>
          </p:nvSpPr>
          <p:spPr>
            <a:xfrm>
              <a:off x="6433961" y="5774897"/>
              <a:ext cx="573591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latin typeface="Bookman Old Style" panose="02050604050505020204" pitchFamily="18" charset="0"/>
                </a:rPr>
                <a:t>4 possible NV orientations in diamond crystal lattice</a:t>
              </a:r>
            </a:p>
            <a:p>
              <a:pPr algn="ctr"/>
              <a:endParaRPr lang="en-IN" i="1" dirty="0">
                <a:latin typeface="Bookman Old Style" panose="02050604050505020204" pitchFamily="18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52FBB5E-620C-67C3-E3D7-5C36DF12FB09}"/>
              </a:ext>
            </a:extLst>
          </p:cNvPr>
          <p:cNvSpPr txBox="1"/>
          <p:nvPr/>
        </p:nvSpPr>
        <p:spPr>
          <a:xfrm>
            <a:off x="2183375" y="2581613"/>
            <a:ext cx="7771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Rotation matrix for Lab frame to NV </a:t>
            </a:r>
            <a:r>
              <a:rPr lang="en-IN" i="1">
                <a:latin typeface="Bookman Old Style" panose="02050604050505020204" pitchFamily="18" charset="0"/>
              </a:rPr>
              <a:t>frame transformation</a:t>
            </a:r>
            <a:endParaRPr lang="en-IN" i="1" dirty="0">
              <a:latin typeface="Bookman Old Style" panose="02050604050505020204" pitchFamily="18" charset="0"/>
            </a:endParaRPr>
          </a:p>
          <a:p>
            <a:pPr algn="ctr"/>
            <a:endParaRPr lang="en-IN" i="1" dirty="0"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DFE9F-97EC-CB1F-0B93-0D1129868D07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520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190D-6E1D-0659-7BC1-99B5B0C30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545943-2E1F-1D41-48A1-A78CE19873FA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AA9FC-BD56-4D70-C4B6-70059E3B7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EBFF4D-D280-5FB4-2F65-3CB0DC895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F55113-23F3-5B6B-26A1-B552E739C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F30A55-B973-943F-A12A-B050D69E1E23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Ground State Spin Hamiltonian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3C271A-B034-D92A-80BB-01CF57B5F3D9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DA67D5-0DC1-2EC2-45CF-34BD2D4EE3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837" b="15583"/>
          <a:stretch>
            <a:fillRect/>
          </a:stretch>
        </p:blipFill>
        <p:spPr>
          <a:xfrm>
            <a:off x="128509" y="1120081"/>
            <a:ext cx="10349769" cy="830678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B7C91D11-D1D4-30BB-2F0E-0CFCB945B683}"/>
              </a:ext>
            </a:extLst>
          </p:cNvPr>
          <p:cNvGrpSpPr/>
          <p:nvPr/>
        </p:nvGrpSpPr>
        <p:grpSpPr>
          <a:xfrm>
            <a:off x="209865" y="2026201"/>
            <a:ext cx="8920366" cy="4042132"/>
            <a:chOff x="176982" y="842372"/>
            <a:chExt cx="8920366" cy="40421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492CBA7-A1A2-B4BF-56D6-19DAE6937481}"/>
                </a:ext>
              </a:extLst>
            </p:cNvPr>
            <p:cNvSpPr txBox="1"/>
            <p:nvPr/>
          </p:nvSpPr>
          <p:spPr>
            <a:xfrm>
              <a:off x="176982" y="842372"/>
              <a:ext cx="8920366" cy="4042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b="1" dirty="0">
                  <a:solidFill>
                    <a:srgbClr val="008000"/>
                  </a:solidFill>
                  <a:latin typeface="Berlin Sans FB" panose="020E0602020502020306" pitchFamily="34" charset="0"/>
                </a:rPr>
                <a:t>Electronic Spin Hamiltonian</a:t>
              </a:r>
            </a:p>
            <a:p>
              <a:endParaRPr lang="en-IN" sz="1600" baseline="-250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         </a:t>
              </a:r>
              <a:r>
                <a:rPr lang="en-IN" sz="2000" dirty="0">
                  <a:latin typeface="Bookman Old Style" panose="02050604050505020204" pitchFamily="18" charset="0"/>
                </a:rPr>
                <a:t>= 2.87 GHz  </a:t>
              </a:r>
              <a:r>
                <a:rPr lang="en-IN" sz="1600" dirty="0">
                  <a:latin typeface="Bookman Old Style" panose="02050604050505020204" pitchFamily="18" charset="0"/>
                </a:rPr>
                <a:t>: Temperature dependent Zero field splitting</a:t>
              </a:r>
            </a:p>
            <a:p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                                                                    :  Electronic gyromagnetic ratio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                                               : Parallel EF coupling strength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                                               : Transverse EF coupling strength</a:t>
              </a:r>
              <a:br>
                <a:rPr lang="en-IN" sz="1600" dirty="0">
                  <a:latin typeface="Bookman Old Style" panose="02050604050505020204" pitchFamily="18" charset="0"/>
                </a:rPr>
              </a:br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                                               : Total electronic spin operator</a:t>
              </a:r>
            </a:p>
            <a:p>
              <a:endParaRPr lang="en-IN" sz="1600" dirty="0">
                <a:latin typeface="Bookman Old Style" panose="02050604050505020204" pitchFamily="18" charset="0"/>
              </a:endParaRPr>
            </a:p>
            <a:p>
              <a:endParaRPr lang="en-IN" sz="1600" dirty="0">
                <a:latin typeface="Bookman Old Style" panose="02050604050505020204" pitchFamily="18" charset="0"/>
              </a:endParaRPr>
            </a:p>
            <a:p>
              <a:endParaRPr lang="en-IN" sz="1600" dirty="0">
                <a:latin typeface="Bookman Old Style" panose="02050604050505020204" pitchFamily="18" charset="0"/>
              </a:endParaRPr>
            </a:p>
            <a:p>
              <a:endParaRPr lang="en-IN" dirty="0">
                <a:latin typeface="Bookman Old Style" panose="02050604050505020204" pitchFamily="18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74FA60F-425C-E46D-F30D-CE2CD3F00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5158" y="1497496"/>
              <a:ext cx="518205" cy="41151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EF7F91A-7BCB-3224-53DE-514054D96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1537" y="1992901"/>
              <a:ext cx="4313294" cy="48010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642E723-AE07-71B0-31F3-5AE1FA11C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1537" y="2458244"/>
              <a:ext cx="2926334" cy="43437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77D64EE-CF0B-87AA-087F-6FF54ABF1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8192" y="2931993"/>
              <a:ext cx="2728196" cy="47248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63A26D9-8C3B-2CB4-B9B2-483D61A40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8192" y="3455380"/>
              <a:ext cx="1783235" cy="441998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6495FD-4934-3AF7-E5AF-3014E0D1F6BF}"/>
              </a:ext>
            </a:extLst>
          </p:cNvPr>
          <p:cNvGrpSpPr/>
          <p:nvPr/>
        </p:nvGrpSpPr>
        <p:grpSpPr>
          <a:xfrm>
            <a:off x="6955396" y="5074443"/>
            <a:ext cx="5735915" cy="1076544"/>
            <a:chOff x="7276295" y="3217291"/>
            <a:chExt cx="5735915" cy="10765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383969-6995-637E-5F57-5ECFF1046FB9}"/>
                </a:ext>
              </a:extLst>
            </p:cNvPr>
            <p:cNvSpPr txBox="1"/>
            <p:nvPr/>
          </p:nvSpPr>
          <p:spPr>
            <a:xfrm>
              <a:off x="7276295" y="3370505"/>
              <a:ext cx="573591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is about 50 times larger than</a:t>
              </a:r>
            </a:p>
            <a:p>
              <a:pPr algn="ctr"/>
              <a:r>
                <a:rPr lang="en-IN" i="1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Larger sensitivity to EF component </a:t>
              </a:r>
            </a:p>
            <a:p>
              <a:pPr algn="ctr"/>
              <a:r>
                <a:rPr lang="en-IN" i="1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perpendicular to NV axis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F062B90-B22D-64A2-02C7-43480D1CA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-10596" r="84747" b="-1"/>
            <a:stretch>
              <a:fillRect/>
            </a:stretch>
          </p:blipFill>
          <p:spPr>
            <a:xfrm>
              <a:off x="8149361" y="3217291"/>
              <a:ext cx="416139" cy="52254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F04781F-92A2-DB43-62F5-9518CC400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-1754" r="86179"/>
            <a:stretch>
              <a:fillRect/>
            </a:stretch>
          </p:blipFill>
          <p:spPr>
            <a:xfrm>
              <a:off x="11815536" y="3287851"/>
              <a:ext cx="404457" cy="441998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2F1DC2C-874D-D2C2-5F4D-ACC394408F50}"/>
              </a:ext>
            </a:extLst>
          </p:cNvPr>
          <p:cNvSpPr txBox="1"/>
          <p:nvPr/>
        </p:nvSpPr>
        <p:spPr>
          <a:xfrm>
            <a:off x="7065493" y="2033413"/>
            <a:ext cx="5296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Berlin Sans FB" panose="020E0602020502020306" pitchFamily="34" charset="0"/>
              </a:rPr>
              <a:t>Static</a:t>
            </a:r>
            <a:r>
              <a:rPr lang="en-IN" sz="1800" dirty="0">
                <a:solidFill>
                  <a:srgbClr val="7030A0"/>
                </a:solidFill>
                <a:latin typeface="Berlin Sans FB" panose="020E0602020502020306" pitchFamily="34" charset="0"/>
              </a:rPr>
              <a:t> Hamiltonian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 (Time invariant)</a:t>
            </a:r>
          </a:p>
        </p:txBody>
      </p:sp>
    </p:spTree>
    <p:extLst>
      <p:ext uri="{BB962C8B-B14F-4D97-AF65-F5344CB8AC3E}">
        <p14:creationId xmlns:p14="http://schemas.microsoft.com/office/powerpoint/2010/main" val="1911215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7E3AE-9767-3566-D712-DCF4E285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BDF972-ABDD-2676-3B0F-AABA8B123F13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94198D-FBFD-8B6B-70B8-CE1958572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338DF4-8784-F269-504A-867D99CE2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14199C-8934-1B8B-622C-AD0DF8AC78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ED908B-DBF1-0C2E-B91A-F170200AF0CE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Ground State Spin Hamiltonian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DC0015-2CE3-1071-4372-1E84DF3A7DD7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3B87F-A3C0-200F-8CCB-52325FD29E8B}"/>
              </a:ext>
            </a:extLst>
          </p:cNvPr>
          <p:cNvSpPr txBox="1"/>
          <p:nvPr/>
        </p:nvSpPr>
        <p:spPr>
          <a:xfrm>
            <a:off x="209865" y="1829081"/>
            <a:ext cx="8920366" cy="447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Berlin Sans FB" panose="020E0602020502020306" pitchFamily="34" charset="0"/>
              </a:rPr>
              <a:t>Nuclear Spin Hamiltonian</a:t>
            </a:r>
          </a:p>
          <a:p>
            <a:endParaRPr lang="en-IN" sz="1600" baseline="-250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: Nuclear quadrupole parameter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                        :  Nuclear gyromagnetic ratio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        : Axial magnetic hyperfine parameter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        : Transverse magnetic hyperfine parameter</a:t>
            </a:r>
            <a:br>
              <a:rPr lang="en-IN" sz="1600" dirty="0">
                <a:latin typeface="Bookman Old Style" panose="02050604050505020204" pitchFamily="18" charset="0"/>
              </a:rPr>
            </a:b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        : Total nuclear spin operator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The nuclear quadrupole interaction is only for nuclei with total spin I&gt;=1 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E32EE-90FB-001E-8583-D9BA9E52D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06" y="913251"/>
            <a:ext cx="7889350" cy="855869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EDF5F1-EE2A-71E4-28B3-F8BE211BB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981" y="3493855"/>
            <a:ext cx="1785927" cy="3589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4A8212-32FD-5706-2EDA-58E39F596C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666" y="3952203"/>
            <a:ext cx="1767280" cy="3589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B9189F-CC1B-5B42-C086-44142CD374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444" y="2540819"/>
            <a:ext cx="1440305" cy="266723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9303E0A3-F20D-7865-887C-2253F77DBB7D}"/>
              </a:ext>
            </a:extLst>
          </p:cNvPr>
          <p:cNvGrpSpPr/>
          <p:nvPr/>
        </p:nvGrpSpPr>
        <p:grpSpPr>
          <a:xfrm>
            <a:off x="718105" y="3004584"/>
            <a:ext cx="2997179" cy="380408"/>
            <a:chOff x="8820357" y="3303488"/>
            <a:chExt cx="2461724" cy="31244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5EC7AD5-422C-50FA-7005-0647F0A48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20357" y="3303488"/>
              <a:ext cx="1348857" cy="312447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229EE42-67BD-078F-BABF-A53AB112C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192327" y="3318164"/>
              <a:ext cx="1089754" cy="297206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59E2A4D-FB56-C11C-FBF1-B16A5956ED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556" y="4353815"/>
            <a:ext cx="1585097" cy="45724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586EDFF-575D-ECC1-8776-0B6AD9F2DDFF}"/>
              </a:ext>
            </a:extLst>
          </p:cNvPr>
          <p:cNvSpPr/>
          <p:nvPr/>
        </p:nvSpPr>
        <p:spPr>
          <a:xfrm>
            <a:off x="1481328" y="3028548"/>
            <a:ext cx="109728" cy="135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773EF6-BE4E-07E1-1FE3-675EF5BFA62C}"/>
              </a:ext>
            </a:extLst>
          </p:cNvPr>
          <p:cNvSpPr txBox="1"/>
          <p:nvPr/>
        </p:nvSpPr>
        <p:spPr>
          <a:xfrm>
            <a:off x="1386692" y="3023063"/>
            <a:ext cx="2836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" panose="020E0602020502020306" pitchFamily="34" charset="0"/>
              </a:rPr>
              <a:t>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2ED110D-7AF4-36FE-E719-922882FBF17D}"/>
              </a:ext>
            </a:extLst>
          </p:cNvPr>
          <p:cNvGrpSpPr/>
          <p:nvPr/>
        </p:nvGrpSpPr>
        <p:grpSpPr>
          <a:xfrm>
            <a:off x="891729" y="5399108"/>
            <a:ext cx="5735915" cy="1241628"/>
            <a:chOff x="6650729" y="5266571"/>
            <a:chExt cx="5735915" cy="124162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2C7199-4204-EEEC-5134-040A90D73092}"/>
                </a:ext>
              </a:extLst>
            </p:cNvPr>
            <p:cNvSpPr txBox="1"/>
            <p:nvPr/>
          </p:nvSpPr>
          <p:spPr>
            <a:xfrm>
              <a:off x="6650729" y="5307870"/>
              <a:ext cx="573591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is about 9000 times larger than</a:t>
              </a:r>
            </a:p>
            <a:p>
              <a:pPr algn="ctr"/>
              <a:r>
                <a:rPr lang="en-IN" i="1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So sometimes nuclear term can be ignored for simplified results</a:t>
              </a:r>
            </a:p>
            <a:p>
              <a:pPr algn="ctr"/>
              <a:endParaRPr lang="en-IN" i="1" dirty="0">
                <a:solidFill>
                  <a:srgbClr val="C00000"/>
                </a:solidFill>
                <a:latin typeface="Bookman Old Style" panose="02050604050505020204" pitchFamily="18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67A13F9-4C35-00AA-25E1-193AC3B3A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1" r="81419" b="3617"/>
            <a:stretch>
              <a:fillRect/>
            </a:stretch>
          </p:blipFill>
          <p:spPr>
            <a:xfrm>
              <a:off x="11344713" y="5287550"/>
              <a:ext cx="305152" cy="36664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FED6D74-3676-0948-64D2-97233711A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r="84320" b="-25386"/>
            <a:stretch>
              <a:fillRect/>
            </a:stretch>
          </p:blipFill>
          <p:spPr>
            <a:xfrm>
              <a:off x="7203233" y="5266571"/>
              <a:ext cx="590394" cy="525505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8B11CEA-18F2-B28A-BE8C-2CA16E4AEA6C}"/>
              </a:ext>
            </a:extLst>
          </p:cNvPr>
          <p:cNvSpPr txBox="1"/>
          <p:nvPr/>
        </p:nvSpPr>
        <p:spPr>
          <a:xfrm>
            <a:off x="7196122" y="1413053"/>
            <a:ext cx="5296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Berlin Sans FB" panose="020E0602020502020306" pitchFamily="34" charset="0"/>
              </a:rPr>
              <a:t>Static</a:t>
            </a:r>
            <a:r>
              <a:rPr lang="en-IN" sz="1800" dirty="0">
                <a:solidFill>
                  <a:srgbClr val="7030A0"/>
                </a:solidFill>
                <a:latin typeface="Berlin Sans FB" panose="020E0602020502020306" pitchFamily="34" charset="0"/>
              </a:rPr>
              <a:t> Hamiltonian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 (Time invariant)</a:t>
            </a:r>
          </a:p>
        </p:txBody>
      </p:sp>
    </p:spTree>
    <p:extLst>
      <p:ext uri="{BB962C8B-B14F-4D97-AF65-F5344CB8AC3E}">
        <p14:creationId xmlns:p14="http://schemas.microsoft.com/office/powerpoint/2010/main" val="4202771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55634-5AF7-7AF9-CC4D-6E1899EF2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6FB9EC-B6E6-5A5D-0A11-DD3AF3D43017}"/>
              </a:ext>
            </a:extLst>
          </p:cNvPr>
          <p:cNvSpPr txBox="1"/>
          <p:nvPr/>
        </p:nvSpPr>
        <p:spPr>
          <a:xfrm>
            <a:off x="209864" y="1829081"/>
            <a:ext cx="9761683" cy="4965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8000"/>
                </a:solidFill>
                <a:latin typeface="Berlin Sans FB" panose="020E0602020502020306" pitchFamily="34" charset="0"/>
              </a:rPr>
              <a:t>MW Interaction Hamiltonian </a:t>
            </a:r>
          </a:p>
          <a:p>
            <a:endParaRPr lang="en-IN" sz="1600" baseline="-250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: Linewidth or Full Width at Half Maximum (FWHM)</a:t>
            </a:r>
          </a:p>
          <a:p>
            <a:endParaRPr lang="en-IN" sz="16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                        :  Nuclear gyromagnetic ratio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                                 : Electronic gyromagnetic ratio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        : Total electronic spin operator</a:t>
            </a:r>
            <a:br>
              <a:rPr lang="en-IN" sz="1600" dirty="0">
                <a:latin typeface="Bookman Old Style" panose="02050604050505020204" pitchFamily="18" charset="0"/>
              </a:rPr>
            </a:b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                                  : Total nuclear spin operator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The interaction Hamiltonian induces transition from </a:t>
            </a:r>
            <a:r>
              <a:rPr lang="en-IN" sz="1600" b="1" u="sng" dirty="0">
                <a:latin typeface="Bookman Old Style" panose="02050604050505020204" pitchFamily="18" charset="0"/>
              </a:rPr>
              <a:t>initial eigen state</a:t>
            </a:r>
            <a:r>
              <a:rPr lang="en-IN" sz="1600" b="1" dirty="0">
                <a:latin typeface="Bookman Old Style" panose="02050604050505020204" pitchFamily="18" charset="0"/>
              </a:rPr>
              <a:t> </a:t>
            </a:r>
            <a:r>
              <a:rPr lang="en-IN" sz="1600" dirty="0">
                <a:latin typeface="Bookman Old Style" panose="02050604050505020204" pitchFamily="18" charset="0"/>
              </a:rPr>
              <a:t>to </a:t>
            </a:r>
            <a:r>
              <a:rPr lang="en-IN" sz="1600" b="1" u="sng" dirty="0">
                <a:latin typeface="Bookman Old Style" panose="02050604050505020204" pitchFamily="18" charset="0"/>
              </a:rPr>
              <a:t>final eigen state</a:t>
            </a:r>
            <a:r>
              <a:rPr lang="en-IN" sz="1600" b="1" dirty="0">
                <a:latin typeface="Bookman Old Style" panose="020506040505050202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E7AE4AC-9323-C639-153B-BC363D831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39" r="45276" b="27886"/>
          <a:stretch>
            <a:fillRect/>
          </a:stretch>
        </p:blipFill>
        <p:spPr>
          <a:xfrm>
            <a:off x="6293777" y="5820637"/>
            <a:ext cx="338705" cy="381663"/>
          </a:xfrm>
          <a:prstGeom prst="rect">
            <a:avLst/>
          </a:prstGeom>
          <a:ln w="28575"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E23189-AC40-8168-29A9-1DDCE345A197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A3B088-DCA0-2BC6-7C2D-53C740F4E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F77DE4-8E2F-4FE5-1ED4-CEA3EC689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B452CA-0228-0702-58B9-D6A63B53E1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EBF90C-660F-35E1-F6AF-215415314E91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Ground State Spin Hamiltonian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2352C3-78F4-798F-89E1-11C13DF0BFFF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47949F-4DFD-1897-2F98-ED631EF86AF0}"/>
              </a:ext>
            </a:extLst>
          </p:cNvPr>
          <p:cNvGrpSpPr/>
          <p:nvPr/>
        </p:nvGrpSpPr>
        <p:grpSpPr>
          <a:xfrm>
            <a:off x="718105" y="3004584"/>
            <a:ext cx="2997179" cy="380408"/>
            <a:chOff x="8820357" y="3303488"/>
            <a:chExt cx="2461724" cy="31244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D171A9A-D76B-82EB-1B70-2837F2304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20357" y="3303488"/>
              <a:ext cx="1348857" cy="312447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99D464D-7DF8-849D-11D4-67EF34967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92327" y="3318164"/>
              <a:ext cx="1089754" cy="297206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E8CFB659-77D3-6005-69B4-7460E0D93A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56" y="4353815"/>
            <a:ext cx="1585097" cy="45724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4591844-F7CD-7878-5B91-47217E96AB1D}"/>
              </a:ext>
            </a:extLst>
          </p:cNvPr>
          <p:cNvSpPr/>
          <p:nvPr/>
        </p:nvSpPr>
        <p:spPr>
          <a:xfrm>
            <a:off x="1481328" y="3028548"/>
            <a:ext cx="109728" cy="135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8E2CA0-9B14-3FC9-FACA-CF5DCDC105FB}"/>
              </a:ext>
            </a:extLst>
          </p:cNvPr>
          <p:cNvSpPr txBox="1"/>
          <p:nvPr/>
        </p:nvSpPr>
        <p:spPr>
          <a:xfrm>
            <a:off x="1386692" y="3023063"/>
            <a:ext cx="2836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" panose="020E0602020502020306" pitchFamily="34" charset="0"/>
              </a:rPr>
              <a:t>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59638F-E5ED-F85E-83FE-604B41BE49F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8" t="7430" r="-98" b="19625"/>
          <a:stretch>
            <a:fillRect/>
          </a:stretch>
        </p:blipFill>
        <p:spPr>
          <a:xfrm>
            <a:off x="1089832" y="898980"/>
            <a:ext cx="5006168" cy="666745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6D6C11-13FC-70A0-6342-B88DA4C0FA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846" y="3903766"/>
            <a:ext cx="1698949" cy="4211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5AAC05-4501-8A4A-ACDC-C94769A220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105" y="3457449"/>
            <a:ext cx="3587677" cy="3993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56C7F7-585A-A395-65C0-A9A8FED1E2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7997" y="2510886"/>
            <a:ext cx="193420" cy="3155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1824B9-9FD2-33C4-8918-F36AD89A1262}"/>
              </a:ext>
            </a:extLst>
          </p:cNvPr>
          <p:cNvSpPr txBox="1"/>
          <p:nvPr/>
        </p:nvSpPr>
        <p:spPr>
          <a:xfrm>
            <a:off x="6381091" y="1079505"/>
            <a:ext cx="5296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Berlin Sans FB" panose="020E0602020502020306" pitchFamily="34" charset="0"/>
              </a:rPr>
              <a:t>Dynamic</a:t>
            </a:r>
            <a:r>
              <a:rPr lang="en-IN" sz="1800" dirty="0">
                <a:solidFill>
                  <a:srgbClr val="FF0000"/>
                </a:solidFill>
                <a:latin typeface="Berlin Sans FB" panose="020E0602020502020306" pitchFamily="34" charset="0"/>
              </a:rPr>
              <a:t> Hamiltonian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      (Time varying)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3542AC-0AF1-299D-2AC3-F887BFBA1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943" y="5780127"/>
            <a:ext cx="2521020" cy="6415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7C46EEBC-DB54-0C55-0B27-1EF61B66937B}"/>
              </a:ext>
            </a:extLst>
          </p:cNvPr>
          <p:cNvGrpSpPr/>
          <p:nvPr/>
        </p:nvGrpSpPr>
        <p:grpSpPr>
          <a:xfrm>
            <a:off x="6091084" y="5221478"/>
            <a:ext cx="6848668" cy="1548737"/>
            <a:chOff x="6091084" y="5411780"/>
            <a:chExt cx="6848668" cy="154873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FE72F4-CCA9-1B07-A739-58AD69E29111}"/>
                </a:ext>
              </a:extLst>
            </p:cNvPr>
            <p:cNvSpPr txBox="1"/>
            <p:nvPr/>
          </p:nvSpPr>
          <p:spPr>
            <a:xfrm>
              <a:off x="6091084" y="5483189"/>
              <a:ext cx="6848668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dirty="0">
                  <a:solidFill>
                    <a:srgbClr val="002060"/>
                  </a:solidFill>
                  <a:latin typeface="Berlin Sans FB" panose="020E0602020502020306" pitchFamily="34" charset="0"/>
                </a:rPr>
                <a:t>* Apply            to </a:t>
              </a:r>
            </a:p>
            <a:p>
              <a:r>
                <a:rPr lang="en-IN" dirty="0">
                  <a:solidFill>
                    <a:srgbClr val="002060"/>
                  </a:solidFill>
                  <a:latin typeface="Berlin Sans FB" panose="020E0602020502020306" pitchFamily="34" charset="0"/>
                </a:rPr>
                <a:t>* Inner product the result with</a:t>
              </a:r>
            </a:p>
            <a:p>
              <a:r>
                <a:rPr lang="en-IN" dirty="0">
                  <a:solidFill>
                    <a:srgbClr val="002060"/>
                  </a:solidFill>
                  <a:latin typeface="Berlin Sans FB" panose="020E0602020502020306" pitchFamily="34" charset="0"/>
                </a:rPr>
                <a:t>*        is Hermitian of </a:t>
              </a:r>
            </a:p>
            <a:p>
              <a:r>
                <a:rPr lang="en-IN" dirty="0">
                  <a:solidFill>
                    <a:srgbClr val="002060"/>
                  </a:solidFill>
                  <a:latin typeface="Berlin Sans FB" panose="020E0602020502020306" pitchFamily="34" charset="0"/>
                </a:rPr>
                <a:t>* Square the modulus of entire term</a:t>
              </a:r>
            </a:p>
            <a:p>
              <a:endParaRPr lang="en-IN" dirty="0">
                <a:solidFill>
                  <a:srgbClr val="002060"/>
                </a:solidFill>
                <a:latin typeface="Berlin Sans FB" panose="020E0602020502020306" pitchFamily="34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39A35A1-C3C1-7B9D-C415-6DB07E825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71000"/>
            </a:blip>
            <a:stretch>
              <a:fillRect/>
            </a:stretch>
          </p:blipFill>
          <p:spPr>
            <a:xfrm>
              <a:off x="8220272" y="6021891"/>
              <a:ext cx="352952" cy="39870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01C7A6E-C4BB-1864-B25D-4C93EDAF2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5204" r="12360" b="37398"/>
            <a:stretch>
              <a:fillRect/>
            </a:stretch>
          </p:blipFill>
          <p:spPr>
            <a:xfrm>
              <a:off x="7850741" y="5414220"/>
              <a:ext cx="313545" cy="401599"/>
            </a:xfrm>
            <a:prstGeom prst="rect">
              <a:avLst/>
            </a:prstGeom>
            <a:ln w="28575">
              <a:noFill/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8A99DEC-DC4B-307D-09B8-D19835767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3720" r="23777" b="37398"/>
            <a:stretch>
              <a:fillRect/>
            </a:stretch>
          </p:blipFill>
          <p:spPr>
            <a:xfrm>
              <a:off x="6913984" y="5411780"/>
              <a:ext cx="567309" cy="401599"/>
            </a:xfrm>
            <a:prstGeom prst="rect">
              <a:avLst/>
            </a:prstGeom>
            <a:ln w="28575">
              <a:noFill/>
            </a:ln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ACDA690-AF78-B8B8-2284-817E3C152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8439" r="45276" b="27886"/>
            <a:stretch>
              <a:fillRect/>
            </a:stretch>
          </p:blipFill>
          <p:spPr>
            <a:xfrm>
              <a:off x="9030601" y="5658008"/>
              <a:ext cx="410547" cy="462617"/>
            </a:xfrm>
            <a:prstGeom prst="rect">
              <a:avLst/>
            </a:prstGeom>
            <a:ln w="28575">
              <a:noFill/>
            </a:ln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824EA8D-3CFF-C77E-553B-0F4F7DAEAD70}"/>
              </a:ext>
            </a:extLst>
          </p:cNvPr>
          <p:cNvSpPr txBox="1"/>
          <p:nvPr/>
        </p:nvSpPr>
        <p:spPr>
          <a:xfrm>
            <a:off x="356605" y="5314878"/>
            <a:ext cx="7309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Berlin Sans FB" panose="020E0602020502020306" pitchFamily="34" charset="0"/>
              </a:rPr>
              <a:t>Magnetic Dipole Transition Probability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2B517-BD91-6162-1F12-439BF8AAD47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71000"/>
          </a:blip>
          <a:stretch>
            <a:fillRect/>
          </a:stretch>
        </p:blipFill>
        <p:spPr>
          <a:xfrm>
            <a:off x="9180874" y="2350814"/>
            <a:ext cx="352952" cy="3987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215460-55F5-421F-6C9D-E45D92549E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39" r="45276" b="27886"/>
          <a:stretch>
            <a:fillRect/>
          </a:stretch>
        </p:blipFill>
        <p:spPr>
          <a:xfrm>
            <a:off x="9123279" y="2791143"/>
            <a:ext cx="410547" cy="462617"/>
          </a:xfrm>
          <a:prstGeom prst="rect">
            <a:avLst/>
          </a:prstGeom>
          <a:ln w="28575"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7FA0DF-753E-6900-0067-8A209C4C44E8}"/>
              </a:ext>
            </a:extLst>
          </p:cNvPr>
          <p:cNvSpPr txBox="1"/>
          <p:nvPr/>
        </p:nvSpPr>
        <p:spPr>
          <a:xfrm>
            <a:off x="9074937" y="2054634"/>
            <a:ext cx="2868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solidFill>
                  <a:srgbClr val="00B0F0"/>
                </a:solidFill>
                <a:latin typeface="Berlin Sans FB" panose="020E0602020502020306" pitchFamily="34" charset="0"/>
              </a:rPr>
              <a:t>Dirac Notation: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       : Ket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Berlin Sans FB" panose="020E0602020502020306" pitchFamily="34" charset="0"/>
            </a:endParaRP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       : Bra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B07A807-DA82-5402-DC8D-433EC2076CD9}"/>
              </a:ext>
            </a:extLst>
          </p:cNvPr>
          <p:cNvGrpSpPr/>
          <p:nvPr/>
        </p:nvGrpSpPr>
        <p:grpSpPr>
          <a:xfrm>
            <a:off x="6559855" y="4024905"/>
            <a:ext cx="5537394" cy="652729"/>
            <a:chOff x="6609387" y="4207066"/>
            <a:chExt cx="5537394" cy="65272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F962D92-ADC1-0CFA-5DFC-103358332A8F}"/>
                </a:ext>
              </a:extLst>
            </p:cNvPr>
            <p:cNvSpPr txBox="1"/>
            <p:nvPr/>
          </p:nvSpPr>
          <p:spPr>
            <a:xfrm>
              <a:off x="6609387" y="4273322"/>
              <a:ext cx="5537394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r>
                <a:rPr lang="en-IN" sz="1600" dirty="0">
                  <a:latin typeface="Batang" panose="02030600000101010101" pitchFamily="18" charset="-127"/>
                  <a:ea typeface="Batang" panose="02030600000101010101" pitchFamily="18" charset="-127"/>
                </a:rPr>
                <a:t>The states     and      are determined by eigen values of 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1D48400-DE3E-0D1D-E4FE-F24033AC1765}"/>
                </a:ext>
              </a:extLst>
            </p:cNvPr>
            <p:cNvGrpSpPr/>
            <p:nvPr/>
          </p:nvGrpSpPr>
          <p:grpSpPr>
            <a:xfrm>
              <a:off x="6981438" y="4207066"/>
              <a:ext cx="1831073" cy="652729"/>
              <a:chOff x="6981438" y="4207066"/>
              <a:chExt cx="1831073" cy="652729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FC5014B-8245-0D2A-357C-4D5309C458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4005" t="23320" r="73656" b="22642"/>
              <a:stretch>
                <a:fillRect/>
              </a:stretch>
            </p:blipFill>
            <p:spPr>
              <a:xfrm>
                <a:off x="6981438" y="4541960"/>
                <a:ext cx="420450" cy="317835"/>
              </a:xfrm>
              <a:prstGeom prst="rect">
                <a:avLst/>
              </a:prstGeom>
              <a:ln w="28575">
                <a:noFill/>
              </a:ln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CA072C19-AB58-75A3-D146-979F1D06ED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5204" r="12360" b="37398"/>
              <a:stretch>
                <a:fillRect/>
              </a:stretch>
            </p:blipFill>
            <p:spPr>
              <a:xfrm>
                <a:off x="7721961" y="4207066"/>
                <a:ext cx="313545" cy="401599"/>
              </a:xfrm>
              <a:prstGeom prst="rect">
                <a:avLst/>
              </a:prstGeom>
              <a:ln w="28575">
                <a:noFill/>
              </a:ln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0283748-2C6E-A110-A425-356CB65B57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alphaModFix amt="71000"/>
              </a:blip>
              <a:stretch>
                <a:fillRect/>
              </a:stretch>
            </p:blipFill>
            <p:spPr>
              <a:xfrm>
                <a:off x="8459559" y="4251678"/>
                <a:ext cx="352952" cy="39870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4769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7375-5CF4-1E10-06CC-B3879F10C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53DE86-51DC-9D7B-CF4B-54A95FD2E3F7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99EA80-EB73-F9D9-E247-713BC9E68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36060C-B318-C02A-5270-BBC010D92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0C3CA7-8BAF-4185-79F5-512C17A85A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00CE82-5B11-7100-BF60-3288E222613E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Pauli Spin Matrices</a:t>
            </a:r>
            <a:endParaRPr lang="en-IN" sz="4000" b="1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E83C0E5-171B-94D3-167B-8DA46E5418DA}"/>
              </a:ext>
            </a:extLst>
          </p:cNvPr>
          <p:cNvGrpSpPr/>
          <p:nvPr/>
        </p:nvGrpSpPr>
        <p:grpSpPr>
          <a:xfrm>
            <a:off x="2821555" y="1120380"/>
            <a:ext cx="6410524" cy="1429965"/>
            <a:chOff x="2595640" y="4989017"/>
            <a:chExt cx="6410524" cy="14299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E75A57E-6DCD-A0CC-38EF-AB7546383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95640" y="4989017"/>
              <a:ext cx="6410524" cy="1429965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05F5B26-06B1-A03D-6FDB-5089B7EE6747}"/>
                </a:ext>
              </a:extLst>
            </p:cNvPr>
            <p:cNvSpPr/>
            <p:nvPr/>
          </p:nvSpPr>
          <p:spPr>
            <a:xfrm>
              <a:off x="7445829" y="5393094"/>
              <a:ext cx="345232" cy="6207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800927E-D6B6-ED77-C98A-AB3FDDE4B1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410" y="2954422"/>
            <a:ext cx="8125099" cy="318833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18D7132-4C4F-CEE8-B399-8D8A8A106933}"/>
              </a:ext>
            </a:extLst>
          </p:cNvPr>
          <p:cNvSpPr txBox="1"/>
          <p:nvPr/>
        </p:nvSpPr>
        <p:spPr>
          <a:xfrm>
            <a:off x="2159839" y="5377684"/>
            <a:ext cx="215463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3x3 identity matrix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7052CE-C592-39BB-6FCE-AF9026FD3AE0}"/>
              </a:ext>
            </a:extLst>
          </p:cNvPr>
          <p:cNvGrpSpPr/>
          <p:nvPr/>
        </p:nvGrpSpPr>
        <p:grpSpPr>
          <a:xfrm>
            <a:off x="5536107" y="3483392"/>
            <a:ext cx="6605776" cy="811554"/>
            <a:chOff x="5681305" y="4294863"/>
            <a:chExt cx="6605776" cy="81155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EC7F05F-4394-7997-1E5A-F5E3904A0602}"/>
                </a:ext>
              </a:extLst>
            </p:cNvPr>
            <p:cNvSpPr txBox="1"/>
            <p:nvPr/>
          </p:nvSpPr>
          <p:spPr>
            <a:xfrm>
              <a:off x="5681305" y="4369511"/>
              <a:ext cx="6310964" cy="6463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Batang" panose="02030600000101010101" pitchFamily="18" charset="-127"/>
                  <a:ea typeface="Batang" panose="02030600000101010101" pitchFamily="18" charset="-127"/>
                </a:rPr>
                <a:t>Since </a:t>
              </a:r>
              <a:r>
                <a:rPr lang="en-IN" baseline="30000" dirty="0">
                  <a:latin typeface="Batang" panose="02030600000101010101" pitchFamily="18" charset="-127"/>
                  <a:ea typeface="Batang" panose="02030600000101010101" pitchFamily="18" charset="-127"/>
                </a:rPr>
                <a:t>14</a:t>
              </a:r>
              <a:r>
                <a:rPr lang="en-IN" dirty="0">
                  <a:latin typeface="Batang" panose="02030600000101010101" pitchFamily="18" charset="-127"/>
                  <a:ea typeface="Batang" panose="02030600000101010101" pitchFamily="18" charset="-127"/>
                </a:rPr>
                <a:t>N nucleus is a spin-1(I=1) system so            and                        are same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1C5E24D-4D61-3D1D-CCFE-D40B4E87E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01984" y="4294863"/>
              <a:ext cx="1585097" cy="45724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46647E3-1886-03DF-79B0-C92B3220D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99739" y="4664419"/>
              <a:ext cx="1783235" cy="44199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A370187-717B-D248-9CE6-48835B042E8C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825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4B252-AFF5-9DB5-5F75-53B813AA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CEF56-702D-2AE4-E5D5-6A3AA33A6C03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7FFCD9-B0E4-4194-FF1A-752BD93B7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DD49AF-821A-9E0E-DD92-A9DB6ED3D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DEB195-6F19-D965-D361-3A6AC42F9B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014286-E95F-68C9-2ABE-5CCA695D8586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Hamiltonian Calculation</a:t>
            </a:r>
            <a:endParaRPr lang="en-IN" sz="4000" b="1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A0C573-00E1-BCBE-6145-BEC80C09A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63" y="1049592"/>
            <a:ext cx="9000000" cy="53420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1E8BFF-4289-8BAA-8A79-E4B5D0B8C289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4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4F6DC0-4ECF-93E9-905A-F652B9B1C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EF01DD-C1C4-CE8B-504B-16C803570E35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FD61DB-5168-2649-E27F-582C82B44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51D10E-8FE4-E2FE-CAA4-F9433926C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FB935D-A94B-17B4-136A-67E1A1472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106BDD-3521-4848-EBB8-54FCD12C6CC8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Ground State Spin Hamiltonian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207EA7-759A-FA62-0EA8-B8D99EE47CE2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DDB416-2C89-FAC8-0A91-ED4EC69E0A3B}"/>
              </a:ext>
            </a:extLst>
          </p:cNvPr>
          <p:cNvSpPr txBox="1"/>
          <p:nvPr/>
        </p:nvSpPr>
        <p:spPr>
          <a:xfrm>
            <a:off x="200534" y="917087"/>
            <a:ext cx="946657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7030A0"/>
                </a:solidFill>
                <a:latin typeface="Berlin Sans FB" panose="020E0602020502020306" pitchFamily="34" charset="0"/>
              </a:rPr>
              <a:t>NV Spin Basis States (Spin-1 System)</a:t>
            </a: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dirty="0">
              <a:latin typeface="Bookman Old Style" panose="02050604050505020204" pitchFamily="18" charset="0"/>
            </a:endParaRPr>
          </a:p>
          <a:p>
            <a:r>
              <a:rPr lang="en-IN" sz="3200" b="1" dirty="0">
                <a:solidFill>
                  <a:srgbClr val="008000"/>
                </a:solidFill>
                <a:latin typeface="Berlin Sans FB" panose="020E0602020502020306" pitchFamily="34" charset="0"/>
              </a:rPr>
              <a:t>Creation of Quantum Superposition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NV e- are in state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MF is absent.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Transverse EF is absent.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MW signal with MF component along x-axis is applied. (                  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638C46-1E84-BB2B-90B2-32984A049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23" y="1765155"/>
            <a:ext cx="2720576" cy="7849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84BD49-CF67-28F1-04FC-97CD8A2FE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5386" y="1749913"/>
            <a:ext cx="1036410" cy="8154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E30E5A-EC15-12C6-477A-67150F401F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364" y="1738841"/>
            <a:ext cx="1280271" cy="8154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5E33BB-04BB-FD48-C40D-C90A3AD6E1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751" r="80451" b="38139"/>
          <a:stretch>
            <a:fillRect/>
          </a:stretch>
        </p:blipFill>
        <p:spPr>
          <a:xfrm>
            <a:off x="2388189" y="3642360"/>
            <a:ext cx="202611" cy="2781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4DFF728-D319-BDAA-9DB8-F4E5F489D7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044" y="5091741"/>
            <a:ext cx="1120237" cy="297206"/>
          </a:xfrm>
          <a:prstGeom prst="rect">
            <a:avLst/>
          </a:prstGeom>
          <a:solidFill>
            <a:schemeClr val="tx2"/>
          </a:solidFill>
          <a:ln w="12700">
            <a:solidFill>
              <a:srgbClr val="FF0000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87E363F-6286-973A-3C76-D62B82AAB1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7148" y="2604694"/>
            <a:ext cx="4031329" cy="36198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2117044-876E-51DA-384C-6DD96ED177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8139" y="3566161"/>
            <a:ext cx="3520705" cy="1305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2DB87E-D65C-58E8-F227-12EEE5D964B2}"/>
              </a:ext>
            </a:extLst>
          </p:cNvPr>
          <p:cNvSpPr txBox="1"/>
          <p:nvPr/>
        </p:nvSpPr>
        <p:spPr>
          <a:xfrm>
            <a:off x="7802916" y="6077861"/>
            <a:ext cx="5941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Berlin Sans FB" panose="020E0602020502020306" pitchFamily="34" charset="0"/>
              </a:rPr>
              <a:t>Quantum Superposition Transient State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09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1F6BC1-41F7-0C16-C4C1-3A5C70BC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23BA01-B155-5B9D-B826-C7C202A82D13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76218C-4B2E-FF20-3FFE-D3EDC4FC1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229605-B728-BFD4-F5E8-506820425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B0FF0C-BFFF-4FC5-61E1-5C452A2003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738219-ECA8-F3DC-15C6-0828FB8B9F1D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008000"/>
                </a:solidFill>
                <a:latin typeface="SF Atarian System Extended" panose="00000400000000000000" pitchFamily="2" charset="0"/>
              </a:rPr>
              <a:t>Transverse Electric Field</a:t>
            </a:r>
            <a:endParaRPr lang="en-IN" sz="4000" b="1" dirty="0">
              <a:solidFill>
                <a:srgbClr val="008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CDB9-1EA4-F540-F179-BE485A980029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ACFECB-D51B-2F43-054E-C9DE47B46D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30" y="1114223"/>
            <a:ext cx="4717189" cy="31168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1669D9-4CA8-B671-EF73-0B723A63F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745" y="1125724"/>
            <a:ext cx="4968671" cy="30254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C6647A-6B00-5E56-9971-70E6C2697F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2313" y="3501544"/>
            <a:ext cx="2850127" cy="66299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4670EAC-5436-F6E3-EFB9-77C0AAC8B1AC}"/>
              </a:ext>
            </a:extLst>
          </p:cNvPr>
          <p:cNvGrpSpPr/>
          <p:nvPr/>
        </p:nvGrpSpPr>
        <p:grpSpPr>
          <a:xfrm>
            <a:off x="284508" y="4307205"/>
            <a:ext cx="9596609" cy="2092881"/>
            <a:chOff x="247186" y="3833042"/>
            <a:chExt cx="9596609" cy="209288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4DE60F-C6EE-7E30-3186-A82709355A09}"/>
                </a:ext>
              </a:extLst>
            </p:cNvPr>
            <p:cNvSpPr txBox="1"/>
            <p:nvPr/>
          </p:nvSpPr>
          <p:spPr>
            <a:xfrm>
              <a:off x="247186" y="3833042"/>
              <a:ext cx="9596609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Mixing occurs only when two states are degenerate.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Transverse EF causes mixing of the         and        states.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The transverse EF does not interfere with     state. No transitions to or from it.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6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dirty="0">
                  <a:latin typeface="Bookman Old Style" panose="02050604050505020204" pitchFamily="18" charset="0"/>
                </a:rPr>
                <a:t>E</a:t>
              </a:r>
              <a:r>
                <a:rPr lang="en-IN" sz="1600" baseline="-25000" dirty="0">
                  <a:latin typeface="Bookman Old Style" panose="02050604050505020204" pitchFamily="18" charset="0"/>
                </a:rPr>
                <a:t>x</a:t>
              </a:r>
              <a:r>
                <a:rPr lang="en-IN" sz="1600" dirty="0">
                  <a:latin typeface="Bookman Old Style" panose="02050604050505020204" pitchFamily="18" charset="0"/>
                </a:rPr>
                <a:t> mixes the        and        states perfectly in x direction while E</a:t>
              </a:r>
              <a:r>
                <a:rPr lang="en-IN" sz="1600" baseline="-25000" dirty="0">
                  <a:latin typeface="Bookman Old Style" panose="02050604050505020204" pitchFamily="18" charset="0"/>
                </a:rPr>
                <a:t>y</a:t>
              </a:r>
              <a:r>
                <a:rPr lang="en-IN" sz="1600" dirty="0">
                  <a:latin typeface="Bookman Old Style" panose="02050604050505020204" pitchFamily="18" charset="0"/>
                </a:rPr>
                <a:t> mixes them in y direction.</a:t>
              </a:r>
            </a:p>
            <a:p>
              <a:endParaRPr lang="en-IN" dirty="0">
                <a:latin typeface="Bookman Old Style" panose="020506040505050202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613EB14-9AE4-56D5-5F56-51F1DDE88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27751" r="80451" b="38139"/>
            <a:stretch>
              <a:fillRect/>
            </a:stretch>
          </p:blipFill>
          <p:spPr>
            <a:xfrm>
              <a:off x="4804273" y="4854618"/>
              <a:ext cx="202611" cy="27813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98EFBA9-8E03-93B9-D67C-A4C0F6395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906" t="29447" r="78603" b="31342"/>
            <a:stretch>
              <a:fillRect/>
            </a:stretch>
          </p:blipFill>
          <p:spPr>
            <a:xfrm>
              <a:off x="4225720" y="4348539"/>
              <a:ext cx="475861" cy="30777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56804F3-0395-1175-D800-4FF6D7B64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131" t="27052" r="62430" b="34042"/>
            <a:stretch>
              <a:fillRect/>
            </a:stretch>
          </p:blipFill>
          <p:spPr>
            <a:xfrm>
              <a:off x="5166211" y="4364956"/>
              <a:ext cx="466530" cy="31724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B689D92-56B2-FBC8-34B6-503BD344F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906" t="29447" r="78603" b="31342"/>
            <a:stretch>
              <a:fillRect/>
            </a:stretch>
          </p:blipFill>
          <p:spPr>
            <a:xfrm>
              <a:off x="1914838" y="5322484"/>
              <a:ext cx="475861" cy="307777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95A7478-8669-007A-DDEE-95C30DD52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131" t="27052" r="62430" b="34042"/>
            <a:stretch>
              <a:fillRect/>
            </a:stretch>
          </p:blipFill>
          <p:spPr>
            <a:xfrm>
              <a:off x="2780735" y="5336415"/>
              <a:ext cx="466530" cy="317240"/>
            </a:xfrm>
            <a:prstGeom prst="rect">
              <a:avLst/>
            </a:prstGeom>
          </p:spPr>
        </p:pic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3CD991B-9712-D1CA-8B0A-DC45C8365002}"/>
              </a:ext>
            </a:extLst>
          </p:cNvPr>
          <p:cNvSpPr/>
          <p:nvPr/>
        </p:nvSpPr>
        <p:spPr>
          <a:xfrm>
            <a:off x="2428021" y="3501544"/>
            <a:ext cx="184550" cy="6495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893288-A31E-B5C0-6436-3732717935B0}"/>
              </a:ext>
            </a:extLst>
          </p:cNvPr>
          <p:cNvSpPr/>
          <p:nvPr/>
        </p:nvSpPr>
        <p:spPr>
          <a:xfrm>
            <a:off x="2192693" y="3704253"/>
            <a:ext cx="746449" cy="2073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56CA8A-0B0C-C068-7ACB-5739D835CDBE}"/>
              </a:ext>
            </a:extLst>
          </p:cNvPr>
          <p:cNvSpPr/>
          <p:nvPr/>
        </p:nvSpPr>
        <p:spPr>
          <a:xfrm>
            <a:off x="9060024" y="3429000"/>
            <a:ext cx="233266" cy="6629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9D7187-E4FF-D4D0-3050-1E3742802C75}"/>
              </a:ext>
            </a:extLst>
          </p:cNvPr>
          <p:cNvSpPr/>
          <p:nvPr/>
        </p:nvSpPr>
        <p:spPr>
          <a:xfrm>
            <a:off x="8808098" y="3638939"/>
            <a:ext cx="718457" cy="1959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3F706FE-143D-9C21-2CF8-55D6A9DC1546}"/>
              </a:ext>
            </a:extLst>
          </p:cNvPr>
          <p:cNvCxnSpPr/>
          <p:nvPr/>
        </p:nvCxnSpPr>
        <p:spPr>
          <a:xfrm>
            <a:off x="3191069" y="3501544"/>
            <a:ext cx="0" cy="6629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63AD8DB-082A-909D-97D9-5D83F0F347CA}"/>
              </a:ext>
            </a:extLst>
          </p:cNvPr>
          <p:cNvCxnSpPr/>
          <p:nvPr/>
        </p:nvCxnSpPr>
        <p:spPr>
          <a:xfrm>
            <a:off x="3181739" y="3501544"/>
            <a:ext cx="68113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EE5AEF7-518B-2070-CC87-2AA01D6FBF7C}"/>
              </a:ext>
            </a:extLst>
          </p:cNvPr>
          <p:cNvSpPr txBox="1"/>
          <p:nvPr/>
        </p:nvSpPr>
        <p:spPr>
          <a:xfrm rot="5400000">
            <a:off x="3014002" y="3808899"/>
            <a:ext cx="57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to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BEAC6C-0EF3-F42F-BDC3-EE4EB8AB1283}"/>
              </a:ext>
            </a:extLst>
          </p:cNvPr>
          <p:cNvSpPr txBox="1"/>
          <p:nvPr/>
        </p:nvSpPr>
        <p:spPr>
          <a:xfrm>
            <a:off x="3222336" y="3220691"/>
            <a:ext cx="74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from</a:t>
            </a:r>
          </a:p>
        </p:txBody>
      </p:sp>
    </p:spTree>
    <p:extLst>
      <p:ext uri="{BB962C8B-B14F-4D97-AF65-F5344CB8AC3E}">
        <p14:creationId xmlns:p14="http://schemas.microsoft.com/office/powerpoint/2010/main" val="207705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B3089-79AA-19A9-7F58-35816C6B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4E8D6C7-6DA8-A99B-8789-556597A2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34" y="4422737"/>
            <a:ext cx="5151566" cy="21566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EF0756B-2C2A-C3F1-17A4-5C5E45431113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EAA258-853D-D6D9-59CC-FFBE38834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FAB2AB-0793-F766-4B85-3F2EE08AE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DDB775-7B21-1836-6416-922DD5E8DA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E6DA90-7963-1661-3D3F-6BF7214B19D7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Transverse EF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460BB-00C2-2F5B-8941-5128C4BF0987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9666DF-AC41-75A7-3575-E19304A3F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92" y="1421206"/>
            <a:ext cx="4145639" cy="28272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74B54B-5709-3250-6AC6-0AC7D4470B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389" y="948347"/>
            <a:ext cx="3825572" cy="45724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AE708A3-13C0-3DC9-12FC-EA13BF98D1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4003" y="4281915"/>
            <a:ext cx="5730737" cy="221761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D480F88-0A08-EE0C-C3C2-0F3F981555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1861" y="1396156"/>
            <a:ext cx="2848372" cy="205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95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22EE5-1C99-BF21-488B-A3FEBB56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586CF0-D95C-1C9E-DED6-72D40CD9A85E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FCCE97-E2BB-DF25-2DBB-5ACF59CEF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432245-6302-FE8D-E584-FBF44FC8A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26920F-D935-671C-E976-791C0B887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1B7D2F-A843-3D49-B4CE-8F36198E1487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Ground State Spin Hamiltonian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94B174-4313-4F0B-1AC1-CC155D979926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46C9B-921E-5DA4-63B3-FBBEE9EF915D}"/>
              </a:ext>
            </a:extLst>
          </p:cNvPr>
          <p:cNvSpPr txBox="1"/>
          <p:nvPr/>
        </p:nvSpPr>
        <p:spPr>
          <a:xfrm>
            <a:off x="200534" y="917087"/>
            <a:ext cx="946657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7030A0"/>
                </a:solidFill>
                <a:latin typeface="Berlin Sans FB" panose="020E0602020502020306" pitchFamily="34" charset="0"/>
              </a:rPr>
              <a:t>Lorentzian Function</a:t>
            </a: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This transition has </a:t>
            </a:r>
            <a:r>
              <a:rPr lang="en-IN" sz="1600" b="1" dirty="0">
                <a:latin typeface="Bookman Old Style" panose="02050604050505020204" pitchFamily="18" charset="0"/>
              </a:rPr>
              <a:t>Lorentzian shape</a:t>
            </a:r>
            <a:r>
              <a:rPr lang="en-IN" sz="1600" dirty="0">
                <a:latin typeface="Bookman Old Style" panose="020506040505050202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Frequency dependent transition amplitude is given as: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F23283A-9AE4-494E-1866-7374662B9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19" y="3993073"/>
            <a:ext cx="3660308" cy="921855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80ADE52-B3B8-6BD0-E64B-B4A63CC7AD55}"/>
              </a:ext>
            </a:extLst>
          </p:cNvPr>
          <p:cNvGrpSpPr/>
          <p:nvPr/>
        </p:nvGrpSpPr>
        <p:grpSpPr>
          <a:xfrm>
            <a:off x="203375" y="5058951"/>
            <a:ext cx="7309412" cy="1388782"/>
            <a:chOff x="7402574" y="2864801"/>
            <a:chExt cx="7309412" cy="1388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B1984F-36C7-528E-368D-0368068113E6}"/>
                </a:ext>
              </a:extLst>
            </p:cNvPr>
            <p:cNvGrpSpPr/>
            <p:nvPr/>
          </p:nvGrpSpPr>
          <p:grpSpPr>
            <a:xfrm>
              <a:off x="7481206" y="2864801"/>
              <a:ext cx="7145569" cy="672823"/>
              <a:chOff x="8371121" y="1685275"/>
              <a:chExt cx="7145569" cy="672823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63F222E-6ADF-5E2C-4F22-76EB31393EBD}"/>
                  </a:ext>
                </a:extLst>
              </p:cNvPr>
              <p:cNvSpPr txBox="1"/>
              <p:nvPr/>
            </p:nvSpPr>
            <p:spPr>
              <a:xfrm>
                <a:off x="8371121" y="1731994"/>
                <a:ext cx="609985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200" b="1" dirty="0">
                    <a:solidFill>
                      <a:srgbClr val="008000"/>
                    </a:solidFill>
                    <a:latin typeface="Berlin Sans FB" panose="020E0602020502020306" pitchFamily="34" charset="0"/>
                  </a:rPr>
                  <a:t>Total Transition Strength :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B65D749-3D10-1B75-8A30-CBB495303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24663" y="1685275"/>
                <a:ext cx="3292027" cy="672823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</p:pic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741CBED-9D59-96B8-B43E-F53DE44321E3}"/>
                </a:ext>
              </a:extLst>
            </p:cNvPr>
            <p:cNvSpPr txBox="1"/>
            <p:nvPr/>
          </p:nvSpPr>
          <p:spPr>
            <a:xfrm>
              <a:off x="7402574" y="3607252"/>
              <a:ext cx="730941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dirty="0">
                  <a:latin typeface="Berlin Sans FB" panose="020E0602020502020306" pitchFamily="34" charset="0"/>
                </a:rPr>
                <a:t>* Summing over all possible initial and final states</a:t>
              </a:r>
            </a:p>
            <a:p>
              <a:r>
                <a:rPr lang="en-IN" dirty="0">
                  <a:latin typeface="Berlin Sans FB" panose="020E0602020502020306" pitchFamily="34" charset="0"/>
                </a:rPr>
                <a:t>* </a:t>
              </a:r>
              <a:r>
                <a:rPr lang="en-IN" sz="1800" dirty="0">
                  <a:latin typeface="Berlin Sans FB" panose="020E0602020502020306" pitchFamily="34" charset="0"/>
                </a:rPr>
                <a:t>T is proportional to </a:t>
              </a:r>
              <a:r>
                <a:rPr lang="en-IN" sz="1800" b="1" dirty="0">
                  <a:latin typeface="Berlin Sans FB" panose="020E0602020502020306" pitchFamily="34" charset="0"/>
                </a:rPr>
                <a:t>ODMR contrast</a:t>
              </a:r>
              <a:endParaRPr lang="en-IN" dirty="0">
                <a:latin typeface="Berlin Sans FB" panose="020E0602020502020306" pitchFamily="34" charset="0"/>
              </a:endParaRPr>
            </a:p>
          </p:txBody>
        </p:sp>
      </p:grpSp>
      <p:pic>
        <p:nvPicPr>
          <p:cNvPr id="14" name="Picture 13" descr="Definition of lorentzian_spectral_lineshape - Chemistry Dictionary">
            <a:extLst>
              <a:ext uri="{FF2B5EF4-FFF2-40B4-BE49-F238E27FC236}">
                <a16:creationId xmlns:a16="http://schemas.microsoft.com/office/drawing/2014/main" id="{9B40B9DD-A739-4385-18F0-8EA2AE101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5074" y="1438051"/>
            <a:ext cx="3754168" cy="29822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6C888A-CDB9-B63D-3AD1-D3366E218C78}"/>
              </a:ext>
            </a:extLst>
          </p:cNvPr>
          <p:cNvSpPr txBox="1"/>
          <p:nvPr/>
        </p:nvSpPr>
        <p:spPr>
          <a:xfrm>
            <a:off x="6983493" y="4603363"/>
            <a:ext cx="5735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Nature of Gaussian v/s Lorentzian curve</a:t>
            </a:r>
          </a:p>
          <a:p>
            <a:pPr algn="ctr"/>
            <a:endParaRPr lang="en-IN" i="1" dirty="0">
              <a:latin typeface="Bookman Old Style" panose="020506040505050202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79DC43-615D-0177-ECCD-F8D6CAFA96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977" y="1759588"/>
            <a:ext cx="3497883" cy="8839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9F6C21-9021-9C85-30A6-27A0E9DE91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8081" y="1583156"/>
            <a:ext cx="2865368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03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5FC4-F84A-887C-58A7-0BA73914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CDF971F6-CF84-95ED-B41C-23F0CC541FEA}"/>
              </a:ext>
            </a:extLst>
          </p:cNvPr>
          <p:cNvGrpSpPr/>
          <p:nvPr/>
        </p:nvGrpSpPr>
        <p:grpSpPr>
          <a:xfrm>
            <a:off x="1469485" y="1049592"/>
            <a:ext cx="8639714" cy="3947915"/>
            <a:chOff x="1322341" y="913317"/>
            <a:chExt cx="8639714" cy="394791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FDEA15A-AA48-F724-8615-D182A30BF646}"/>
                </a:ext>
              </a:extLst>
            </p:cNvPr>
            <p:cNvGrpSpPr/>
            <p:nvPr/>
          </p:nvGrpSpPr>
          <p:grpSpPr>
            <a:xfrm>
              <a:off x="1322341" y="913317"/>
              <a:ext cx="8639714" cy="3947915"/>
              <a:chOff x="1322341" y="913317"/>
              <a:chExt cx="8639714" cy="3947915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E3B8A9FB-AF43-B795-9090-54826C4F61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22341" y="913317"/>
                <a:ext cx="8639714" cy="3132686"/>
              </a:xfrm>
              <a:prstGeom prst="rect">
                <a:avLst/>
              </a:prstGeom>
            </p:spPr>
          </p:pic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B890EE29-50F4-4034-7E09-93EE998491B2}"/>
                  </a:ext>
                </a:extLst>
              </p:cNvPr>
              <p:cNvGrpSpPr/>
              <p:nvPr/>
            </p:nvGrpSpPr>
            <p:grpSpPr>
              <a:xfrm>
                <a:off x="2400113" y="4214901"/>
                <a:ext cx="7488540" cy="646331"/>
                <a:chOff x="4998788" y="3692600"/>
                <a:chExt cx="7488540" cy="646331"/>
              </a:xfrm>
            </p:grpSpPr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27B5142-B477-3B8C-38B8-3F47F30753AE}"/>
                    </a:ext>
                  </a:extLst>
                </p:cNvPr>
                <p:cNvSpPr txBox="1"/>
                <p:nvPr/>
              </p:nvSpPr>
              <p:spPr>
                <a:xfrm>
                  <a:off x="4998788" y="3692600"/>
                  <a:ext cx="748854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i="1" dirty="0">
                      <a:latin typeface="Bookman Old Style" panose="02050604050505020204" pitchFamily="18" charset="0"/>
                    </a:rPr>
                    <a:t>Mixing of         states due to transverse EF (MW is unpolarized) </a:t>
                  </a:r>
                </a:p>
                <a:p>
                  <a:pPr algn="ctr"/>
                  <a:endParaRPr lang="en-IN" i="1" dirty="0">
                    <a:latin typeface="Bookman Old Style" panose="02050604050505020204" pitchFamily="18" charset="0"/>
                  </a:endParaRPr>
                </a:p>
              </p:txBody>
            </p:sp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0D91195-7EFB-B028-2305-5A14C5630A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85457" y="3721997"/>
                  <a:ext cx="517990" cy="405992"/>
                </a:xfrm>
                <a:prstGeom prst="rect">
                  <a:avLst/>
                </a:prstGeom>
              </p:spPr>
            </p:pic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279489-12BE-D900-BCAF-69B9EB9FF0DA}"/>
                  </a:ext>
                </a:extLst>
              </p:cNvPr>
              <p:cNvSpPr txBox="1"/>
              <p:nvPr/>
            </p:nvSpPr>
            <p:spPr>
              <a:xfrm>
                <a:off x="6391473" y="2022487"/>
                <a:ext cx="5971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>
                    <a:solidFill>
                      <a:srgbClr val="8A0000"/>
                    </a:solidFill>
                    <a:latin typeface="Bookman Old Style" panose="02050604050505020204" pitchFamily="18" charset="0"/>
                  </a:rPr>
                  <a:t>2</a:t>
                </a:r>
                <a:endParaRPr lang="en-IN" i="1" dirty="0">
                  <a:solidFill>
                    <a:srgbClr val="8A0000"/>
                  </a:solidFill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D9FD2CF-086D-5CB2-67E8-E40604677663}"/>
                </a:ext>
              </a:extLst>
            </p:cNvPr>
            <p:cNvSpPr txBox="1"/>
            <p:nvPr/>
          </p:nvSpPr>
          <p:spPr>
            <a:xfrm>
              <a:off x="7294854" y="1809318"/>
              <a:ext cx="9108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latin typeface="Bookman Old Style" panose="02050604050505020204" pitchFamily="18" charset="0"/>
                </a:rPr>
                <a:t>= 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272C02-5AC3-5E03-34B3-028C8B77666A}"/>
                </a:ext>
              </a:extLst>
            </p:cNvPr>
            <p:cNvSpPr txBox="1"/>
            <p:nvPr/>
          </p:nvSpPr>
          <p:spPr>
            <a:xfrm>
              <a:off x="5936027" y="1834094"/>
              <a:ext cx="9108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 err="1">
                  <a:latin typeface="Bookman Old Style" panose="02050604050505020204" pitchFamily="18" charset="0"/>
                </a:rPr>
                <a:t>m</a:t>
              </a:r>
              <a:r>
                <a:rPr lang="en-IN" sz="1400" b="1" baseline="-25000" dirty="0" err="1"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latin typeface="Bookman Old Style" panose="02050604050505020204" pitchFamily="18" charset="0"/>
                </a:rPr>
                <a:t>= 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72928E-523C-D573-F2C0-894066E1C69D}"/>
                </a:ext>
              </a:extLst>
            </p:cNvPr>
            <p:cNvSpPr txBox="1"/>
            <p:nvPr/>
          </p:nvSpPr>
          <p:spPr>
            <a:xfrm>
              <a:off x="5078601" y="1079753"/>
              <a:ext cx="9108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6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600" b="1" baseline="-25000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6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 -1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587CE3-557C-915C-F1EB-00AACBB2D94F}"/>
                </a:ext>
              </a:extLst>
            </p:cNvPr>
            <p:cNvSpPr txBox="1"/>
            <p:nvPr/>
          </p:nvSpPr>
          <p:spPr>
            <a:xfrm>
              <a:off x="8010976" y="1114223"/>
              <a:ext cx="10303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600" b="1" baseline="-25000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600" b="1" baseline="-25000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600" b="1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= +1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9DDC1AF-8983-9288-18A4-62C5C9DAAB80}"/>
                </a:ext>
              </a:extLst>
            </p:cNvPr>
            <p:cNvSpPr txBox="1"/>
            <p:nvPr/>
          </p:nvSpPr>
          <p:spPr>
            <a:xfrm>
              <a:off x="4890440" y="1353536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baseline="-25000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2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 0 to -1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E89F7D7-79CC-2456-0F21-B493A78B3A07}"/>
                </a:ext>
              </a:extLst>
            </p:cNvPr>
            <p:cNvSpPr txBox="1"/>
            <p:nvPr/>
          </p:nvSpPr>
          <p:spPr>
            <a:xfrm>
              <a:off x="8011401" y="1383338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baseline="-25000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200" b="1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= 0 to -1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08A1310-06BA-250C-8D51-FD28F6B2D2BA}"/>
                </a:ext>
              </a:extLst>
            </p:cNvPr>
            <p:cNvSpPr txBox="1"/>
            <p:nvPr/>
          </p:nvSpPr>
          <p:spPr>
            <a:xfrm>
              <a:off x="5902243" y="1600191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ookman Old Style" panose="02050604050505020204" pitchFamily="18" charset="0"/>
                </a:rPr>
                <a:t>= 0 to -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568D35A-2E07-F5FD-EDD3-5AADC191EED3}"/>
                </a:ext>
              </a:extLst>
            </p:cNvPr>
            <p:cNvSpPr txBox="1"/>
            <p:nvPr/>
          </p:nvSpPr>
          <p:spPr>
            <a:xfrm>
              <a:off x="6994146" y="1600990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ookman Old Style" panose="02050604050505020204" pitchFamily="18" charset="0"/>
                </a:rPr>
                <a:t>= 0 to +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102582C-E3D3-DE34-D7C9-665B5728AF8E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DE758C-2687-ED93-6844-6DC701F836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9E8D02-6C0E-7EAA-60EA-DDF12AAEC9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2088AC-B45D-DBDF-37B5-3495B56FC2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B21DC9-A3D6-50BF-0D4F-BC995C77A5BA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Transverse EF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DB7252-0853-5692-CE57-D09778513FF1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792E3E-9C36-CD39-4F6B-C6170B0634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7338" y="4978368"/>
            <a:ext cx="4366638" cy="131075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09EDB72-57EB-FB46-B5CA-FFAE2570F96A}"/>
              </a:ext>
            </a:extLst>
          </p:cNvPr>
          <p:cNvGrpSpPr/>
          <p:nvPr/>
        </p:nvGrpSpPr>
        <p:grpSpPr>
          <a:xfrm>
            <a:off x="208024" y="4978368"/>
            <a:ext cx="7133441" cy="1384995"/>
            <a:chOff x="4798831" y="3677378"/>
            <a:chExt cx="7133441" cy="138499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B2882C-0437-84CB-F24C-A70EF2E6C148}"/>
                </a:ext>
              </a:extLst>
            </p:cNvPr>
            <p:cNvSpPr txBox="1"/>
            <p:nvPr/>
          </p:nvSpPr>
          <p:spPr>
            <a:xfrm>
              <a:off x="4798831" y="3677378"/>
              <a:ext cx="7133441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N" sz="1800" baseline="-250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800" dirty="0">
                  <a:latin typeface="Bookman Old Style" panose="02050604050505020204" pitchFamily="18" charset="0"/>
                </a:rPr>
                <a:t>Transverse EF mixes the degenerate         </a:t>
              </a:r>
              <a:r>
                <a:rPr lang="en-IN" dirty="0">
                  <a:latin typeface="Bookman Old Style" panose="02050604050505020204" pitchFamily="18" charset="0"/>
                </a:rPr>
                <a:t>states with </a:t>
              </a:r>
              <a:r>
                <a:rPr lang="en-IN" dirty="0" err="1">
                  <a:latin typeface="Bookman Old Style" panose="02050604050505020204" pitchFamily="18" charset="0"/>
                </a:rPr>
                <a:t>m</a:t>
              </a:r>
              <a:r>
                <a:rPr lang="en-IN" baseline="-25000" dirty="0" err="1">
                  <a:latin typeface="Bookman Old Style" panose="02050604050505020204" pitchFamily="18" charset="0"/>
                </a:rPr>
                <a:t>I</a:t>
              </a:r>
              <a:r>
                <a:rPr lang="en-IN" baseline="-25000" dirty="0">
                  <a:latin typeface="Bookman Old Style" panose="02050604050505020204" pitchFamily="18" charset="0"/>
                </a:rPr>
                <a:t> </a:t>
              </a:r>
              <a:r>
                <a:rPr lang="en-IN" dirty="0">
                  <a:latin typeface="Bookman Old Style" panose="02050604050505020204" pitchFamily="18" charset="0"/>
                </a:rPr>
                <a:t>= 0</a:t>
              </a:r>
            </a:p>
            <a:p>
              <a:r>
                <a:rPr lang="en-IN" dirty="0">
                  <a:latin typeface="Bookman Old Style" panose="02050604050505020204" pitchFamily="18" charset="0"/>
                </a:rPr>
                <a:t>         </a:t>
              </a:r>
              <a:endParaRPr lang="en-IN" sz="18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800" dirty="0">
                  <a:latin typeface="Bookman Old Style" panose="02050604050505020204" pitchFamily="18" charset="0"/>
                </a:rPr>
                <a:t>The mixed states are also split by an amount           </a:t>
              </a:r>
              <a:r>
                <a:rPr lang="en-IN" dirty="0">
                  <a:latin typeface="Bookman Old Style" panose="02050604050505020204" pitchFamily="18" charset="0"/>
                </a:rPr>
                <a:t>and their spins point in the x-y plane.</a:t>
              </a:r>
              <a:endParaRPr lang="en-IN" sz="1800" dirty="0">
                <a:latin typeface="Bookman Old Style" panose="02050604050505020204" pitchFamily="18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1C0B626-23BC-F90A-8522-9F9F01868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70845" t="85102" r="17986" b="4859"/>
            <a:stretch>
              <a:fillRect/>
            </a:stretch>
          </p:blipFill>
          <p:spPr>
            <a:xfrm>
              <a:off x="10263674" y="4491992"/>
              <a:ext cx="727937" cy="24389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B8E414C-A2C0-5FD7-8933-6D1441ED1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05612" y="3864320"/>
              <a:ext cx="517990" cy="405992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BA1C4BB-7A0E-4741-2CD8-C7AAA2A19D9D}"/>
              </a:ext>
            </a:extLst>
          </p:cNvPr>
          <p:cNvGrpSpPr/>
          <p:nvPr/>
        </p:nvGrpSpPr>
        <p:grpSpPr>
          <a:xfrm>
            <a:off x="8149335" y="1764009"/>
            <a:ext cx="1442918" cy="564030"/>
            <a:chOff x="10611326" y="1459033"/>
            <a:chExt cx="1442918" cy="56403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F36FE0-080D-FF3D-A283-EA4813A16F04}"/>
                </a:ext>
              </a:extLst>
            </p:cNvPr>
            <p:cNvSpPr txBox="1"/>
            <p:nvPr/>
          </p:nvSpPr>
          <p:spPr>
            <a:xfrm>
              <a:off x="10611326" y="1459033"/>
              <a:ext cx="9108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4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 -1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288E3B-4A35-E01E-FA26-7EE56E90878E}"/>
                </a:ext>
              </a:extLst>
            </p:cNvPr>
            <p:cNvSpPr txBox="1"/>
            <p:nvPr/>
          </p:nvSpPr>
          <p:spPr>
            <a:xfrm>
              <a:off x="10615022" y="1761453"/>
              <a:ext cx="14392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1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100" b="1" baseline="-25000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1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 0 to +1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8BFEA70-702E-1B17-C084-28E33456F228}"/>
              </a:ext>
            </a:extLst>
          </p:cNvPr>
          <p:cNvGrpSpPr/>
          <p:nvPr/>
        </p:nvGrpSpPr>
        <p:grpSpPr>
          <a:xfrm>
            <a:off x="5054005" y="1728041"/>
            <a:ext cx="1439222" cy="557436"/>
            <a:chOff x="10655835" y="2457190"/>
            <a:chExt cx="1439222" cy="55743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8305EC-3339-75E0-13AC-EDB8F1988762}"/>
                </a:ext>
              </a:extLst>
            </p:cNvPr>
            <p:cNvSpPr txBox="1"/>
            <p:nvPr/>
          </p:nvSpPr>
          <p:spPr>
            <a:xfrm>
              <a:off x="10655835" y="2457190"/>
              <a:ext cx="10303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400" b="1" baseline="-25000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= +1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C6C82B-8C32-D611-41B2-FB9F3D3FD265}"/>
                </a:ext>
              </a:extLst>
            </p:cNvPr>
            <p:cNvSpPr txBox="1"/>
            <p:nvPr/>
          </p:nvSpPr>
          <p:spPr>
            <a:xfrm>
              <a:off x="10655835" y="2753016"/>
              <a:ext cx="14392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b="1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100" b="1" baseline="-25000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100" b="1" baseline="-25000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100" b="1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= 0 to +1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5764B2-C594-B097-EB9D-205CB6D9A7B2}"/>
                  </a:ext>
                </a:extLst>
              </p:cNvPr>
              <p:cNvSpPr txBox="1"/>
              <p:nvPr/>
            </p:nvSpPr>
            <p:spPr>
              <a:xfrm>
                <a:off x="-190958" y="2832540"/>
                <a:ext cx="61022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𝛟</m:t>
                          </m:r>
                        </m:e>
                        <m:sub>
                          <m:r>
                            <a:rPr lang="en-IN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en-IN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5764B2-C594-B097-EB9D-205CB6D9A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958" y="2832540"/>
                <a:ext cx="6102220" cy="338554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2C129D7-4F22-CD7C-D9F5-52E4EFC49231}"/>
                  </a:ext>
                </a:extLst>
              </p14:cNvPr>
              <p14:cNvContentPartPr/>
              <p14:nvPr/>
            </p14:nvContentPartPr>
            <p14:xfrm>
              <a:off x="2215825" y="2641631"/>
              <a:ext cx="689333" cy="254153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2C129D7-4F22-CD7C-D9F5-52E4EFC492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06821" y="2632618"/>
                <a:ext cx="706981" cy="2718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8666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1155-B50F-71C5-5E56-0D326CE5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D91C59-C7C7-32E5-381B-4522F097BCEC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A6752F-9C30-0628-7A86-5D874485B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5ED2D6-53DA-52AE-950E-E333BC2D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CACE13-6EA6-BC4E-8893-505CD1B8C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FA060D-CBEA-79A4-1A60-A59F78378449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008000"/>
                </a:solidFill>
                <a:latin typeface="SF Atarian System Extended" panose="00000400000000000000" pitchFamily="2" charset="0"/>
              </a:rPr>
              <a:t>Axial And Transverse EF</a:t>
            </a:r>
            <a:endParaRPr lang="en-IN" sz="4000" b="1" dirty="0">
              <a:solidFill>
                <a:srgbClr val="008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46F811-1DC0-2CA0-B79E-693E77BC042F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J </a:t>
            </a:r>
            <a:r>
              <a:rPr lang="en-IN" sz="1400" dirty="0" err="1">
                <a:latin typeface="Berlin Sans FB" panose="020E0602020502020306" pitchFamily="34" charset="0"/>
              </a:rPr>
              <a:t>Kolbl</a:t>
            </a:r>
            <a:r>
              <a:rPr lang="en-IN" sz="1400" dirty="0">
                <a:latin typeface="Berlin Sans FB" panose="020E0602020502020306" pitchFamily="34" charset="0"/>
              </a:rPr>
              <a:t> et. al., New J. Physics, 2019, 113039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C31B86-1AE2-1391-5109-14A25C90F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338" y="5140418"/>
            <a:ext cx="4366638" cy="131075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8609CA76-78D7-7F47-C8C6-F3730496291C}"/>
              </a:ext>
            </a:extLst>
          </p:cNvPr>
          <p:cNvGrpSpPr/>
          <p:nvPr/>
        </p:nvGrpSpPr>
        <p:grpSpPr>
          <a:xfrm>
            <a:off x="208024" y="4978368"/>
            <a:ext cx="7133441" cy="1384995"/>
            <a:chOff x="4798831" y="3677378"/>
            <a:chExt cx="7133441" cy="138499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18BDA2-3C79-98C8-8AAF-EE895FAF6A2C}"/>
                </a:ext>
              </a:extLst>
            </p:cNvPr>
            <p:cNvSpPr txBox="1"/>
            <p:nvPr/>
          </p:nvSpPr>
          <p:spPr>
            <a:xfrm>
              <a:off x="4798831" y="3677378"/>
              <a:ext cx="7133441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N" sz="1800" baseline="-250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800" dirty="0">
                  <a:latin typeface="Bookman Old Style" panose="02050604050505020204" pitchFamily="18" charset="0"/>
                </a:rPr>
                <a:t>Transverse EF mixes the degenerate         </a:t>
              </a:r>
              <a:r>
                <a:rPr lang="en-IN" dirty="0">
                  <a:latin typeface="Bookman Old Style" panose="02050604050505020204" pitchFamily="18" charset="0"/>
                </a:rPr>
                <a:t>states with </a:t>
              </a:r>
              <a:r>
                <a:rPr lang="en-IN" dirty="0" err="1">
                  <a:latin typeface="Bookman Old Style" panose="02050604050505020204" pitchFamily="18" charset="0"/>
                </a:rPr>
                <a:t>m</a:t>
              </a:r>
              <a:r>
                <a:rPr lang="en-IN" baseline="-25000" dirty="0" err="1">
                  <a:latin typeface="Bookman Old Style" panose="02050604050505020204" pitchFamily="18" charset="0"/>
                </a:rPr>
                <a:t>I</a:t>
              </a:r>
              <a:r>
                <a:rPr lang="en-IN" baseline="-25000" dirty="0">
                  <a:latin typeface="Bookman Old Style" panose="02050604050505020204" pitchFamily="18" charset="0"/>
                </a:rPr>
                <a:t> </a:t>
              </a:r>
              <a:r>
                <a:rPr lang="en-IN" dirty="0">
                  <a:latin typeface="Bookman Old Style" panose="02050604050505020204" pitchFamily="18" charset="0"/>
                </a:rPr>
                <a:t>= 0</a:t>
              </a:r>
            </a:p>
            <a:p>
              <a:r>
                <a:rPr lang="en-IN" dirty="0">
                  <a:latin typeface="Bookman Old Style" panose="02050604050505020204" pitchFamily="18" charset="0"/>
                </a:rPr>
                <a:t>         </a:t>
              </a:r>
              <a:endParaRPr lang="en-IN" sz="18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800" dirty="0">
                  <a:latin typeface="Bookman Old Style" panose="02050604050505020204" pitchFamily="18" charset="0"/>
                </a:rPr>
                <a:t>The mixed states are also split by an amount           </a:t>
              </a:r>
              <a:r>
                <a:rPr lang="en-IN" dirty="0">
                  <a:latin typeface="Bookman Old Style" panose="02050604050505020204" pitchFamily="18" charset="0"/>
                </a:rPr>
                <a:t>and their spins point in the x-y plane.</a:t>
              </a:r>
              <a:endParaRPr lang="en-IN" sz="1800" dirty="0">
                <a:latin typeface="Bookman Old Style" panose="02050604050505020204" pitchFamily="18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2739627-0AD7-11FD-DBAD-3FC2C8710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05612" y="3864320"/>
              <a:ext cx="517990" cy="40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330516-EF3D-B62D-9A78-6E04AB0C4F92}"/>
              </a:ext>
            </a:extLst>
          </p:cNvPr>
          <p:cNvGrpSpPr/>
          <p:nvPr/>
        </p:nvGrpSpPr>
        <p:grpSpPr>
          <a:xfrm>
            <a:off x="6952826" y="1189706"/>
            <a:ext cx="5120920" cy="3299746"/>
            <a:chOff x="6747777" y="1352919"/>
            <a:chExt cx="5120920" cy="3299746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9E5ADB2-E3A7-A3CF-84EF-0752A8595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02990" y="1352919"/>
              <a:ext cx="4465707" cy="3299746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2996B2C-282E-CA12-0857-8F6890DDC0FD}"/>
                </a:ext>
              </a:extLst>
            </p:cNvPr>
            <p:cNvGrpSpPr/>
            <p:nvPr/>
          </p:nvGrpSpPr>
          <p:grpSpPr>
            <a:xfrm>
              <a:off x="6747777" y="1950720"/>
              <a:ext cx="1355205" cy="2633472"/>
              <a:chOff x="6747777" y="1950720"/>
              <a:chExt cx="1355205" cy="263347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4DFD79-E5DF-CFBB-63F5-66BA66DDAF25}"/>
                  </a:ext>
                </a:extLst>
              </p:cNvPr>
              <p:cNvSpPr/>
              <p:nvPr/>
            </p:nvSpPr>
            <p:spPr>
              <a:xfrm>
                <a:off x="7473696" y="1950720"/>
                <a:ext cx="615696" cy="26334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6BAC7645-A181-4EF5-1DBB-94EAF5DBF1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69554" t="16230" r="1102" b="74244"/>
              <a:stretch>
                <a:fillRect/>
              </a:stretch>
            </p:blipFill>
            <p:spPr>
              <a:xfrm>
                <a:off x="6747777" y="1975638"/>
                <a:ext cx="1310425" cy="314351"/>
              </a:xfrm>
              <a:prstGeom prst="rect">
                <a:avLst/>
              </a:prstGeom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ACC35691-1FD4-B0F7-40D9-D6C0C0700E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70452" t="46550" b="45506"/>
              <a:stretch>
                <a:fillRect/>
              </a:stretch>
            </p:blipFill>
            <p:spPr>
              <a:xfrm>
                <a:off x="6783449" y="2949617"/>
                <a:ext cx="1319533" cy="262128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60F9F2D9-E56E-D691-A4CD-71795A9881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70611" t="88242" r="7820" b="3131"/>
              <a:stretch>
                <a:fillRect/>
              </a:stretch>
            </p:blipFill>
            <p:spPr>
              <a:xfrm>
                <a:off x="7095034" y="4250857"/>
                <a:ext cx="963168" cy="284651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4F126732-0BEB-C2FB-9E32-2A16F35977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27520" y="2507016"/>
                <a:ext cx="1223390" cy="243861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3949602-468E-3799-B7D2-B185A3D1C28E}"/>
              </a:ext>
            </a:extLst>
          </p:cNvPr>
          <p:cNvSpPr txBox="1"/>
          <p:nvPr/>
        </p:nvSpPr>
        <p:spPr>
          <a:xfrm>
            <a:off x="6503431" y="4554738"/>
            <a:ext cx="6071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i="1" dirty="0">
                <a:latin typeface="Bookman Old Style" panose="02050604050505020204" pitchFamily="18" charset="0"/>
              </a:rPr>
              <a:t>Energy Level Diagram of NV ground state in absence of MF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D945E4-2B57-43FA-65D9-F0048278B2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307" y="1227716"/>
            <a:ext cx="1790855" cy="281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729134-DAAE-FF0F-90AA-5D26DC7198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969" y="1703432"/>
            <a:ext cx="800169" cy="3124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205D28-756A-D0D7-8119-966E834F4C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065" y="2214461"/>
            <a:ext cx="1806097" cy="32006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43D91C-8269-E935-6663-BDBBF7506B0E}"/>
              </a:ext>
            </a:extLst>
          </p:cNvPr>
          <p:cNvSpPr txBox="1"/>
          <p:nvPr/>
        </p:nvSpPr>
        <p:spPr>
          <a:xfrm>
            <a:off x="2279635" y="1218114"/>
            <a:ext cx="31747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: Axial hyperfine parameter</a:t>
            </a:r>
            <a:endParaRPr lang="en-IN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A7F5E-2CB1-E200-4068-725C10DA3405}"/>
              </a:ext>
            </a:extLst>
          </p:cNvPr>
          <p:cNvSpPr txBox="1"/>
          <p:nvPr/>
        </p:nvSpPr>
        <p:spPr>
          <a:xfrm>
            <a:off x="1334573" y="1662857"/>
            <a:ext cx="31747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: Axial/Parallel EF</a:t>
            </a:r>
            <a:endParaRPr lang="en-IN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D85115-3FED-0967-FDC4-B2F346D48D57}"/>
              </a:ext>
            </a:extLst>
          </p:cNvPr>
          <p:cNvSpPr txBox="1"/>
          <p:nvPr/>
        </p:nvSpPr>
        <p:spPr>
          <a:xfrm>
            <a:off x="2296386" y="2226907"/>
            <a:ext cx="3460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: Transverse/Perpendicular EF</a:t>
            </a:r>
            <a:endParaRPr lang="en-IN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CC019F7-6BC5-EF26-9B34-ADDFCA5FBB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0483" y="5766320"/>
            <a:ext cx="735561" cy="31657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4697E0F-5652-8F1D-515E-5D3FA4CF360F}"/>
              </a:ext>
            </a:extLst>
          </p:cNvPr>
          <p:cNvGrpSpPr/>
          <p:nvPr/>
        </p:nvGrpSpPr>
        <p:grpSpPr>
          <a:xfrm>
            <a:off x="208023" y="3271652"/>
            <a:ext cx="7133441" cy="1938992"/>
            <a:chOff x="146991" y="3014027"/>
            <a:chExt cx="7133441" cy="193899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58268A-D7FC-870F-3DA5-B8B737DBCB87}"/>
                </a:ext>
              </a:extLst>
            </p:cNvPr>
            <p:cNvSpPr txBox="1"/>
            <p:nvPr/>
          </p:nvSpPr>
          <p:spPr>
            <a:xfrm>
              <a:off x="146991" y="3014027"/>
              <a:ext cx="7133441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N" sz="1800" baseline="-250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800" dirty="0">
                  <a:latin typeface="Bookman Old Style" panose="02050604050505020204" pitchFamily="18" charset="0"/>
                </a:rPr>
                <a:t>Axial EF causes an equal amount of shift     in the </a:t>
              </a:r>
              <a:r>
                <a:rPr lang="en-IN" sz="1800" dirty="0" err="1">
                  <a:latin typeface="Bookman Old Style" panose="02050604050505020204" pitchFamily="18" charset="0"/>
                </a:rPr>
                <a:t>m</a:t>
              </a:r>
              <a:r>
                <a:rPr lang="en-IN" sz="1800" baseline="-25000" dirty="0" err="1">
                  <a:latin typeface="Bookman Old Style" panose="02050604050505020204" pitchFamily="18" charset="0"/>
                </a:rPr>
                <a:t>s</a:t>
              </a:r>
              <a:r>
                <a:rPr lang="en-IN" sz="1800" dirty="0">
                  <a:latin typeface="Bookman Old Style" panose="02050604050505020204" pitchFamily="18" charset="0"/>
                </a:rPr>
                <a:t>=+/-1 states </a:t>
              </a:r>
              <a:r>
                <a:rPr lang="en-IN" sz="1800" dirty="0" err="1">
                  <a:latin typeface="Bookman Old Style" panose="02050604050505020204" pitchFamily="18" charset="0"/>
                </a:rPr>
                <a:t>wrt</a:t>
              </a:r>
              <a:r>
                <a:rPr lang="en-IN" sz="1800" dirty="0">
                  <a:latin typeface="Bookman Old Style" panose="02050604050505020204" pitchFamily="18" charset="0"/>
                </a:rPr>
                <a:t> </a:t>
              </a:r>
              <a:r>
                <a:rPr lang="en-IN" sz="1800" dirty="0" err="1">
                  <a:latin typeface="Bookman Old Style" panose="02050604050505020204" pitchFamily="18" charset="0"/>
                </a:rPr>
                <a:t>m</a:t>
              </a:r>
              <a:r>
                <a:rPr lang="en-IN" sz="1800" baseline="-25000" dirty="0" err="1">
                  <a:latin typeface="Bookman Old Style" panose="02050604050505020204" pitchFamily="18" charset="0"/>
                </a:rPr>
                <a:t>s</a:t>
              </a:r>
              <a:r>
                <a:rPr lang="en-IN" sz="1800" dirty="0">
                  <a:latin typeface="Bookman Old Style" panose="02050604050505020204" pitchFamily="18" charset="0"/>
                </a:rPr>
                <a:t>=0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800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dirty="0">
                  <a:latin typeface="Bookman Old Style" panose="02050604050505020204" pitchFamily="18" charset="0"/>
                </a:rPr>
                <a:t>The nuclear quadrupole interaction is not taken into account here.</a:t>
              </a:r>
            </a:p>
            <a:p>
              <a:r>
                <a:rPr lang="en-IN" dirty="0">
                  <a:latin typeface="Bookman Old Style" panose="02050604050505020204" pitchFamily="18" charset="0"/>
                </a:rPr>
                <a:t>         </a:t>
              </a:r>
              <a:endParaRPr lang="en-IN" sz="1800" dirty="0">
                <a:latin typeface="Bookman Old Style" panose="02050604050505020204" pitchFamily="18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534C388-6883-B473-B248-4D5AB1B55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64069" b="-13074"/>
            <a:stretch>
              <a:fillRect/>
            </a:stretch>
          </p:blipFill>
          <p:spPr>
            <a:xfrm>
              <a:off x="5180237" y="3241643"/>
              <a:ext cx="287507" cy="353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4188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88F5-6B59-19A8-DAC6-DCA9FA66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7A6152-B072-423F-EC3E-54D1129774FC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ED9CB1-7F79-D413-3335-FB46BBE8F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3EE0BB-1AEB-6012-8B15-35BDE0930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EC2DC9-3500-B12C-2EB8-55154BF34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993FD9-3554-0405-A1A6-479D4AC3072D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Transition Strength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A78BC8-1CF3-2BDA-B0BA-11F095FE3239}"/>
              </a:ext>
            </a:extLst>
          </p:cNvPr>
          <p:cNvSpPr txBox="1"/>
          <p:nvPr/>
        </p:nvSpPr>
        <p:spPr>
          <a:xfrm>
            <a:off x="6363466" y="4461644"/>
            <a:ext cx="6071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Transition strength spectrum at B = 18G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605E24-A955-747E-2397-2D38D836D128}"/>
              </a:ext>
            </a:extLst>
          </p:cNvPr>
          <p:cNvGrpSpPr/>
          <p:nvPr/>
        </p:nvGrpSpPr>
        <p:grpSpPr>
          <a:xfrm>
            <a:off x="627551" y="1751121"/>
            <a:ext cx="5735915" cy="2648478"/>
            <a:chOff x="6433961" y="4049749"/>
            <a:chExt cx="5735915" cy="264847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B0E8AA2-0D37-7F6A-583B-A51778194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70449" y="4049749"/>
              <a:ext cx="4462938" cy="1487646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13B9D2A-8ED3-A669-CC00-CD7B63C3161C}"/>
                </a:ext>
              </a:extLst>
            </p:cNvPr>
            <p:cNvSpPr txBox="1"/>
            <p:nvPr/>
          </p:nvSpPr>
          <p:spPr>
            <a:xfrm>
              <a:off x="6433961" y="5774897"/>
              <a:ext cx="573591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latin typeface="Bookman Old Style" panose="02050604050505020204" pitchFamily="18" charset="0"/>
                </a:rPr>
                <a:t>4 possible NV orientations in diamond crystal lattice</a:t>
              </a:r>
            </a:p>
            <a:p>
              <a:pPr algn="ctr"/>
              <a:endParaRPr lang="en-IN" i="1" dirty="0">
                <a:latin typeface="Bookman Old Style" panose="02050604050505020204" pitchFamily="18" charset="0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37032902-73DB-4F84-32FD-099327EEB2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769" y="5307853"/>
            <a:ext cx="8647445" cy="369331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5DEE19B0-E2DF-D5B9-9B4B-A38696509231}"/>
              </a:ext>
            </a:extLst>
          </p:cNvPr>
          <p:cNvGrpSpPr/>
          <p:nvPr/>
        </p:nvGrpSpPr>
        <p:grpSpPr>
          <a:xfrm>
            <a:off x="6521011" y="1319745"/>
            <a:ext cx="5401363" cy="3037672"/>
            <a:chOff x="6586464" y="1154442"/>
            <a:chExt cx="5401363" cy="303767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3F0057E-1542-34F6-6D56-90445B068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86464" y="1571838"/>
              <a:ext cx="5401363" cy="2620276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685A10C-E22D-7B36-50F9-7192C31193F9}"/>
                </a:ext>
              </a:extLst>
            </p:cNvPr>
            <p:cNvCxnSpPr/>
            <p:nvPr/>
          </p:nvCxnSpPr>
          <p:spPr>
            <a:xfrm>
              <a:off x="7053937" y="1539551"/>
              <a:ext cx="241662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208A00B-E6D8-4729-9E89-5650F08B0F5B}"/>
                </a:ext>
              </a:extLst>
            </p:cNvPr>
            <p:cNvCxnSpPr/>
            <p:nvPr/>
          </p:nvCxnSpPr>
          <p:spPr>
            <a:xfrm>
              <a:off x="9483008" y="1542663"/>
              <a:ext cx="241662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D898CF-6FF8-9DC3-8139-FDD8FD40652B}"/>
                </a:ext>
              </a:extLst>
            </p:cNvPr>
            <p:cNvSpPr txBox="1"/>
            <p:nvPr/>
          </p:nvSpPr>
          <p:spPr>
            <a:xfrm>
              <a:off x="7717299" y="1183617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rgbClr val="FF0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rgbClr val="FF000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baseline="-25000" dirty="0">
                  <a:solidFill>
                    <a:srgbClr val="FF000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200" b="1" dirty="0">
                  <a:solidFill>
                    <a:srgbClr val="FF0000"/>
                  </a:solidFill>
                  <a:latin typeface="Bookman Old Style" panose="02050604050505020204" pitchFamily="18" charset="0"/>
                </a:rPr>
                <a:t>= 0 to -1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FB8756-85F0-DC36-4544-92CCF5A5B6BA}"/>
                </a:ext>
              </a:extLst>
            </p:cNvPr>
            <p:cNvSpPr txBox="1"/>
            <p:nvPr/>
          </p:nvSpPr>
          <p:spPr>
            <a:xfrm>
              <a:off x="10123056" y="1154442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rgbClr val="FF0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rgbClr val="FF000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baseline="-25000" dirty="0">
                  <a:solidFill>
                    <a:srgbClr val="FF000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200" b="1" dirty="0">
                  <a:solidFill>
                    <a:srgbClr val="FF0000"/>
                  </a:solidFill>
                  <a:latin typeface="Bookman Old Style" panose="02050604050505020204" pitchFamily="18" charset="0"/>
                </a:rPr>
                <a:t>= 0 to +1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3124410-BD7E-C823-6583-3C02D56C9E9C}"/>
                </a:ext>
              </a:extLst>
            </p:cNvPr>
            <p:cNvCxnSpPr>
              <a:cxnSpLocks/>
            </p:cNvCxnSpPr>
            <p:nvPr/>
          </p:nvCxnSpPr>
          <p:spPr>
            <a:xfrm>
              <a:off x="9476080" y="1564074"/>
              <a:ext cx="6928" cy="2255164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2BF3055-113E-461E-658A-3A5557962FA6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481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B8DE8-28B2-34DE-6532-8D151F53E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E9DCB0-1256-88B5-FAA9-2C1E4595940F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3D1340-869F-A376-6124-CA90000E6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40D809-BA9C-682B-FC51-39F420ECE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68368E-D67A-DB03-942D-207071BEEF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3A3E3B-0B5F-6BCB-6850-685152552524}"/>
              </a:ext>
            </a:extLst>
          </p:cNvPr>
          <p:cNvSpPr txBox="1"/>
          <p:nvPr/>
        </p:nvSpPr>
        <p:spPr>
          <a:xfrm>
            <a:off x="2082087" y="841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7030A0"/>
                </a:solidFill>
                <a:latin typeface="SF Atarian System Extended" panose="00000400000000000000" pitchFamily="2" charset="0"/>
              </a:rPr>
              <a:t>Mw Polarization</a:t>
            </a:r>
            <a:endParaRPr lang="en-IN" sz="4000" b="1" dirty="0">
              <a:solidFill>
                <a:srgbClr val="7030A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1ED57-6795-F06E-8913-7D440B46213F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03B317-31C0-E9B2-0374-995721583F35}"/>
                  </a:ext>
                </a:extLst>
              </p:cNvPr>
              <p:cNvSpPr txBox="1"/>
              <p:nvPr/>
            </p:nvSpPr>
            <p:spPr>
              <a:xfrm>
                <a:off x="561339" y="5514639"/>
                <a:ext cx="11244581" cy="923330"/>
              </a:xfrm>
              <a:prstGeom prst="rect">
                <a:avLst/>
              </a:prstGeom>
              <a:noFill/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wrap="square">
                <a:spAutoFit/>
              </a:bodyPr>
              <a:lstStyle/>
              <a:p>
                <a:r>
                  <a:rPr lang="en-IN" dirty="0" err="1">
                    <a:solidFill>
                      <a:srgbClr val="0F1115"/>
                    </a:solidFill>
                    <a:effectLst/>
                    <a:latin typeface="Bookman Old Style" panose="02050604050505020204" pitchFamily="18" charset="0"/>
                  </a:rPr>
                  <a:t>m</a:t>
                </a:r>
                <a:r>
                  <a:rPr lang="en-IN" baseline="-25000" dirty="0" err="1">
                    <a:solidFill>
                      <a:srgbClr val="0F1115"/>
                    </a:solidFill>
                    <a:latin typeface="Bookman Old Style" panose="02050604050505020204" pitchFamily="18" charset="0"/>
                  </a:rPr>
                  <a:t>I</a:t>
                </a:r>
                <a:r>
                  <a:rPr lang="en-IN" dirty="0">
                    <a:solidFill>
                      <a:srgbClr val="0F1115"/>
                    </a:solidFill>
                    <a:effectLst/>
                    <a:latin typeface="Bookman Old Style" panose="02050604050505020204" pitchFamily="18" charset="0"/>
                  </a:rPr>
                  <a:t>​ = 0 states (inner hyperfine states, indicated by black arrows) the transition amplitude at lower frequency is completely suppressed for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MW</m:t>
                        </m:r>
                      </m:sub>
                    </m:sSub>
                    <m:r>
                      <a:rPr lang="en-IN" b="0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>
                    <a:solidFill>
                      <a:srgbClr val="00B050"/>
                    </a:solidFill>
                    <a:effectLst/>
                    <a:latin typeface="Bookman Old Style" panose="02050604050505020204" pitchFamily="18" charset="0"/>
                  </a:rPr>
                  <a:t> </a:t>
                </a:r>
                <a:r>
                  <a:rPr lang="en-IN" dirty="0">
                    <a:solidFill>
                      <a:srgbClr val="0F1115"/>
                    </a:solidFill>
                    <a:effectLst/>
                    <a:latin typeface="Bookman Old Style" panose="02050604050505020204" pitchFamily="18" charset="0"/>
                  </a:rPr>
                  <a:t>and the upper frequency transition has maximal amplitude </a:t>
                </a:r>
                <a:r>
                  <a:rPr lang="en-IN" dirty="0">
                    <a:latin typeface="Bookman Old Style" panose="02050604050505020204" pitchFamily="18" charset="0"/>
                  </a:rPr>
                  <a:t>whereas it is the opposite for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MW</m:t>
                        </m:r>
                      </m:sub>
                    </m:sSub>
                    <m:r>
                      <a:rPr lang="en-IN" b="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b="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IN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03B317-31C0-E9B2-0374-995721583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39" y="5514639"/>
                <a:ext cx="11244581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8BE1E65-2188-FAE5-3237-6DAB652DF72D}"/>
              </a:ext>
            </a:extLst>
          </p:cNvPr>
          <p:cNvSpPr txBox="1"/>
          <p:nvPr/>
        </p:nvSpPr>
        <p:spPr>
          <a:xfrm>
            <a:off x="2378809" y="5038737"/>
            <a:ext cx="7759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Bookman Old Style" panose="02050604050505020204" pitchFamily="18" charset="0"/>
              </a:rPr>
              <a:t>Transition Strength spectrum for two different MW linear polarizations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681521-0F2C-DAAF-0633-327D6004A5D4}"/>
              </a:ext>
            </a:extLst>
          </p:cNvPr>
          <p:cNvGrpSpPr/>
          <p:nvPr/>
        </p:nvGrpSpPr>
        <p:grpSpPr>
          <a:xfrm>
            <a:off x="374890" y="1261365"/>
            <a:ext cx="11111804" cy="3723540"/>
            <a:chOff x="-200908" y="728761"/>
            <a:chExt cx="11111804" cy="37235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40713B-BF17-4892-FB3A-B02CCF60E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1729" y="916125"/>
              <a:ext cx="10019167" cy="35361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BFA12FB-5561-6959-DEA0-79463F2E32C5}"/>
                    </a:ext>
                  </a:extLst>
                </p:cNvPr>
                <p:cNvSpPr txBox="1"/>
                <p:nvPr/>
              </p:nvSpPr>
              <p:spPr>
                <a:xfrm>
                  <a:off x="-200908" y="3367821"/>
                  <a:ext cx="610222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𝛟</m:t>
                            </m:r>
                          </m:e>
                          <m:sub>
                            <m:r>
                              <a:rPr lang="en-IN" sz="16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𝐄</m:t>
                            </m:r>
                          </m:sub>
                        </m:sSub>
                        <m:r>
                          <a:rPr lang="en-IN" sz="16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6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16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16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IN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BFA12FB-5561-6959-DEA0-79463F2E3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00908" y="3367821"/>
                  <a:ext cx="6102220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17E99E-DFB7-0D7F-1F92-A61856CC8D95}"/>
                </a:ext>
              </a:extLst>
            </p:cNvPr>
            <p:cNvSpPr txBox="1"/>
            <p:nvPr/>
          </p:nvSpPr>
          <p:spPr>
            <a:xfrm>
              <a:off x="6533182" y="944946"/>
              <a:ext cx="9108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 err="1">
                  <a:solidFill>
                    <a:srgbClr val="C00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400" b="1" baseline="-25000" dirty="0" err="1">
                  <a:solidFill>
                    <a:srgbClr val="C0000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= 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A7C5148-6E4B-0748-135C-EA527C8D8B0D}"/>
                </a:ext>
              </a:extLst>
            </p:cNvPr>
            <p:cNvSpPr txBox="1"/>
            <p:nvPr/>
          </p:nvSpPr>
          <p:spPr>
            <a:xfrm>
              <a:off x="7345604" y="930848"/>
              <a:ext cx="9108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400" b="1" baseline="-25000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= 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15E1470-ACD2-F1A5-B35C-5346B066F2A9}"/>
                </a:ext>
              </a:extLst>
            </p:cNvPr>
            <p:cNvSpPr txBox="1"/>
            <p:nvPr/>
          </p:nvSpPr>
          <p:spPr>
            <a:xfrm>
              <a:off x="5601123" y="1005105"/>
              <a:ext cx="9108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4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 -1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47409C-C8CC-8070-A0DB-EDDE2803B687}"/>
                </a:ext>
              </a:extLst>
            </p:cNvPr>
            <p:cNvSpPr txBox="1"/>
            <p:nvPr/>
          </p:nvSpPr>
          <p:spPr>
            <a:xfrm>
              <a:off x="8122948" y="983592"/>
              <a:ext cx="10303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4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 +1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E772DA-435C-C9BD-A234-83D03A3724A2}"/>
                    </a:ext>
                  </a:extLst>
                </p:cNvPr>
                <p:cNvSpPr txBox="1"/>
                <p:nvPr/>
              </p:nvSpPr>
              <p:spPr>
                <a:xfrm>
                  <a:off x="8850163" y="3252288"/>
                  <a:ext cx="127005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𝛟</m:t>
                          </m:r>
                        </m:e>
                        <m:sub>
                          <m:r>
                            <a:rPr lang="en-IN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𝐌𝐖</m:t>
                          </m:r>
                        </m:sub>
                      </m:sSub>
                      <m:r>
                        <a:rPr lang="en-IN" b="1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IN" b="1" dirty="0">
                      <a:solidFill>
                        <a:srgbClr val="00B050"/>
                      </a:solidFill>
                      <a:effectLst/>
                      <a:latin typeface="Bookman Old Style" panose="02050604050505020204" pitchFamily="18" charset="0"/>
                    </a:rPr>
                    <a:t> </a:t>
                  </a:r>
                  <a:endParaRPr lang="en-IN" b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E772DA-435C-C9BD-A234-83D03A372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0163" y="3252288"/>
                  <a:ext cx="127005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957" b="-1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21E9F1-CBDB-A403-9896-1022446C0EAE}"/>
                    </a:ext>
                  </a:extLst>
                </p:cNvPr>
                <p:cNvSpPr txBox="1"/>
                <p:nvPr/>
              </p:nvSpPr>
              <p:spPr>
                <a:xfrm>
                  <a:off x="4503800" y="3252288"/>
                  <a:ext cx="170516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𝛟</m:t>
                            </m:r>
                          </m:e>
                          <m:sub>
                            <m:r>
                              <a:rPr lang="en-IN" b="1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𝐌𝐖</m:t>
                            </m:r>
                          </m:sub>
                        </m:sSub>
                        <m:r>
                          <a:rPr lang="en-IN" b="1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1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  <m:r>
                          <a:rPr lang="en-IN" b="1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b="1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IN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21E9F1-CBDB-A403-9896-1022446C0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800" y="3252288"/>
                  <a:ext cx="1705169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2FD9D3-77AC-44B4-B64F-3B92063F765F}"/>
                </a:ext>
              </a:extLst>
            </p:cNvPr>
            <p:cNvSpPr txBox="1"/>
            <p:nvPr/>
          </p:nvSpPr>
          <p:spPr>
            <a:xfrm>
              <a:off x="5505676" y="1275208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=0 to -1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D7059C-CF4D-69AC-8FF4-D508CB5BA7D7}"/>
                </a:ext>
              </a:extLst>
            </p:cNvPr>
            <p:cNvSpPr txBox="1"/>
            <p:nvPr/>
          </p:nvSpPr>
          <p:spPr>
            <a:xfrm>
              <a:off x="6422611" y="728761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rgbClr val="C00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rgbClr val="C0000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dirty="0">
                  <a:solidFill>
                    <a:srgbClr val="C00000"/>
                  </a:solidFill>
                  <a:latin typeface="Bookman Old Style" panose="02050604050505020204" pitchFamily="18" charset="0"/>
                </a:rPr>
                <a:t>=0 to -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C74418-7557-D20D-C894-C67E00E1DEE6}"/>
                </a:ext>
              </a:extLst>
            </p:cNvPr>
            <p:cNvSpPr txBox="1"/>
            <p:nvPr/>
          </p:nvSpPr>
          <p:spPr>
            <a:xfrm>
              <a:off x="7318573" y="729556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rgbClr val="00800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dirty="0">
                  <a:solidFill>
                    <a:srgbClr val="008000"/>
                  </a:solidFill>
                  <a:latin typeface="Bookman Old Style" panose="02050604050505020204" pitchFamily="18" charset="0"/>
                </a:rPr>
                <a:t>=0 to +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40A32C-BCE7-9042-AC72-47F36D5AD9A4}"/>
                </a:ext>
              </a:extLst>
            </p:cNvPr>
            <p:cNvSpPr txBox="1"/>
            <p:nvPr/>
          </p:nvSpPr>
          <p:spPr>
            <a:xfrm>
              <a:off x="8130552" y="1230362"/>
              <a:ext cx="14392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2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2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=0 to -1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FB16BBE-C954-FED0-062F-7D297CF4C69B}"/>
                  </a:ext>
                </a:extLst>
              </p14:cNvPr>
              <p14:cNvContentPartPr/>
              <p14:nvPr/>
            </p14:nvContentPartPr>
            <p14:xfrm>
              <a:off x="2477957" y="3203425"/>
              <a:ext cx="485280" cy="1789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FB16BBE-C954-FED0-062F-7D297CF4C6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68957" y="3194407"/>
                <a:ext cx="502920" cy="196596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9794789-958F-1342-F46C-3F97FE799648}"/>
              </a:ext>
            </a:extLst>
          </p:cNvPr>
          <p:cNvGrpSpPr/>
          <p:nvPr/>
        </p:nvGrpSpPr>
        <p:grpSpPr>
          <a:xfrm>
            <a:off x="5119322" y="1541426"/>
            <a:ext cx="1439222" cy="557436"/>
            <a:chOff x="10655835" y="2457190"/>
            <a:chExt cx="1439222" cy="55743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005CE3-76B8-5B57-7BAE-4EDD95A32CBE}"/>
                </a:ext>
              </a:extLst>
            </p:cNvPr>
            <p:cNvSpPr txBox="1"/>
            <p:nvPr/>
          </p:nvSpPr>
          <p:spPr>
            <a:xfrm>
              <a:off x="10655835" y="2457190"/>
              <a:ext cx="10303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4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 +1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7A485CC-0BBE-DC6A-F0F6-870783848BE4}"/>
                </a:ext>
              </a:extLst>
            </p:cNvPr>
            <p:cNvSpPr txBox="1"/>
            <p:nvPr/>
          </p:nvSpPr>
          <p:spPr>
            <a:xfrm>
              <a:off x="10655835" y="2753016"/>
              <a:ext cx="14392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1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1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=0 to +1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5444145-1C4F-272C-A484-AC987B2A2594}"/>
              </a:ext>
            </a:extLst>
          </p:cNvPr>
          <p:cNvGrpSpPr/>
          <p:nvPr/>
        </p:nvGrpSpPr>
        <p:grpSpPr>
          <a:xfrm>
            <a:off x="9676250" y="1475935"/>
            <a:ext cx="1442918" cy="564030"/>
            <a:chOff x="10611326" y="1459033"/>
            <a:chExt cx="1442918" cy="56403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9238E17-AE17-1F4B-4194-D5BAFD8565B0}"/>
                </a:ext>
              </a:extLst>
            </p:cNvPr>
            <p:cNvSpPr txBox="1"/>
            <p:nvPr/>
          </p:nvSpPr>
          <p:spPr>
            <a:xfrm>
              <a:off x="10611326" y="1459033"/>
              <a:ext cx="9108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4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I</a:t>
              </a:r>
              <a:r>
                <a:rPr lang="en-IN" sz="1400" b="1" baseline="-25000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IN" sz="14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 -1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C9DE34F-C440-A151-4F3F-3A59C7BE1D17}"/>
                </a:ext>
              </a:extLst>
            </p:cNvPr>
            <p:cNvSpPr txBox="1"/>
            <p:nvPr/>
          </p:nvSpPr>
          <p:spPr>
            <a:xfrm>
              <a:off x="10615022" y="1761453"/>
              <a:ext cx="14392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b="1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m</a:t>
              </a:r>
              <a:r>
                <a:rPr lang="en-IN" sz="1100" b="1" baseline="-25000" dirty="0" err="1">
                  <a:solidFill>
                    <a:srgbClr val="0070C0"/>
                  </a:solidFill>
                  <a:latin typeface="Bookman Old Style" panose="02050604050505020204" pitchFamily="18" charset="0"/>
                </a:rPr>
                <a:t>s</a:t>
              </a:r>
              <a:r>
                <a:rPr lang="en-IN" sz="11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=0 to +1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971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7156-B796-1026-4852-F6AC48F8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823B73-5B4A-8DFA-0060-472C4F7B458C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DDD2CF-C0BA-D880-3C6B-025A369AA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4A795F-1E90-C997-8580-4AD993903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F3B7DD-0EFF-3614-F275-479AE662B5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B7A9CE-6C26-EB2F-7C3E-26B68F830E76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Transition Strength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22E0B-DEDF-3D5F-1889-74E916CAC426}"/>
              </a:ext>
            </a:extLst>
          </p:cNvPr>
          <p:cNvSpPr txBox="1"/>
          <p:nvPr/>
        </p:nvSpPr>
        <p:spPr>
          <a:xfrm>
            <a:off x="200534" y="917087"/>
            <a:ext cx="1120147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r>
              <a:rPr lang="en-IN" sz="1600" dirty="0">
                <a:latin typeface="Bookman Old Style" panose="02050604050505020204" pitchFamily="18" charset="0"/>
              </a:rPr>
              <a:t>Transition strength from </a:t>
            </a:r>
            <a:r>
              <a:rPr lang="en-IN" sz="1600" dirty="0" err="1">
                <a:latin typeface="Bookman Old Style" panose="02050604050505020204" pitchFamily="18" charset="0"/>
              </a:rPr>
              <a:t>m</a:t>
            </a:r>
            <a:r>
              <a:rPr lang="en-IN" sz="16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600" baseline="-25000" dirty="0">
                <a:latin typeface="Bookman Old Style" panose="02050604050505020204" pitchFamily="18" charset="0"/>
              </a:rPr>
              <a:t> </a:t>
            </a:r>
            <a:r>
              <a:rPr lang="en-IN" sz="1600" dirty="0">
                <a:latin typeface="Bookman Old Style" panose="02050604050505020204" pitchFamily="18" charset="0"/>
              </a:rPr>
              <a:t>= 0 to mixed states       due to transverse EF and linearly polarized MW signal.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67FC7-1345-5A76-982F-CBBF5D499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94" y="1000668"/>
            <a:ext cx="4900085" cy="594412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29FAF9-0450-D28A-E57B-E375C6DA1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694" y="1848444"/>
            <a:ext cx="373412" cy="381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D251BC-C58A-684A-F1E1-EF2A13C7EB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929" y="2393219"/>
            <a:ext cx="5511424" cy="3893850"/>
          </a:xfrm>
          <a:prstGeom prst="rect">
            <a:avLst/>
          </a:prstGeom>
          <a:ln w="38100">
            <a:solidFill>
              <a:srgbClr val="008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E29172-33AC-4B31-9FBE-32354ECD69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5483" y="2376432"/>
            <a:ext cx="5741579" cy="391240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263023-56FC-9BAE-3A16-018129E7DA39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J </a:t>
            </a:r>
            <a:r>
              <a:rPr lang="en-IN" sz="1400" dirty="0" err="1">
                <a:latin typeface="Berlin Sans FB" panose="020E0602020502020306" pitchFamily="34" charset="0"/>
              </a:rPr>
              <a:t>Kolbl</a:t>
            </a:r>
            <a:r>
              <a:rPr lang="en-IN" sz="1400" dirty="0">
                <a:latin typeface="Berlin Sans FB" panose="020E0602020502020306" pitchFamily="34" charset="0"/>
              </a:rPr>
              <a:t> et. al., New J. Physics, 2019, 113039</a:t>
            </a:r>
          </a:p>
        </p:txBody>
      </p:sp>
    </p:spTree>
    <p:extLst>
      <p:ext uri="{BB962C8B-B14F-4D97-AF65-F5344CB8AC3E}">
        <p14:creationId xmlns:p14="http://schemas.microsoft.com/office/powerpoint/2010/main" val="3842710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21F1-8EDA-CDB7-85B3-0D3816C7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5C109E-2DF6-4EB8-F04F-2EF9BBE137BE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865335-0EB3-3C1B-81A3-2200CBDC4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5CED6D-CAB5-993F-B701-61E96CD16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9F8F9D-07B4-D937-58CA-A981C06E1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A0EC54-53A2-37EC-9D7A-B447EC5CE2C9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ODMR Contrast</a:t>
            </a:r>
            <a:endParaRPr lang="en-IN" sz="4000" b="1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B83FF3-7424-0AF7-9677-D05A6187C678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Xuan Phuc Le et. al., Field effect detected magnetic resonance of NV centre in diamond, https://doi.org/10.1038/s44172-025-00541-z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A7213-D9D1-4FEB-FEF9-BEF7102AFD18}"/>
              </a:ext>
            </a:extLst>
          </p:cNvPr>
          <p:cNvSpPr txBox="1"/>
          <p:nvPr/>
        </p:nvSpPr>
        <p:spPr>
          <a:xfrm>
            <a:off x="200534" y="917087"/>
            <a:ext cx="1120147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Transition strength from </a:t>
            </a:r>
            <a:r>
              <a:rPr lang="en-IN" sz="1600" dirty="0" err="1">
                <a:latin typeface="Bookman Old Style" panose="02050604050505020204" pitchFamily="18" charset="0"/>
              </a:rPr>
              <a:t>m</a:t>
            </a:r>
            <a:r>
              <a:rPr lang="en-IN" sz="16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600" baseline="-25000" dirty="0">
                <a:latin typeface="Bookman Old Style" panose="02050604050505020204" pitchFamily="18" charset="0"/>
              </a:rPr>
              <a:t> </a:t>
            </a:r>
            <a:r>
              <a:rPr lang="en-IN" sz="1600" dirty="0">
                <a:latin typeface="Bookman Old Style" panose="02050604050505020204" pitchFamily="18" charset="0"/>
              </a:rPr>
              <a:t>= 0 to mixed states       due to transverse EF and linearly polarized MW signal 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Transition Strength            is proportional to ODMR contrast in </a:t>
            </a:r>
            <a:r>
              <a:rPr lang="en-IN" sz="1600" b="1" u="sng" dirty="0">
                <a:latin typeface="Bookman Old Style" panose="02050604050505020204" pitchFamily="18" charset="0"/>
              </a:rPr>
              <a:t>low magnetic field regime</a:t>
            </a:r>
            <a:r>
              <a:rPr lang="en-IN" sz="1600" dirty="0">
                <a:latin typeface="Bookman Old Style" panose="02050604050505020204" pitchFamily="18" charset="0"/>
              </a:rPr>
              <a:t> (B &lt; 100G).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Photoluminescence can be measured using </a:t>
            </a:r>
            <a:r>
              <a:rPr lang="en-IN" sz="1600" b="1" u="sng" dirty="0">
                <a:latin typeface="Bookman Old Style" panose="02050604050505020204" pitchFamily="18" charset="0"/>
              </a:rPr>
              <a:t>Photodiode</a:t>
            </a:r>
            <a:r>
              <a:rPr lang="en-IN" sz="1600" dirty="0">
                <a:latin typeface="Bookman Old Style" panose="02050604050505020204" pitchFamily="18" charset="0"/>
              </a:rPr>
              <a:t>.           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8ACAE-246B-3D16-4A76-AE374E9E2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94" y="1000668"/>
            <a:ext cx="4900085" cy="594412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CB9207-9988-37A1-D77F-4BFB145CB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6626" y="1867106"/>
            <a:ext cx="373412" cy="381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FE5604-7DA8-9659-B77D-CEECC02E1A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294" y="3925242"/>
            <a:ext cx="6657298" cy="20477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973E41-0904-1A9B-D1FF-66790D60C0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4873" y="4046544"/>
            <a:ext cx="4721660" cy="18536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26835C-2E15-33A0-A46D-F7927C683C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8078" y="2579080"/>
            <a:ext cx="708721" cy="44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28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B0AE-3045-4C19-D9F7-011CC1C66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0B8982C-9A4A-0CAB-6681-1636566246A9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9BB6CB-9915-3845-3900-625F92C8B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E32BDD-A490-AE5D-4F93-76D1B5C49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AFC565-BB28-0809-8E6C-926A296B1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571563-4A10-B430-240E-EA195107FDFE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 err="1">
                <a:latin typeface="SF Atarian System Extended" panose="00000400000000000000" pitchFamily="2" charset="0"/>
              </a:rPr>
              <a:t>Odmr</a:t>
            </a:r>
            <a:r>
              <a:rPr lang="en-IN" sz="4000" b="1" dirty="0">
                <a:latin typeface="SF Atarian System Extended" panose="00000400000000000000" pitchFamily="2" charset="0"/>
              </a:rPr>
              <a:t> Spectra Simulation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12D7B-4F7F-0C1A-C3FC-CA1E84102B0B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108EA5-A640-8A0A-B230-1CAC7967C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41" y="1230093"/>
            <a:ext cx="4513022" cy="45130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3B46DB9-414C-069E-F157-3B410DBF20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37" y="2763979"/>
            <a:ext cx="6508543" cy="104335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061BE53-0054-BA1C-EE08-B0085A69B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437" y="1370057"/>
            <a:ext cx="4769708" cy="86095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98A5D7-0415-970F-8F79-1080359FE1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437" y="4403115"/>
            <a:ext cx="5395428" cy="202709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E128E20-1D88-BEA2-57DC-4396E3F9E63D}"/>
              </a:ext>
            </a:extLst>
          </p:cNvPr>
          <p:cNvSpPr txBox="1"/>
          <p:nvPr/>
        </p:nvSpPr>
        <p:spPr>
          <a:xfrm>
            <a:off x="387437" y="98109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Berlin Sans FB" panose="020E0602020502020306" pitchFamily="34" charset="0"/>
              </a:rPr>
              <a:t>Core Libraries</a:t>
            </a:r>
            <a:endParaRPr lang="en-IN" sz="1800" b="1" dirty="0">
              <a:solidFill>
                <a:srgbClr val="0070C0"/>
              </a:solidFill>
              <a:latin typeface="Berlin Sans FB" panose="020E0602020502020306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5561E9-5FF7-B56C-E0D6-3D7251F97058}"/>
              </a:ext>
            </a:extLst>
          </p:cNvPr>
          <p:cNvSpPr txBox="1"/>
          <p:nvPr/>
        </p:nvSpPr>
        <p:spPr>
          <a:xfrm>
            <a:off x="387437" y="2257846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3D Vec</a:t>
            </a:r>
            <a:r>
              <a:rPr lang="en-IN" b="1" dirty="0">
                <a:solidFill>
                  <a:srgbClr val="C00000"/>
                </a:solidFill>
                <a:latin typeface="Berlin Sans FB" panose="020E0602020502020306" pitchFamily="34" charset="0"/>
              </a:rPr>
              <a:t>tor generator</a:t>
            </a:r>
            <a:endParaRPr lang="en-IN" sz="1800" b="1" dirty="0">
              <a:solidFill>
                <a:srgbClr val="C00000"/>
              </a:solidFill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8FF740-E79C-0C4D-16B2-06E22E1312E6}"/>
              </a:ext>
            </a:extLst>
          </p:cNvPr>
          <p:cNvSpPr txBox="1"/>
          <p:nvPr/>
        </p:nvSpPr>
        <p:spPr>
          <a:xfrm>
            <a:off x="387437" y="3900515"/>
            <a:ext cx="6100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B050"/>
                </a:solidFill>
                <a:latin typeface="Berlin Sans FB" panose="020E0602020502020306" pitchFamily="34" charset="0"/>
              </a:rPr>
              <a:t>Diamond Lattice </a:t>
            </a:r>
            <a:r>
              <a:rPr lang="en-IN" sz="2300" b="1" dirty="0">
                <a:solidFill>
                  <a:srgbClr val="00B050"/>
                </a:solidFill>
                <a:latin typeface="Berlin Sans FB" panose="020E0602020502020306" pitchFamily="34" charset="0"/>
              </a:rPr>
              <a:t>3</a:t>
            </a:r>
            <a:r>
              <a:rPr lang="en-IN" sz="1800" b="1" dirty="0">
                <a:solidFill>
                  <a:srgbClr val="00B050"/>
                </a:solidFill>
                <a:latin typeface="Berlin Sans FB" panose="020E0602020502020306" pitchFamily="34" charset="0"/>
              </a:rPr>
              <a:t>D Canvas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75A2F-C514-C7EC-DACB-472E49B2E4F0}"/>
              </a:ext>
            </a:extLst>
          </p:cNvPr>
          <p:cNvSpPr txBox="1"/>
          <p:nvPr/>
        </p:nvSpPr>
        <p:spPr>
          <a:xfrm>
            <a:off x="6488433" y="5846233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4 NV orientations and EF,MF and MW vectors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7150B-5C80-8A13-04D9-E3B7FB3E24C5}"/>
              </a:ext>
            </a:extLst>
          </p:cNvPr>
          <p:cNvSpPr txBox="1"/>
          <p:nvPr/>
        </p:nvSpPr>
        <p:spPr>
          <a:xfrm>
            <a:off x="2716965" y="2297952"/>
            <a:ext cx="2554831" cy="30777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400" dirty="0">
                <a:latin typeface="Bookman Old Style" panose="02050604050505020204" pitchFamily="18" charset="0"/>
              </a:rPr>
              <a:t>: Generating arrow vectors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AC653-5E18-6C5E-E97F-5F6C921BE77A}"/>
              </a:ext>
            </a:extLst>
          </p:cNvPr>
          <p:cNvSpPr txBox="1"/>
          <p:nvPr/>
        </p:nvSpPr>
        <p:spPr>
          <a:xfrm>
            <a:off x="2485372" y="1376081"/>
            <a:ext cx="6594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  <a:latin typeface="Bookman Old Style" panose="02050604050505020204" pitchFamily="18" charset="0"/>
              </a:rPr>
              <a:t>: Numerical operations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8E71A1-3E47-D717-3BB7-0F47B7829075}"/>
              </a:ext>
            </a:extLst>
          </p:cNvPr>
          <p:cNvSpPr txBox="1"/>
          <p:nvPr/>
        </p:nvSpPr>
        <p:spPr>
          <a:xfrm>
            <a:off x="3592494" y="1634737"/>
            <a:ext cx="6594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  <a:latin typeface="Bookman Old Style" panose="02050604050505020204" pitchFamily="18" charset="0"/>
              </a:rPr>
              <a:t>: Plots and Figures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0FD2A3-D990-4999-15ED-8F53605D4CDE}"/>
              </a:ext>
            </a:extLst>
          </p:cNvPr>
          <p:cNvSpPr txBox="1"/>
          <p:nvPr/>
        </p:nvSpPr>
        <p:spPr>
          <a:xfrm>
            <a:off x="5084350" y="1881933"/>
            <a:ext cx="6594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  <a:latin typeface="Bookman Old Style" panose="02050604050505020204" pitchFamily="18" charset="0"/>
              </a:rPr>
              <a:t>: Custom calculations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466577-DF15-42C0-12DE-C4323875AF13}"/>
              </a:ext>
            </a:extLst>
          </p:cNvPr>
          <p:cNvSpPr txBox="1"/>
          <p:nvPr/>
        </p:nvSpPr>
        <p:spPr>
          <a:xfrm>
            <a:off x="2953066" y="2943209"/>
            <a:ext cx="6594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  <a:latin typeface="Bookman Old Style" panose="02050604050505020204" pitchFamily="18" charset="0"/>
              </a:rPr>
              <a:t>: Arrow tip size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62C0CD-1FBC-8CE1-65C6-81F08BB679E4}"/>
              </a:ext>
            </a:extLst>
          </p:cNvPr>
          <p:cNvSpPr txBox="1"/>
          <p:nvPr/>
        </p:nvSpPr>
        <p:spPr>
          <a:xfrm>
            <a:off x="3594146" y="4019008"/>
            <a:ext cx="3833023" cy="30777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400" dirty="0">
                <a:latin typeface="Bookman Old Style" panose="02050604050505020204" pitchFamily="18" charset="0"/>
              </a:rPr>
              <a:t>: 3D plot with axes ranging from -1 to +1</a:t>
            </a:r>
          </a:p>
        </p:txBody>
      </p:sp>
    </p:spTree>
    <p:extLst>
      <p:ext uri="{BB962C8B-B14F-4D97-AF65-F5344CB8AC3E}">
        <p14:creationId xmlns:p14="http://schemas.microsoft.com/office/powerpoint/2010/main" val="4231517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CB73A-D28D-AFE5-50EA-51C25C3AC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BE9FCC-1E69-0E7B-D25A-6DAC743769DF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20F721-76A8-FE71-F2EC-184CA8503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0A08BA-5047-0F90-711F-B4631E824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F83446-5DFD-FF36-87A5-7724F2CB9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7C321B-7A20-D975-4D97-8174ED3273DE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D069DC-E738-A862-713C-F6EB794BCF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29"/>
          <a:stretch>
            <a:fillRect/>
          </a:stretch>
        </p:blipFill>
        <p:spPr>
          <a:xfrm>
            <a:off x="7753739" y="1153550"/>
            <a:ext cx="3698520" cy="345331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B6E6997-93C7-100D-73A7-57FCC12C7855}"/>
              </a:ext>
            </a:extLst>
          </p:cNvPr>
          <p:cNvSpPr txBox="1"/>
          <p:nvPr/>
        </p:nvSpPr>
        <p:spPr>
          <a:xfrm>
            <a:off x="387437" y="98109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Berlin Sans FB" panose="020E0602020502020306" pitchFamily="34" charset="0"/>
              </a:rPr>
              <a:t>Crystal Lattice Orientation</a:t>
            </a:r>
            <a:endParaRPr lang="en-IN" sz="1800" b="1" dirty="0">
              <a:solidFill>
                <a:srgbClr val="7030A0"/>
              </a:solidFill>
              <a:latin typeface="Berlin Sans FB" panose="020E0602020502020306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7A88B62-4AF5-6528-8BAD-4B760D0B44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37" y="1520219"/>
            <a:ext cx="4980728" cy="181761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8AED7DA-ABE4-EF06-57A8-8B0567714376}"/>
              </a:ext>
            </a:extLst>
          </p:cNvPr>
          <p:cNvSpPr txBox="1"/>
          <p:nvPr/>
        </p:nvSpPr>
        <p:spPr>
          <a:xfrm>
            <a:off x="270707" y="4569567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Berlin Sans FB" panose="020E0602020502020306" pitchFamily="34" charset="0"/>
              </a:rPr>
              <a:t>MF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,</a:t>
            </a:r>
            <a:r>
              <a:rPr lang="en-IN" b="1" dirty="0">
                <a:solidFill>
                  <a:srgbClr val="C00000"/>
                </a:solidFill>
                <a:latin typeface="Berlin Sans FB" panose="020E0602020502020306" pitchFamily="34" charset="0"/>
              </a:rPr>
              <a:t> </a:t>
            </a:r>
            <a:r>
              <a:rPr lang="en-IN" b="1" dirty="0">
                <a:solidFill>
                  <a:srgbClr val="FFC000"/>
                </a:solidFill>
                <a:latin typeface="Berlin Sans FB" panose="020E0602020502020306" pitchFamily="34" charset="0"/>
              </a:rPr>
              <a:t>EF</a:t>
            </a:r>
            <a:r>
              <a:rPr lang="en-IN" b="1" dirty="0">
                <a:solidFill>
                  <a:srgbClr val="C00000"/>
                </a:solidFill>
                <a:latin typeface="Berlin Sans FB" panose="020E0602020502020306" pitchFamily="34" charset="0"/>
              </a:rPr>
              <a:t>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and</a:t>
            </a:r>
            <a:r>
              <a:rPr lang="en-IN" b="1" dirty="0">
                <a:solidFill>
                  <a:srgbClr val="C00000"/>
                </a:solidFill>
                <a:latin typeface="Berlin Sans FB" panose="020E0602020502020306" pitchFamily="34" charset="0"/>
              </a:rPr>
              <a:t> </a:t>
            </a:r>
            <a:r>
              <a:rPr lang="en-IN" b="1" dirty="0">
                <a:solidFill>
                  <a:srgbClr val="00B050"/>
                </a:solidFill>
                <a:latin typeface="Berlin Sans FB" panose="020E0602020502020306" pitchFamily="34" charset="0"/>
              </a:rPr>
              <a:t>MW</a:t>
            </a:r>
            <a:r>
              <a:rPr lang="en-IN" b="1" dirty="0">
                <a:solidFill>
                  <a:srgbClr val="C00000"/>
                </a:solidFill>
                <a:latin typeface="Berlin Sans FB" panose="020E0602020502020306" pitchFamily="34" charset="0"/>
              </a:rPr>
              <a:t>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Vector Plot</a:t>
            </a:r>
            <a:endParaRPr lang="en-IN" sz="1800" b="1" dirty="0">
              <a:solidFill>
                <a:schemeClr val="tx1">
                  <a:lumMod val="95000"/>
                  <a:lumOff val="5000"/>
                </a:schemeClr>
              </a:solidFill>
              <a:latin typeface="Berlin Sans FB" panose="020E06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C842D-0F95-7218-7389-594B662433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916" y="5136756"/>
            <a:ext cx="10244170" cy="1236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BB0E2F-528B-C936-245E-1597AD1C8CDD}"/>
              </a:ext>
            </a:extLst>
          </p:cNvPr>
          <p:cNvSpPr txBox="1"/>
          <p:nvPr/>
        </p:nvSpPr>
        <p:spPr>
          <a:xfrm>
            <a:off x="6553747" y="4531225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4 NV orientations and EF,MF and MW vectors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A6FC5-BA22-9CC4-BC5A-18337EE944AD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 err="1">
                <a:solidFill>
                  <a:srgbClr val="C00000"/>
                </a:solidFill>
                <a:latin typeface="SF Atarian System Extended" panose="00000400000000000000" pitchFamily="2" charset="0"/>
              </a:rPr>
              <a:t>Odmr</a:t>
            </a:r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 Spectra Simulation</a:t>
            </a:r>
            <a:endParaRPr lang="en-IN" sz="4000" b="1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590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7E3C-5AF2-44D7-9114-916AA3DE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B47582-BCDD-53EC-2CDC-2EEE7E54896F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071E21-DCA7-6AD2-C9FA-620CF9837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8BEB80-B2AA-BEFD-56CA-EA580881A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281466-3BCF-C258-4CE9-91A5EA042A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84D6FC3-BFD3-18DA-07D0-E4BB5F56745D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E00F22-3F2B-66B3-66D6-FB030330F8EC}"/>
              </a:ext>
            </a:extLst>
          </p:cNvPr>
          <p:cNvSpPr txBox="1"/>
          <p:nvPr/>
        </p:nvSpPr>
        <p:spPr>
          <a:xfrm>
            <a:off x="436579" y="925104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Berlin Sans FB" panose="020E0602020502020306" pitchFamily="34" charset="0"/>
              </a:rPr>
              <a:t>Transition Strength for Linearly Polarized MW</a:t>
            </a:r>
            <a:endParaRPr lang="en-IN" sz="1800" b="1" dirty="0">
              <a:solidFill>
                <a:srgbClr val="00B050"/>
              </a:solidFill>
              <a:latin typeface="Berlin Sans FB" panose="020E0602020502020306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BB0A09-FD72-39A1-1844-8852EE6CC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90" y="1348777"/>
            <a:ext cx="10158340" cy="20804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711B88-F75A-979F-768D-F18BEBBAE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046" y="4008015"/>
            <a:ext cx="10851820" cy="24995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BF0BD9-6D67-D2EF-5597-9E87E79B32F9}"/>
              </a:ext>
            </a:extLst>
          </p:cNvPr>
          <p:cNvSpPr txBox="1"/>
          <p:nvPr/>
        </p:nvSpPr>
        <p:spPr>
          <a:xfrm>
            <a:off x="406099" y="3633569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Berlin Sans FB" panose="020E0602020502020306" pitchFamily="34" charset="0"/>
              </a:rPr>
              <a:t>Transition Strength for Unpolarized MW</a:t>
            </a:r>
            <a:endParaRPr lang="en-IN" sz="1800" b="1" dirty="0">
              <a:solidFill>
                <a:srgbClr val="C00000"/>
              </a:solidFill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7A440-94D0-20F2-212D-A4D1A2697038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Odmr</a:t>
            </a:r>
            <a: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 Spectra Simulation</a:t>
            </a:r>
            <a:endParaRPr lang="en-IN" sz="4000" b="1" dirty="0">
              <a:solidFill>
                <a:schemeClr val="tx1">
                  <a:lumMod val="95000"/>
                  <a:lumOff val="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C88101-1BB3-743C-4885-67BC4F91D90E}"/>
              </a:ext>
            </a:extLst>
          </p:cNvPr>
          <p:cNvSpPr txBox="1"/>
          <p:nvPr/>
        </p:nvSpPr>
        <p:spPr>
          <a:xfrm>
            <a:off x="3141388" y="1611349"/>
            <a:ext cx="4416408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2D array with Rows = MF values</a:t>
            </a:r>
          </a:p>
          <a:p>
            <a:r>
              <a:rPr lang="en-IN" sz="1600" dirty="0">
                <a:latin typeface="Bookman Old Style" panose="02050604050505020204" pitchFamily="18" charset="0"/>
              </a:rPr>
              <a:t>                      Columns = MW frequencies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5FFF3-82E6-8791-6F29-147646D0E85C}"/>
              </a:ext>
            </a:extLst>
          </p:cNvPr>
          <p:cNvSpPr txBox="1"/>
          <p:nvPr/>
        </p:nvSpPr>
        <p:spPr>
          <a:xfrm>
            <a:off x="1828271" y="2894408"/>
            <a:ext cx="7493012" cy="52322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400" dirty="0">
                <a:latin typeface="Bookman Old Style" panose="02050604050505020204" pitchFamily="18" charset="0"/>
              </a:rPr>
              <a:t>For each MF, transition strength considering all 4 NV orientations and both NV/VN configurations is calculated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BE481-BC81-B200-624C-57451282710B}"/>
              </a:ext>
            </a:extLst>
          </p:cNvPr>
          <p:cNvSpPr txBox="1"/>
          <p:nvPr/>
        </p:nvSpPr>
        <p:spPr>
          <a:xfrm>
            <a:off x="4511732" y="4505141"/>
            <a:ext cx="5409979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Statistical average of 2 linearly polarized MW signals gives unpolarized MW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CC625-B354-6009-4535-8B8D89C4AD68}"/>
              </a:ext>
            </a:extLst>
          </p:cNvPr>
          <p:cNvSpPr txBox="1"/>
          <p:nvPr/>
        </p:nvSpPr>
        <p:spPr>
          <a:xfrm>
            <a:off x="4064404" y="5873826"/>
            <a:ext cx="7493012" cy="52322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400" dirty="0">
                <a:latin typeface="Bookman Old Style" panose="02050604050505020204" pitchFamily="18" charset="0"/>
              </a:rPr>
              <a:t>For each MF, transition strength considering all 4 NV orientations and both NV/VN configurations is calculated</a:t>
            </a:r>
          </a:p>
        </p:txBody>
      </p:sp>
    </p:spTree>
    <p:extLst>
      <p:ext uri="{BB962C8B-B14F-4D97-AF65-F5344CB8AC3E}">
        <p14:creationId xmlns:p14="http://schemas.microsoft.com/office/powerpoint/2010/main" val="2308897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67F18-3B56-3A9B-E7BB-B9EA102F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29B249-B485-3A8E-77DF-10F46D9F5207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439A61-70D7-001A-24CB-10FA21FA0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46A34E-C862-2F45-46A2-781F8DDB4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DDFAC7-10AD-0C40-56E0-DCD69EAC4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2820E0D-DC96-3E3D-17B3-C427246D875C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E28D58-0170-6936-10C3-3E10C4B15BFB}"/>
              </a:ext>
            </a:extLst>
          </p:cNvPr>
          <p:cNvSpPr txBox="1"/>
          <p:nvPr/>
        </p:nvSpPr>
        <p:spPr>
          <a:xfrm>
            <a:off x="406099" y="925104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Data Resolution Limits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E5C17-7873-5319-F87D-067A4708BB86}"/>
              </a:ext>
            </a:extLst>
          </p:cNvPr>
          <p:cNvSpPr txBox="1"/>
          <p:nvPr/>
        </p:nvSpPr>
        <p:spPr>
          <a:xfrm>
            <a:off x="406099" y="3684135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Berlin Sans FB" panose="020E0602020502020306" pitchFamily="34" charset="0"/>
              </a:rPr>
              <a:t>Multi Frame Vector Coordinates</a:t>
            </a:r>
            <a:endParaRPr lang="en-IN" sz="1800" b="1" dirty="0">
              <a:solidFill>
                <a:srgbClr val="C00000"/>
              </a:solidFill>
              <a:latin typeface="Berlin Sans FB" panose="020E06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DFE8F-EAE1-37F8-B0FB-E42FDAB0F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565" y="1313098"/>
            <a:ext cx="5197290" cy="2240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6B662D-56FF-FE19-41BE-A7C25DC2D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242" y="4076620"/>
            <a:ext cx="3611871" cy="23732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C80282-6580-BBBE-DBC6-75D980222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692" y="1489634"/>
            <a:ext cx="3494731" cy="19140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A264EF-F791-8433-339D-BACE423E65D1}"/>
              </a:ext>
            </a:extLst>
          </p:cNvPr>
          <p:cNvSpPr txBox="1"/>
          <p:nvPr/>
        </p:nvSpPr>
        <p:spPr>
          <a:xfrm>
            <a:off x="6359692" y="943268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7030A0"/>
                </a:solidFill>
                <a:latin typeface="Berlin Sans FB" panose="020E0602020502020306" pitchFamily="34" charset="0"/>
              </a:rPr>
              <a:t>Magnitude </a:t>
            </a:r>
            <a:r>
              <a:rPr lang="en-IN" b="1" dirty="0">
                <a:solidFill>
                  <a:srgbClr val="7030A0"/>
                </a:solidFill>
                <a:latin typeface="Berlin Sans FB" panose="020E0602020502020306" pitchFamily="34" charset="0"/>
              </a:rPr>
              <a:t>Parameters</a:t>
            </a:r>
            <a:endParaRPr lang="en-IN" sz="1800" b="1" dirty="0">
              <a:solidFill>
                <a:srgbClr val="7030A0"/>
              </a:solidFill>
              <a:latin typeface="Berlin Sans FB" panose="020E0602020502020306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443A6F-C101-5837-8F53-923546946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0742" y="4377132"/>
            <a:ext cx="6807327" cy="14335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214DB6-C8B0-1A91-797B-0F8DD5E5E35B}"/>
              </a:ext>
            </a:extLst>
          </p:cNvPr>
          <p:cNvSpPr txBox="1"/>
          <p:nvPr/>
        </p:nvSpPr>
        <p:spPr>
          <a:xfrm>
            <a:off x="5144582" y="3702299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Berlin Sans FB" panose="020E0602020502020306" pitchFamily="34" charset="0"/>
              </a:rPr>
              <a:t>Frame Rotation</a:t>
            </a:r>
            <a:endParaRPr lang="en-IN" sz="1800" b="1" dirty="0">
              <a:solidFill>
                <a:srgbClr val="00B0F0"/>
              </a:solidFill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4D9E5-6D54-A785-9AAB-010C80E76595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 err="1">
                <a:solidFill>
                  <a:srgbClr val="C00000"/>
                </a:solidFill>
                <a:latin typeface="SF Atarian System Extended" panose="00000400000000000000" pitchFamily="2" charset="0"/>
              </a:rPr>
              <a:t>Odmr</a:t>
            </a:r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 Spectra Simulation</a:t>
            </a:r>
            <a:endParaRPr lang="en-IN" sz="4000" b="1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89EA9B-C093-8A94-E551-0EF455621E96}"/>
              </a:ext>
            </a:extLst>
          </p:cNvPr>
          <p:cNvSpPr txBox="1"/>
          <p:nvPr/>
        </p:nvSpPr>
        <p:spPr>
          <a:xfrm>
            <a:off x="2082087" y="1876477"/>
            <a:ext cx="35987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2000 MW frequencies points centred around resonance point   </a:t>
            </a:r>
            <a:r>
              <a:rPr lang="en-IN" sz="1600" dirty="0" err="1">
                <a:highlight>
                  <a:srgbClr val="FFFF00"/>
                </a:highlight>
                <a:latin typeface="Bookman Old Style" panose="02050604050505020204" pitchFamily="18" charset="0"/>
              </a:rPr>
              <a:t>f</a:t>
            </a:r>
            <a:r>
              <a:rPr lang="en-IN" sz="1600" baseline="-25000" dirty="0" err="1">
                <a:highlight>
                  <a:srgbClr val="FFFF00"/>
                </a:highlight>
                <a:latin typeface="Bookman Old Style" panose="02050604050505020204" pitchFamily="18" charset="0"/>
              </a:rPr>
              <a:t>o</a:t>
            </a:r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 = 2.87 GHz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C4F54-7305-C68D-9ECF-CD0804CDE918}"/>
              </a:ext>
            </a:extLst>
          </p:cNvPr>
          <p:cNvSpPr txBox="1"/>
          <p:nvPr/>
        </p:nvSpPr>
        <p:spPr>
          <a:xfrm>
            <a:off x="2060749" y="3217944"/>
            <a:ext cx="35987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FWHM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3C26E2-AE28-4512-AF5F-A6DD7CAC1673}"/>
              </a:ext>
            </a:extLst>
          </p:cNvPr>
          <p:cNvSpPr txBox="1"/>
          <p:nvPr/>
        </p:nvSpPr>
        <p:spPr>
          <a:xfrm>
            <a:off x="7806248" y="1943283"/>
            <a:ext cx="3091907" cy="3385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300 MF values from 0 to 80G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82D603-A751-C01A-6107-ACF63DF0AF74}"/>
              </a:ext>
            </a:extLst>
          </p:cNvPr>
          <p:cNvSpPr txBox="1"/>
          <p:nvPr/>
        </p:nvSpPr>
        <p:spPr>
          <a:xfrm>
            <a:off x="7800840" y="2779368"/>
            <a:ext cx="35987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E = 5 x 10</a:t>
            </a:r>
            <a:r>
              <a:rPr lang="en-IN" sz="1600" baseline="30000" dirty="0">
                <a:highlight>
                  <a:srgbClr val="FFFF00"/>
                </a:highlight>
                <a:latin typeface="Bookman Old Style" panose="02050604050505020204" pitchFamily="18" charset="0"/>
              </a:rPr>
              <a:t>6 </a:t>
            </a:r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V/m</a:t>
            </a:r>
          </a:p>
          <a:p>
            <a:r>
              <a:rPr lang="en-IN" sz="1600" dirty="0" err="1">
                <a:highlight>
                  <a:srgbClr val="FFFF00"/>
                </a:highlight>
                <a:latin typeface="Bookman Old Style" panose="02050604050505020204" pitchFamily="18" charset="0"/>
              </a:rPr>
              <a:t>dE</a:t>
            </a:r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 = 1 x 10</a:t>
            </a:r>
            <a:r>
              <a:rPr lang="en-IN" sz="1600" baseline="30000" dirty="0">
                <a:highlight>
                  <a:srgbClr val="FFFF00"/>
                </a:highlight>
                <a:latin typeface="Bookman Old Style" panose="02050604050505020204" pitchFamily="18" charset="0"/>
              </a:rPr>
              <a:t>5 </a:t>
            </a:r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V/m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9DC750-C91F-28E9-8FB7-ADCD4A8F9DCF}"/>
              </a:ext>
            </a:extLst>
          </p:cNvPr>
          <p:cNvSpPr txBox="1"/>
          <p:nvPr/>
        </p:nvSpPr>
        <p:spPr>
          <a:xfrm>
            <a:off x="7446000" y="3711739"/>
            <a:ext cx="3799578" cy="338554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NV1 frame to Lab Frame conversion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1923F7-7964-B068-08EE-6BB58F636D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8937" y="4354157"/>
            <a:ext cx="1928027" cy="4343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1B6211B-8051-C0B0-AB33-1D087E4A6B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1672" y="5395787"/>
            <a:ext cx="1623201" cy="105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54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7906D-C11D-9412-CE1C-6C5E812B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CBA4FA6-C611-7101-B18A-D29DEE86D173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DC843A-4470-95EE-9C59-DE48FF897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B96421-6EDF-7A55-DFD6-64BE549CD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66BFA9-73BC-D7B9-C978-F29A54F12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15896E-8675-D283-8128-797671FC87B2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278BBE-6605-8396-C452-460FA809270E}"/>
              </a:ext>
            </a:extLst>
          </p:cNvPr>
          <p:cNvSpPr txBox="1"/>
          <p:nvPr/>
        </p:nvSpPr>
        <p:spPr>
          <a:xfrm>
            <a:off x="406099" y="925104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Run Simulation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C995D-5437-ABF6-98BC-DD9BED242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099" y="1341894"/>
            <a:ext cx="8611346" cy="16232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2E65E5-110E-500B-2853-E6EAE2D19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099" y="4298526"/>
            <a:ext cx="5265876" cy="13488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A2387A-8F2D-684F-D3A6-5F4D3705ACE6}"/>
              </a:ext>
            </a:extLst>
          </p:cNvPr>
          <p:cNvSpPr txBox="1"/>
          <p:nvPr/>
        </p:nvSpPr>
        <p:spPr>
          <a:xfrm>
            <a:off x="406099" y="3853879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7030A0"/>
                </a:solidFill>
                <a:latin typeface="Berlin Sans FB" panose="020E0602020502020306" pitchFamily="34" charset="0"/>
              </a:rPr>
              <a:t>Raw ODMR Valleys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ECD9D1-33DC-A074-0F2E-EEC3B3377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8451" y="3021698"/>
            <a:ext cx="3983173" cy="3137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54221C-0D66-B812-78D6-D5A5113160F6}"/>
              </a:ext>
            </a:extLst>
          </p:cNvPr>
          <p:cNvSpPr txBox="1"/>
          <p:nvPr/>
        </p:nvSpPr>
        <p:spPr>
          <a:xfrm>
            <a:off x="7284335" y="6086885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Transition Strength v/s MF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03C77-64B5-80D4-47E0-1B95CA20B854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 err="1">
                <a:solidFill>
                  <a:srgbClr val="C00000"/>
                </a:solidFill>
                <a:latin typeface="SF Atarian System Extended" panose="00000400000000000000" pitchFamily="2" charset="0"/>
              </a:rPr>
              <a:t>Odmr</a:t>
            </a:r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 Spectra Simulation</a:t>
            </a:r>
            <a:endParaRPr lang="en-IN" sz="4000" b="1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230ABA-CA88-54F3-A2DE-550392236201}"/>
              </a:ext>
            </a:extLst>
          </p:cNvPr>
          <p:cNvSpPr txBox="1"/>
          <p:nvPr/>
        </p:nvSpPr>
        <p:spPr>
          <a:xfrm>
            <a:off x="4388833" y="1426004"/>
            <a:ext cx="4328447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Creates linearly spaced arrays for MW frequencies and MF strength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D7B54-C7B7-AF2D-5224-1BE30415D0DE}"/>
              </a:ext>
            </a:extLst>
          </p:cNvPr>
          <p:cNvSpPr txBox="1"/>
          <p:nvPr/>
        </p:nvSpPr>
        <p:spPr>
          <a:xfrm>
            <a:off x="424223" y="3088349"/>
            <a:ext cx="7015108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Computes ODMR spectrum map for all (B,MW) combinations at </a:t>
            </a:r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E=E</a:t>
            </a:r>
            <a:r>
              <a:rPr lang="en-IN" sz="1600" baseline="-25000" dirty="0">
                <a:highlight>
                  <a:srgbClr val="FFFF00"/>
                </a:highlight>
                <a:latin typeface="Bookman Old Style" panose="02050604050505020204" pitchFamily="18" charset="0"/>
              </a:rPr>
              <a:t>0</a:t>
            </a:r>
            <a:r>
              <a:rPr lang="en-IN" sz="1600" baseline="-25000" dirty="0">
                <a:latin typeface="Bookman Old Style" panose="02050604050505020204" pitchFamily="18" charset="0"/>
              </a:rPr>
              <a:t> </a:t>
            </a:r>
            <a:r>
              <a:rPr lang="en-IN" sz="1600" dirty="0">
                <a:latin typeface="Bookman Old Style" panose="02050604050505020204" pitchFamily="18" charset="0"/>
              </a:rPr>
              <a:t>and </a:t>
            </a:r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E=E</a:t>
            </a:r>
            <a:r>
              <a:rPr lang="en-IN" sz="1600" baseline="-25000" dirty="0">
                <a:highlight>
                  <a:srgbClr val="FFFF00"/>
                </a:highlight>
                <a:latin typeface="Bookman Old Style" panose="02050604050505020204" pitchFamily="18" charset="0"/>
              </a:rPr>
              <a:t>0</a:t>
            </a:r>
            <a:r>
              <a:rPr lang="en-IN" sz="1600" dirty="0">
                <a:highlight>
                  <a:srgbClr val="FFFF00"/>
                </a:highlight>
                <a:latin typeface="Bookman Old Style" panose="02050604050505020204" pitchFamily="18" charset="0"/>
              </a:rPr>
              <a:t>+dE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858604-903F-A3A6-7685-0EF2189401FF}"/>
              </a:ext>
            </a:extLst>
          </p:cNvPr>
          <p:cNvSpPr txBox="1"/>
          <p:nvPr/>
        </p:nvSpPr>
        <p:spPr>
          <a:xfrm>
            <a:off x="406099" y="5695978"/>
            <a:ext cx="7015108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Shows heat map of transition strength as a function of MF and MW frequency</a:t>
            </a:r>
          </a:p>
        </p:txBody>
      </p:sp>
    </p:spTree>
    <p:extLst>
      <p:ext uri="{BB962C8B-B14F-4D97-AF65-F5344CB8AC3E}">
        <p14:creationId xmlns:p14="http://schemas.microsoft.com/office/powerpoint/2010/main" val="1062299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3FF9-275F-E490-4D6D-5E3501D7E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AFD8737-7FA3-ADB0-024C-4D7A7C459F36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D1D01C-A6A7-4CA3-9011-F158534B6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EE533D-D238-7490-0728-5C59B300D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62E0C0-8047-1545-8F7B-DEDB1BB2D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32280C-97DA-E298-2A6A-9DBE895DE3DB}"/>
              </a:ext>
            </a:extLst>
          </p:cNvPr>
          <p:cNvSpPr txBox="1"/>
          <p:nvPr/>
        </p:nvSpPr>
        <p:spPr>
          <a:xfrm>
            <a:off x="1998852" y="121410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Conclusions</a:t>
            </a:r>
            <a:endParaRPr lang="en-IN" sz="4000" b="1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4C098F-B89C-C58C-E17C-0B1BF04440AB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Supplementary material by T. Mittiga et. al., Imaging the Local Charge Environment of NV Centre in diamond, 10.1103/PhysRevLett.121.246402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0F85D-6476-0E50-CD50-65A761C282E0}"/>
              </a:ext>
            </a:extLst>
          </p:cNvPr>
          <p:cNvSpPr txBox="1"/>
          <p:nvPr/>
        </p:nvSpPr>
        <p:spPr>
          <a:xfrm>
            <a:off x="200534" y="945079"/>
            <a:ext cx="7663306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Low Field (B=0)</a:t>
            </a:r>
            <a:r>
              <a:rPr lang="en-IN" sz="1600" dirty="0">
                <a:latin typeface="Bookman Old Style" panose="02050604050505020204" pitchFamily="18" charset="0"/>
              </a:rPr>
              <a:t>: Several faintly crowded horizontal lines start around 2.87 GHz. These correspond to the ZFH transitions of all 4 NV orientations.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Medium Field (B&lt;40G)</a:t>
            </a:r>
            <a:r>
              <a:rPr lang="en-IN" sz="1600" dirty="0">
                <a:latin typeface="Bookman Old Style" panose="02050604050505020204" pitchFamily="18" charset="0"/>
              </a:rPr>
              <a:t>: Zeeman splitting separates the NV orientations leading to 24 resolved branches.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High Field (B&gt;40G)</a:t>
            </a:r>
            <a:r>
              <a:rPr lang="en-IN" sz="1600" dirty="0">
                <a:latin typeface="Bookman Old Style" panose="02050604050505020204" pitchFamily="18" charset="0"/>
              </a:rPr>
              <a:t>: The inner and outer transitions begin to merge due to their non-zero linewidth.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The main bright branch which starts around 2871 MHz at 30G </a:t>
            </a:r>
          </a:p>
          <a:p>
            <a:r>
              <a:rPr lang="en-IN" sz="1600" dirty="0">
                <a:latin typeface="Bookman Old Style" panose="02050604050505020204" pitchFamily="18" charset="0"/>
              </a:rPr>
              <a:t>     and curves </a:t>
            </a:r>
            <a:r>
              <a:rPr lang="en-IN" sz="1600" dirty="0" err="1">
                <a:latin typeface="Bookman Old Style" panose="02050604050505020204" pitchFamily="18" charset="0"/>
              </a:rPr>
              <a:t>upto</a:t>
            </a:r>
            <a:r>
              <a:rPr lang="en-IN" sz="1600" dirty="0">
                <a:latin typeface="Bookman Old Style" panose="02050604050505020204" pitchFamily="18" charset="0"/>
              </a:rPr>
              <a:t> 2885 MHz at 80G corresponds to one of the </a:t>
            </a:r>
            <a:r>
              <a:rPr lang="en-IN" sz="1600" dirty="0" err="1">
                <a:latin typeface="Bookman Old Style" panose="02050604050505020204" pitchFamily="18" charset="0"/>
              </a:rPr>
              <a:t>m</a:t>
            </a:r>
            <a:r>
              <a:rPr lang="en-IN" sz="16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600" dirty="0">
                <a:latin typeface="Bookman Old Style" panose="02050604050505020204" pitchFamily="18" charset="0"/>
              </a:rPr>
              <a:t>=0 -&gt; -1</a:t>
            </a:r>
          </a:p>
          <a:p>
            <a:r>
              <a:rPr lang="en-IN" sz="1600" dirty="0">
                <a:latin typeface="Bookman Old Style" panose="02050604050505020204" pitchFamily="18" charset="0"/>
              </a:rPr>
              <a:t>     transition for an NV family that is most </a:t>
            </a:r>
            <a:r>
              <a:rPr lang="en-IN" sz="1600" u="sng" dirty="0">
                <a:latin typeface="Bookman Old Style" panose="02050604050505020204" pitchFamily="18" charset="0"/>
              </a:rPr>
              <a:t>weakly aligned</a:t>
            </a:r>
            <a:r>
              <a:rPr lang="en-IN" sz="1600" dirty="0">
                <a:latin typeface="Bookman Old Style" panose="02050604050505020204" pitchFamily="18" charset="0"/>
              </a:rPr>
              <a:t> with the MF.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512AA-2039-3505-EE26-BCAA3DD90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525" y="2688679"/>
            <a:ext cx="4270539" cy="33636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DA5B17-8102-89B9-F159-39F525096E41}"/>
              </a:ext>
            </a:extLst>
          </p:cNvPr>
          <p:cNvSpPr txBox="1"/>
          <p:nvPr/>
        </p:nvSpPr>
        <p:spPr>
          <a:xfrm>
            <a:off x="7223375" y="6086885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Transition Strength v/s MF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844227-3C2F-4AC8-9F8B-C39CC5A07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034" y="4741232"/>
            <a:ext cx="6135612" cy="262051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65287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4065-11C4-01F7-E53D-635366B4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7BFA8C-91F3-E134-F9FF-050446BB3611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33DFD6-EE85-22E7-F76F-FE56371F2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49DBFC-50EA-63A0-6042-9B5100244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A5706-6CE2-74FA-7D38-BB31E9AAE5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ACD92F6-8606-F80F-6F85-6E1E4C1F6DC6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BD2FBF-6AE6-7F42-F0EC-6FBEF4769410}"/>
              </a:ext>
            </a:extLst>
          </p:cNvPr>
          <p:cNvSpPr txBox="1"/>
          <p:nvPr/>
        </p:nvSpPr>
        <p:spPr>
          <a:xfrm>
            <a:off x="223219" y="925104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Berlin Sans FB" panose="020E0602020502020306" pitchFamily="34" charset="0"/>
              </a:rPr>
              <a:t>Differential Electrometry</a:t>
            </a:r>
            <a:endParaRPr lang="en-IN" sz="1800" b="1" dirty="0">
              <a:solidFill>
                <a:srgbClr val="C00000"/>
              </a:solidFill>
              <a:latin typeface="Berlin Sans FB" panose="020E0602020502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8B9708-F3A6-A963-9051-A46480B14E6F}"/>
              </a:ext>
            </a:extLst>
          </p:cNvPr>
          <p:cNvSpPr txBox="1"/>
          <p:nvPr/>
        </p:nvSpPr>
        <p:spPr>
          <a:xfrm>
            <a:off x="253699" y="3828145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8000"/>
                </a:solidFill>
                <a:latin typeface="Berlin Sans FB" panose="020E0602020502020306" pitchFamily="34" charset="0"/>
              </a:rPr>
              <a:t>Layout Compression Formatting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0B1BA-510D-B045-6CE5-A98B957574D9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 err="1">
                <a:latin typeface="SF Atarian System Extended" panose="00000400000000000000" pitchFamily="2" charset="0"/>
              </a:rPr>
              <a:t>Odmr</a:t>
            </a:r>
            <a:r>
              <a:rPr lang="en-IN" sz="4000" b="1" dirty="0">
                <a:latin typeface="SF Atarian System Extended" panose="00000400000000000000" pitchFamily="2" charset="0"/>
              </a:rPr>
              <a:t> Spectra Simulation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8EB38B2-BEAD-EB45-5FB3-F5C445CD3C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4884"/>
          <a:stretch>
            <a:fillRect/>
          </a:stretch>
        </p:blipFill>
        <p:spPr>
          <a:xfrm>
            <a:off x="296858" y="1590149"/>
            <a:ext cx="7422523" cy="211099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631C87B-BCDA-06C6-3CF0-F92D50EF0708}"/>
              </a:ext>
            </a:extLst>
          </p:cNvPr>
          <p:cNvGrpSpPr/>
          <p:nvPr/>
        </p:nvGrpSpPr>
        <p:grpSpPr>
          <a:xfrm>
            <a:off x="7167839" y="1698283"/>
            <a:ext cx="5735915" cy="3504310"/>
            <a:chOff x="7167839" y="1698283"/>
            <a:chExt cx="5735915" cy="35043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21B1054-D1A9-29CA-7686-76BBBA7498A9}"/>
                </a:ext>
              </a:extLst>
            </p:cNvPr>
            <p:cNvSpPr txBox="1"/>
            <p:nvPr/>
          </p:nvSpPr>
          <p:spPr>
            <a:xfrm>
              <a:off x="7167839" y="4833261"/>
              <a:ext cx="5735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latin typeface="Bookman Old Style" panose="02050604050505020204" pitchFamily="18" charset="0"/>
                </a:rPr>
                <a:t>Electric Field Sensitivity v/s MF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970009A-A853-AA28-88E3-D79F3AA19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79992" y="1698283"/>
              <a:ext cx="3983111" cy="304713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2F0DDF6-EFBB-9A96-B601-F45842A90502}"/>
              </a:ext>
            </a:extLst>
          </p:cNvPr>
          <p:cNvSpPr txBox="1"/>
          <p:nvPr/>
        </p:nvSpPr>
        <p:spPr>
          <a:xfrm>
            <a:off x="3258477" y="906651"/>
            <a:ext cx="5735916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Calculates the electrical sensitivity of NV centre using a </a:t>
            </a:r>
          </a:p>
          <a:p>
            <a:r>
              <a:rPr lang="en-IN" sz="1600" dirty="0">
                <a:latin typeface="Bookman Old Style" panose="02050604050505020204" pitchFamily="18" charset="0"/>
              </a:rPr>
              <a:t>differential map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DC455C4-3A68-027C-8BAF-0EF915875D1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64814"/>
          <a:stretch>
            <a:fillRect/>
          </a:stretch>
        </p:blipFill>
        <p:spPr>
          <a:xfrm>
            <a:off x="406099" y="4306562"/>
            <a:ext cx="6165114" cy="70788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278138D-8B4A-DCD6-A25B-D1C23E15C882}"/>
              </a:ext>
            </a:extLst>
          </p:cNvPr>
          <p:cNvSpPr txBox="1"/>
          <p:nvPr/>
        </p:nvSpPr>
        <p:spPr>
          <a:xfrm>
            <a:off x="406099" y="5243431"/>
            <a:ext cx="6396134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Ensures that labels, ticks and colour bar fit properly</a:t>
            </a:r>
          </a:p>
          <a:p>
            <a:r>
              <a:rPr lang="en-IN" dirty="0">
                <a:latin typeface="Bookman Old Style" panose="02050604050505020204" pitchFamily="18" charset="0"/>
              </a:rPr>
              <a:t>w</a:t>
            </a:r>
            <a:r>
              <a:rPr lang="en-IN" sz="1800" dirty="0">
                <a:latin typeface="Bookman Old Style" panose="02050604050505020204" pitchFamily="18" charset="0"/>
              </a:rPr>
              <a:t>ithout being cu</a:t>
            </a:r>
            <a:r>
              <a:rPr lang="en-IN" dirty="0">
                <a:latin typeface="Bookman Old Style" panose="02050604050505020204" pitchFamily="18" charset="0"/>
              </a:rPr>
              <a:t>t</a:t>
            </a:r>
            <a:endParaRPr lang="en-IN" sz="1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262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1765-ADA7-155C-8B8C-6395EB79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CBD4D4-61C5-8B07-75AC-644BA80213F6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591814-E26C-7857-C2BA-C24116B15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27EF60-49DD-B05D-4A2B-27DDA3546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939124-7122-0F2C-708C-ECF095D6B7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21A8CF-8FEE-88A1-3819-D96A457AAF1C}"/>
              </a:ext>
            </a:extLst>
          </p:cNvPr>
          <p:cNvSpPr txBox="1"/>
          <p:nvPr/>
        </p:nvSpPr>
        <p:spPr>
          <a:xfrm>
            <a:off x="1998852" y="121410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008000"/>
                </a:solidFill>
                <a:latin typeface="SF Atarian System Extended" panose="00000400000000000000" pitchFamily="2" charset="0"/>
              </a:rPr>
              <a:t>Conclusions</a:t>
            </a:r>
            <a:endParaRPr lang="en-IN" sz="4000" b="1" dirty="0">
              <a:solidFill>
                <a:srgbClr val="008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25C76C-0EC8-15E7-157E-E936EE4FCE41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Supplementary material by T. Mittiga et. al., Imaging the Local Charge Environment of NV Centre in diamond, 10.1103/PhysRevLett.121.246402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EA194-C184-CE27-AD00-BDBE2CD443F3}"/>
              </a:ext>
            </a:extLst>
          </p:cNvPr>
          <p:cNvSpPr txBox="1"/>
          <p:nvPr/>
        </p:nvSpPr>
        <p:spPr>
          <a:xfrm>
            <a:off x="200534" y="945079"/>
            <a:ext cx="7663306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Sensitivity</a:t>
            </a:r>
            <a:r>
              <a:rPr lang="en-IN" sz="1600" dirty="0">
                <a:latin typeface="Bookman Old Style" panose="02050604050505020204" pitchFamily="18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Black (+</a:t>
            </a:r>
            <a:r>
              <a:rPr lang="en-IN" sz="1600" b="1" u="sng" dirty="0" err="1">
                <a:latin typeface="Bookman Old Style" panose="02050604050505020204" pitchFamily="18" charset="0"/>
              </a:rPr>
              <a:t>ve</a:t>
            </a:r>
            <a:r>
              <a:rPr lang="en-IN" sz="1600" b="1" u="sng" dirty="0">
                <a:latin typeface="Bookman Old Style" panose="02050604050505020204" pitchFamily="18" charset="0"/>
              </a:rPr>
              <a:t> </a:t>
            </a:r>
            <a:r>
              <a:rPr lang="el-GR" sz="1600" b="1" u="sng" dirty="0">
                <a:latin typeface="Bookman Old Style" panose="02050604050505020204" pitchFamily="18" charset="0"/>
              </a:rPr>
              <a:t>Δ</a:t>
            </a:r>
            <a:r>
              <a:rPr lang="en-IN" sz="1600" b="1" u="sng" dirty="0">
                <a:latin typeface="Bookman Old Style" panose="02050604050505020204" pitchFamily="18" charset="0"/>
              </a:rPr>
              <a:t>S)</a:t>
            </a:r>
            <a:r>
              <a:rPr lang="en-IN" sz="1600" dirty="0">
                <a:latin typeface="Bookman Old Style" panose="02050604050505020204" pitchFamily="18" charset="0"/>
              </a:rPr>
              <a:t>: Transition strength decreases as EF increases.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solidFill>
                  <a:srgbClr val="C00000"/>
                </a:solidFill>
                <a:latin typeface="Bookman Old Style" panose="02050604050505020204" pitchFamily="18" charset="0"/>
              </a:rPr>
              <a:t>Red (-</a:t>
            </a:r>
            <a:r>
              <a:rPr lang="en-IN" sz="1600" b="1" u="sng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ve</a:t>
            </a:r>
            <a:r>
              <a:rPr lang="en-IN" sz="1600" b="1" u="sng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l-GR" sz="1600" b="1" u="sng" dirty="0">
                <a:solidFill>
                  <a:srgbClr val="C00000"/>
                </a:solidFill>
                <a:latin typeface="Bookman Old Style" panose="02050604050505020204" pitchFamily="18" charset="0"/>
              </a:rPr>
              <a:t>Δ</a:t>
            </a:r>
            <a:r>
              <a:rPr lang="en-IN" sz="1600" b="1" u="sng" dirty="0">
                <a:solidFill>
                  <a:srgbClr val="C00000"/>
                </a:solidFill>
                <a:latin typeface="Bookman Old Style" panose="02050604050505020204" pitchFamily="18" charset="0"/>
              </a:rPr>
              <a:t>S)</a:t>
            </a:r>
            <a:r>
              <a:rPr lang="en-IN" sz="1600" dirty="0">
                <a:solidFill>
                  <a:srgbClr val="C00000"/>
                </a:solidFill>
                <a:latin typeface="Bookman Old Style" panose="02050604050505020204" pitchFamily="18" charset="0"/>
              </a:rPr>
              <a:t>: </a:t>
            </a:r>
            <a:r>
              <a:rPr lang="en-IN" sz="1600" dirty="0">
                <a:latin typeface="Bookman Old Style" panose="02050604050505020204" pitchFamily="18" charset="0"/>
              </a:rPr>
              <a:t>Transition strength increases as EF increases.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Low Field (B=0)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: </a:t>
            </a:r>
            <a:r>
              <a:rPr lang="en-IN" sz="1600" dirty="0">
                <a:latin typeface="Bookman Old Style" panose="02050604050505020204" pitchFamily="18" charset="0"/>
              </a:rPr>
              <a:t>All 4 NV orientations are degenerate. Monotonically increasing sensitivity with MF.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Medium Field (B~30G)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: 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The sensitivity doesn’t drop to 0 unlike single NV case.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High Field (B~60G)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The Zeeman splitting dominates and the 3 hyperfine lines merge into single unresolved line.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Maximal sensitivity is obtained and it saturates.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The chosen MW direction allows to selectively excite only the lower frequency transition with TS twice as in unpolarized case.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93C70-AD8A-2D23-4448-A1A0A9702CAB}"/>
              </a:ext>
            </a:extLst>
          </p:cNvPr>
          <p:cNvGrpSpPr/>
          <p:nvPr/>
        </p:nvGrpSpPr>
        <p:grpSpPr>
          <a:xfrm>
            <a:off x="7167839" y="2569702"/>
            <a:ext cx="5735915" cy="3504310"/>
            <a:chOff x="7167839" y="1698283"/>
            <a:chExt cx="5735915" cy="35043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2CCFC1-6B09-544A-894C-2E89A5E9B19F}"/>
                </a:ext>
              </a:extLst>
            </p:cNvPr>
            <p:cNvSpPr txBox="1"/>
            <p:nvPr/>
          </p:nvSpPr>
          <p:spPr>
            <a:xfrm>
              <a:off x="7167839" y="4833261"/>
              <a:ext cx="5735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latin typeface="Bookman Old Style" panose="02050604050505020204" pitchFamily="18" charset="0"/>
                </a:rPr>
                <a:t>Electric Field Sensitivity v/s MF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AC148A3-1AB3-D6DA-AAF5-89A4A4EDF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79992" y="1698283"/>
              <a:ext cx="3983111" cy="304713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8BC1361-7B9F-540E-92CC-867D23831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2923" y="967704"/>
            <a:ext cx="2631560" cy="3869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B600CA3-276D-BC20-F8A2-B6DC6CDF3F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8760" y="1114223"/>
            <a:ext cx="1661058" cy="63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24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04CE-094D-4719-575A-1EB03846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0CF382-3EC6-64ED-788D-4FEAA3169763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CB19F2-0712-0905-C7FF-DFDC8672F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3EB2C6-F2DC-90C5-84B7-864709F82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4D1F8D-B77D-A08F-A3F4-D01E2B5A0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E010AA4-73C5-4F94-4861-C6D954354253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Yuchun</a:t>
            </a:r>
            <a:r>
              <a:rPr lang="en-IN" sz="1400" dirty="0">
                <a:latin typeface="Berlin Sans FB" panose="020E0602020502020306" pitchFamily="34" charset="0"/>
              </a:rPr>
              <a:t> Zhu et. al., Simulation of ODMR Spectra from NV Ensembles in Diamond for EF Sensing, </a:t>
            </a:r>
            <a:r>
              <a:rPr lang="fr-FR" sz="1400" dirty="0">
                <a:latin typeface="Berlin Sans FB" panose="020E0602020502020306" pitchFamily="34" charset="0"/>
              </a:rPr>
              <a:t>arXiv:2301.04106v1 [quant-ph] 10 Jan 2023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986741-C8AB-5B2B-7E99-3FBA9CF4E3F7}"/>
              </a:ext>
            </a:extLst>
          </p:cNvPr>
          <p:cNvSpPr txBox="1"/>
          <p:nvPr/>
        </p:nvSpPr>
        <p:spPr>
          <a:xfrm>
            <a:off x="406099" y="1030034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Sensitivity Plot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D50A93-BE94-9DBF-E2C0-426D0DD7CC2E}"/>
              </a:ext>
            </a:extLst>
          </p:cNvPr>
          <p:cNvSpPr txBox="1"/>
          <p:nvPr/>
        </p:nvSpPr>
        <p:spPr>
          <a:xfrm>
            <a:off x="291657" y="4616705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B050"/>
                </a:solidFill>
                <a:latin typeface="Berlin Sans FB" panose="020E0602020502020306" pitchFamily="34" charset="0"/>
              </a:rPr>
              <a:t>Image File Export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D858AB-0DF8-D31D-6FA6-2BB1309E0E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129"/>
          <a:stretch>
            <a:fillRect/>
          </a:stretch>
        </p:blipFill>
        <p:spPr>
          <a:xfrm>
            <a:off x="291657" y="5103693"/>
            <a:ext cx="6165114" cy="11843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26E3EA-EE40-59C3-02FB-FEF03AAA7FB3}"/>
              </a:ext>
            </a:extLst>
          </p:cNvPr>
          <p:cNvSpPr txBox="1"/>
          <p:nvPr/>
        </p:nvSpPr>
        <p:spPr>
          <a:xfrm>
            <a:off x="7497073" y="6031339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Optimal Values of Sensitivity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7B3D33-A7DA-A4B3-8F4F-630FEBEC061E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 err="1">
                <a:latin typeface="SF Atarian System Extended" panose="00000400000000000000" pitchFamily="2" charset="0"/>
              </a:rPr>
              <a:t>Odmr</a:t>
            </a:r>
            <a:r>
              <a:rPr lang="en-IN" sz="4000" b="1" dirty="0">
                <a:latin typeface="SF Atarian System Extended" panose="00000400000000000000" pitchFamily="2" charset="0"/>
              </a:rPr>
              <a:t> Spectra Simulation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2EA7FC-2B00-24DF-C710-44EB90A39C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165" y="1299965"/>
            <a:ext cx="3595178" cy="47237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43F7A2A-2803-BDBD-4FA6-E1612AEB5A96}"/>
              </a:ext>
            </a:extLst>
          </p:cNvPr>
          <p:cNvSpPr txBox="1"/>
          <p:nvPr/>
        </p:nvSpPr>
        <p:spPr>
          <a:xfrm>
            <a:off x="2387773" y="4631765"/>
            <a:ext cx="6396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Bookman Old Style" panose="02050604050505020204" pitchFamily="18" charset="0"/>
              </a:rPr>
              <a:t>: Saving the plots if intended</a:t>
            </a:r>
            <a:endParaRPr lang="en-IN" sz="18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8BE6710-66D4-A468-ECB1-AB8639B16E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5766"/>
          <a:stretch>
            <a:fillRect/>
          </a:stretch>
        </p:blipFill>
        <p:spPr>
          <a:xfrm>
            <a:off x="406099" y="1701431"/>
            <a:ext cx="7422523" cy="253766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04BF31C-DC6E-A23C-2D31-DAF85117AE1D}"/>
              </a:ext>
            </a:extLst>
          </p:cNvPr>
          <p:cNvSpPr txBox="1"/>
          <p:nvPr/>
        </p:nvSpPr>
        <p:spPr>
          <a:xfrm>
            <a:off x="2387773" y="979762"/>
            <a:ext cx="5735916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Shows maximum positive and negative sensitivity as a function of MF</a:t>
            </a:r>
          </a:p>
        </p:txBody>
      </p:sp>
    </p:spTree>
    <p:extLst>
      <p:ext uri="{BB962C8B-B14F-4D97-AF65-F5344CB8AC3E}">
        <p14:creationId xmlns:p14="http://schemas.microsoft.com/office/powerpoint/2010/main" val="44780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1440-DDBF-88D9-2CC2-C1320CD47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0A3FFA-7AA5-4E7F-AF35-5A79D5F0A87A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1EE810-F88A-C68B-83FC-D650D5F98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F1FF7-92FB-ACE6-0AB9-29246EB1D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97A8AD-5777-81AC-94DE-2FD1318F7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3E70A7-18A3-66A1-F4DE-EEF3847B8613}"/>
              </a:ext>
            </a:extLst>
          </p:cNvPr>
          <p:cNvSpPr txBox="1"/>
          <p:nvPr/>
        </p:nvSpPr>
        <p:spPr>
          <a:xfrm>
            <a:off x="1998852" y="121410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008000"/>
                </a:solidFill>
                <a:latin typeface="SF Atarian System Extended" panose="00000400000000000000" pitchFamily="2" charset="0"/>
              </a:rPr>
              <a:t>Conclusions</a:t>
            </a:r>
            <a:endParaRPr lang="en-IN" sz="4000" b="1" dirty="0">
              <a:solidFill>
                <a:srgbClr val="008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7DEF34-9A80-C7D3-46F5-BA515E1623C3}"/>
              </a:ext>
            </a:extLst>
          </p:cNvPr>
          <p:cNvSpPr txBox="1"/>
          <p:nvPr/>
        </p:nvSpPr>
        <p:spPr>
          <a:xfrm>
            <a:off x="689546" y="6523393"/>
            <a:ext cx="10867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Supplementary material by T. Mittiga et. al., Imaging the Local Charge Environment of NV Centre in diamond, 10.1103/PhysRevLett.121.246402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A491C-8D16-473A-D995-3580E8B7730F}"/>
              </a:ext>
            </a:extLst>
          </p:cNvPr>
          <p:cNvSpPr txBox="1"/>
          <p:nvPr/>
        </p:nvSpPr>
        <p:spPr>
          <a:xfrm>
            <a:off x="200534" y="945079"/>
            <a:ext cx="766330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Sensitivity</a:t>
            </a:r>
            <a:r>
              <a:rPr lang="en-IN" sz="1600" dirty="0">
                <a:latin typeface="Bookman Old Style" panose="02050604050505020204" pitchFamily="18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Black (+</a:t>
            </a:r>
            <a:r>
              <a:rPr lang="en-IN" sz="1600" b="1" u="sng" dirty="0" err="1">
                <a:latin typeface="Bookman Old Style" panose="02050604050505020204" pitchFamily="18" charset="0"/>
              </a:rPr>
              <a:t>ve</a:t>
            </a:r>
            <a:r>
              <a:rPr lang="en-IN" sz="1600" b="1" u="sng" dirty="0">
                <a:latin typeface="Bookman Old Style" panose="02050604050505020204" pitchFamily="18" charset="0"/>
              </a:rPr>
              <a:t> </a:t>
            </a:r>
            <a:r>
              <a:rPr lang="el-GR" sz="1600" b="1" u="sng" dirty="0">
                <a:latin typeface="Bookman Old Style" panose="02050604050505020204" pitchFamily="18" charset="0"/>
              </a:rPr>
              <a:t>Δ</a:t>
            </a:r>
            <a:r>
              <a:rPr lang="en-IN" sz="1600" b="1" u="sng" dirty="0">
                <a:latin typeface="Bookman Old Style" panose="02050604050505020204" pitchFamily="18" charset="0"/>
              </a:rPr>
              <a:t>S)</a:t>
            </a:r>
            <a:r>
              <a:rPr lang="en-IN" sz="1600" dirty="0">
                <a:latin typeface="Bookman Old Style" panose="02050604050505020204" pitchFamily="18" charset="0"/>
              </a:rPr>
              <a:t>: Transition strength decreases as EF increases.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solidFill>
                  <a:srgbClr val="C00000"/>
                </a:solidFill>
                <a:latin typeface="Bookman Old Style" panose="02050604050505020204" pitchFamily="18" charset="0"/>
              </a:rPr>
              <a:t>Red (-</a:t>
            </a:r>
            <a:r>
              <a:rPr lang="en-IN" sz="1600" b="1" u="sng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ve</a:t>
            </a:r>
            <a:r>
              <a:rPr lang="en-IN" sz="1600" b="1" u="sng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l-GR" sz="1600" b="1" u="sng" dirty="0">
                <a:solidFill>
                  <a:srgbClr val="C00000"/>
                </a:solidFill>
                <a:latin typeface="Bookman Old Style" panose="02050604050505020204" pitchFamily="18" charset="0"/>
              </a:rPr>
              <a:t>Δ</a:t>
            </a:r>
            <a:r>
              <a:rPr lang="en-IN" sz="1600" b="1" u="sng" dirty="0">
                <a:solidFill>
                  <a:srgbClr val="C00000"/>
                </a:solidFill>
                <a:latin typeface="Bookman Old Style" panose="02050604050505020204" pitchFamily="18" charset="0"/>
              </a:rPr>
              <a:t>S)</a:t>
            </a:r>
            <a:r>
              <a:rPr lang="en-IN" sz="1600" dirty="0">
                <a:solidFill>
                  <a:srgbClr val="C00000"/>
                </a:solidFill>
                <a:latin typeface="Bookman Old Style" panose="02050604050505020204" pitchFamily="18" charset="0"/>
              </a:rPr>
              <a:t>: </a:t>
            </a:r>
            <a:r>
              <a:rPr lang="en-IN" sz="1600" dirty="0">
                <a:latin typeface="Bookman Old Style" panose="02050604050505020204" pitchFamily="18" charset="0"/>
              </a:rPr>
              <a:t>Transition strength increases as EF increases.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Low Field (B=0)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: 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Both curves show jagged, noisy behaviour</a:t>
            </a:r>
            <a:r>
              <a:rPr lang="en-IN" sz="1600" dirty="0">
                <a:latin typeface="Bookman Old Style" panose="02050604050505020204" pitchFamily="18" charset="0"/>
              </a:rPr>
              <a:t>. The sensitivity here is unreliable.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Medium Field (B&lt;40G)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: </a:t>
            </a:r>
            <a:r>
              <a:rPr lang="en-IN" sz="1600" dirty="0">
                <a:latin typeface="Bookman Old Style" panose="02050604050505020204" pitchFamily="18" charset="0"/>
              </a:rPr>
              <a:t>Hyperfine structure is still resolved so 3 distinct hyperfine lines. Sensitivity is diluted because the changes in multiple overlapping transitions partially cancel out.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High Field (B&gt;40G)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: </a:t>
            </a:r>
            <a:r>
              <a:rPr lang="en-IN" sz="1600" dirty="0">
                <a:latin typeface="Bookman Old Style" panose="02050604050505020204" pitchFamily="18" charset="0"/>
              </a:rPr>
              <a:t>The Zeeman splitting dominates and the 3 hyperfine lines merge into single unresolved line. Optimal sensing is achieved at B=60-80G where the contrast is highest.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D7DCA0-FC37-6C91-2562-D0037F949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923" y="967704"/>
            <a:ext cx="2631560" cy="386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BF280C-EE73-2B52-B0C9-D750F129B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7085" y="1467605"/>
            <a:ext cx="3595178" cy="47237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A02F7C-6F55-89BA-3B71-C994DF6B3013}"/>
              </a:ext>
            </a:extLst>
          </p:cNvPr>
          <p:cNvSpPr txBox="1"/>
          <p:nvPr/>
        </p:nvSpPr>
        <p:spPr>
          <a:xfrm>
            <a:off x="7497073" y="6153259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Optimal Values of Sensitivity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55EC07-0115-F97A-BFA1-89AE74D950BC}"/>
              </a:ext>
            </a:extLst>
          </p:cNvPr>
          <p:cNvCxnSpPr>
            <a:cxnSpLocks/>
          </p:cNvCxnSpPr>
          <p:nvPr/>
        </p:nvCxnSpPr>
        <p:spPr>
          <a:xfrm flipV="1">
            <a:off x="886408" y="5644189"/>
            <a:ext cx="485192" cy="8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2EEB9A-40A1-736B-FD67-934010353300}"/>
              </a:ext>
            </a:extLst>
          </p:cNvPr>
          <p:cNvSpPr txBox="1"/>
          <p:nvPr/>
        </p:nvSpPr>
        <p:spPr>
          <a:xfrm>
            <a:off x="1498141" y="5459523"/>
            <a:ext cx="6396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: maximum sensitivity</a:t>
            </a:r>
            <a:endParaRPr lang="en-IN" sz="1800" dirty="0">
              <a:latin typeface="Bookman Old Style" panose="0205060405050502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95DA67-B935-DCA9-B245-98842BBFCF33}"/>
              </a:ext>
            </a:extLst>
          </p:cNvPr>
          <p:cNvSpPr txBox="1"/>
          <p:nvPr/>
        </p:nvSpPr>
        <p:spPr>
          <a:xfrm>
            <a:off x="1498141" y="5855686"/>
            <a:ext cx="6396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: minimum sensitivity</a:t>
            </a:r>
            <a:endParaRPr lang="en-IN" sz="1800" dirty="0">
              <a:latin typeface="Bookman Old Style" panose="020506040505050202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168FC8-4C29-0BAA-2A81-EFCA671C661E}"/>
              </a:ext>
            </a:extLst>
          </p:cNvPr>
          <p:cNvCxnSpPr>
            <a:cxnSpLocks/>
          </p:cNvCxnSpPr>
          <p:nvPr/>
        </p:nvCxnSpPr>
        <p:spPr>
          <a:xfrm flipV="1">
            <a:off x="889518" y="6048512"/>
            <a:ext cx="485192" cy="83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944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7538</TotalTime>
  <Words>2779</Words>
  <Application>Microsoft Office PowerPoint</Application>
  <PresentationFormat>Widescreen</PresentationFormat>
  <Paragraphs>440</Paragraphs>
  <Slides>31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Batang</vt:lpstr>
      <vt:lpstr>Arial</vt:lpstr>
      <vt:lpstr>Arial Rounded MT Bold</vt:lpstr>
      <vt:lpstr>Berlin Sans FB</vt:lpstr>
      <vt:lpstr>Book Antiqua</vt:lpstr>
      <vt:lpstr>Bookman Old Style</vt:lpstr>
      <vt:lpstr>Calibri</vt:lpstr>
      <vt:lpstr>Calibri Light</vt:lpstr>
      <vt:lpstr>Cambria Math</vt:lpstr>
      <vt:lpstr>SF Atarian System Extended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Sujoy Basak</dc:creator>
  <cp:lastModifiedBy>Sujoy Basak</cp:lastModifiedBy>
  <cp:revision>264</cp:revision>
  <dcterms:created xsi:type="dcterms:W3CDTF">2026-05-19T07:53:11Z</dcterms:created>
  <dcterms:modified xsi:type="dcterms:W3CDTF">2026-06-09T06:58:00Z</dcterms:modified>
</cp:coreProperties>
</file>